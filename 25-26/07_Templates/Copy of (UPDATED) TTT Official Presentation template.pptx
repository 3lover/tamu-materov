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5143500" cx="9144000"/>
  <p:notesSz cx="6858000" cy="9144000"/>
  <p:embeddedFontLst>
    <p:embeddedFont>
      <p:font typeface="Balthazar"/>
      <p:regular r:id="rId18"/>
    </p:embeddedFont>
    <p:embeddedFont>
      <p:font typeface="Oswald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Oswald-bold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regular.fntdata"/><Relationship Id="rId6" Type="http://schemas.openxmlformats.org/officeDocument/2006/relationships/slide" Target="slides/slide1.xml"/><Relationship Id="rId18" Type="http://schemas.openxmlformats.org/officeDocument/2006/relationships/font" Target="fonts/Balthazar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2853b90fb0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2853b90fb0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2853b90fb0_1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2853b90fb0_1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226be82d05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226be82d05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28583a7d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28583a7d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28583a7d9c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28583a7d9c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28583a7d9c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28583a7d9c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28583a7d9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28583a7d9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28583a7d9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28583a7d9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2853b90fb0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2853b90fb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226be82d05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226be82d05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2853b90fb0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2853b90fb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2853b90fb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2853b90fb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Relationship Id="rId4" Type="http://schemas.openxmlformats.org/officeDocument/2006/relationships/image" Target="../media/image10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jpg"/><Relationship Id="rId4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1130750" y="1663650"/>
            <a:ext cx="51873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TAMU THINKTANK </a:t>
            </a:r>
            <a:endParaRPr sz="47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1186075" y="2388875"/>
            <a:ext cx="4811700" cy="3270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2355775" y="2421575"/>
            <a:ext cx="2472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TEAM PRESENTATIONS</a:t>
            </a:r>
            <a:endParaRPr sz="18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29050" y="1805750"/>
            <a:ext cx="817326" cy="817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" name="Google Shape;64;p14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" name="Google Shape;65;p14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TITLE (adjust line to title length)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595650" y="1358725"/>
            <a:ext cx="533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 GOES HERE!!!! (Adjust size as needed):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3" name="Google Shape;73;p15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4" name="Google Shape;74;p15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TITLE (adjust line to title length)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75" name="Google Shape;75;p15"/>
          <p:cNvSpPr txBox="1"/>
          <p:nvPr/>
        </p:nvSpPr>
        <p:spPr>
          <a:xfrm>
            <a:off x="595650" y="1358725"/>
            <a:ext cx="53310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INFO GOES HERE!!!! (Adjust size as needed):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6" name="Google Shape;76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22900" y="403175"/>
            <a:ext cx="451625" cy="45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6"/>
          <p:cNvSpPr txBox="1"/>
          <p:nvPr/>
        </p:nvSpPr>
        <p:spPr>
          <a:xfrm>
            <a:off x="2557950" y="2071650"/>
            <a:ext cx="421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SUBTITLE SLIDE TEMP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84" name="Google Shape;84;p16"/>
          <p:cNvCxnSpPr/>
          <p:nvPr/>
        </p:nvCxnSpPr>
        <p:spPr>
          <a:xfrm>
            <a:off x="2557950" y="2663425"/>
            <a:ext cx="38892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" name="Google Shape;85;p16"/>
          <p:cNvSpPr txBox="1"/>
          <p:nvPr/>
        </p:nvSpPr>
        <p:spPr>
          <a:xfrm>
            <a:off x="2685250" y="2755100"/>
            <a:ext cx="34857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MINI DESCRIPTION OR NAME PRESENTING 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86" name="Google Shape;8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1775" y="270250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2900" y="414650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4" name="Google Shape;94;p17"/>
          <p:cNvCxnSpPr/>
          <p:nvPr/>
        </p:nvCxnSpPr>
        <p:spPr>
          <a:xfrm>
            <a:off x="595650" y="915550"/>
            <a:ext cx="3496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7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ANNOUNCEMENTS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5733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01</a:t>
            </a:r>
            <a:endParaRPr sz="1900">
              <a:solidFill>
                <a:srgbClr val="07376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227142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02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396955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03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667675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04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7365800" y="1878800"/>
            <a:ext cx="1031700" cy="800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rgbClr val="0C343D"/>
                </a:solidFill>
                <a:latin typeface="Impact"/>
                <a:ea typeface="Impact"/>
                <a:cs typeface="Impact"/>
                <a:sym typeface="Impact"/>
              </a:rPr>
              <a:t>05</a:t>
            </a:r>
            <a:endParaRPr sz="1900">
              <a:solidFill>
                <a:srgbClr val="0C343D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01" name="Google Shape;101;p17"/>
          <p:cNvSpPr txBox="1"/>
          <p:nvPr/>
        </p:nvSpPr>
        <p:spPr>
          <a:xfrm>
            <a:off x="573300" y="2944575"/>
            <a:ext cx="10317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THINKTANK MERCH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2" name="Google Shape;102;p17"/>
          <p:cNvSpPr txBox="1"/>
          <p:nvPr/>
        </p:nvSpPr>
        <p:spPr>
          <a:xfrm>
            <a:off x="2271425" y="2944575"/>
            <a:ext cx="11268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RECURRING DESIGN CHALLENGES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3" name="Google Shape;103;p17"/>
          <p:cNvSpPr txBox="1"/>
          <p:nvPr/>
        </p:nvSpPr>
        <p:spPr>
          <a:xfrm>
            <a:off x="3969550" y="2944575"/>
            <a:ext cx="13218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MINI-DESIGN CHALLENGE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COMPETITIONS 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2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667675" y="2944575"/>
            <a:ext cx="1031700" cy="106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OFFICER POSITIONS FOR 2024-20225 </a:t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7296550" y="2944575"/>
            <a:ext cx="1321800" cy="5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</a:rPr>
              <a:t>PRESENTATION DIRECTIONS</a:t>
            </a:r>
            <a:endParaRPr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8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1" name="Google Shape;111;p18"/>
          <p:cNvCxnSpPr/>
          <p:nvPr/>
        </p:nvCxnSpPr>
        <p:spPr>
          <a:xfrm flipH="1" rot="10800000">
            <a:off x="595650" y="907750"/>
            <a:ext cx="4312500" cy="78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2" name="Google Shape;112;p18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WHAT ARE GOALS FOR 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13" name="Google Shape;11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0600" y="1354500"/>
            <a:ext cx="2324784" cy="1382149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8"/>
          <p:cNvSpPr/>
          <p:nvPr/>
        </p:nvSpPr>
        <p:spPr>
          <a:xfrm>
            <a:off x="700550" y="1254400"/>
            <a:ext cx="2324700" cy="3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Impact"/>
                <a:ea typeface="Impact"/>
                <a:cs typeface="Impact"/>
                <a:sym typeface="Impact"/>
              </a:rPr>
              <a:t>MISSION</a:t>
            </a:r>
            <a:endParaRPr b="1" sz="1900">
              <a:latin typeface="Impact"/>
              <a:ea typeface="Impact"/>
              <a:cs typeface="Impact"/>
              <a:sym typeface="Impact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1700" y="3270082"/>
            <a:ext cx="2294598" cy="1382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/>
          <p:nvPr/>
        </p:nvSpPr>
        <p:spPr>
          <a:xfrm>
            <a:off x="5751650" y="2946750"/>
            <a:ext cx="2294700" cy="3849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latin typeface="Impact"/>
                <a:ea typeface="Impact"/>
                <a:cs typeface="Impact"/>
                <a:sym typeface="Impact"/>
              </a:rPr>
              <a:t>VISION</a:t>
            </a:r>
            <a:endParaRPr b="1" sz="1900"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3453000" y="1308300"/>
            <a:ext cx="4593300" cy="12636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18"/>
          <p:cNvSpPr/>
          <p:nvPr/>
        </p:nvSpPr>
        <p:spPr>
          <a:xfrm>
            <a:off x="700550" y="3175600"/>
            <a:ext cx="4593300" cy="12636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</a:pPr>
            <a:r>
              <a:rPr lang="en" sz="1000">
                <a:solidFill>
                  <a:schemeClr val="lt1"/>
                </a:solidFill>
              </a:rPr>
              <a:t>Lorem ipsum dolor sit amet, consectetur adipiscing elit. Duis vulputate nulla at ante rhoncus, vel efficitur felis condimentum. Proin odio odio.</a:t>
            </a:r>
            <a:endParaRPr sz="10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4" name="Google Shape;124;p19"/>
          <p:cNvCxnSpPr/>
          <p:nvPr/>
        </p:nvCxnSpPr>
        <p:spPr>
          <a:xfrm>
            <a:off x="595650" y="915550"/>
            <a:ext cx="5331000" cy="15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5" name="Google Shape;125;p19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GOALS AND OBJECTIVES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26" name="Google Shape;126;p19"/>
          <p:cNvSpPr/>
          <p:nvPr/>
        </p:nvSpPr>
        <p:spPr>
          <a:xfrm>
            <a:off x="519700" y="1309363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1</a:t>
            </a:r>
            <a:endParaRPr sz="1800">
              <a:solidFill>
                <a:srgbClr val="073763"/>
              </a:solidFill>
              <a:latin typeface="Impact"/>
              <a:ea typeface="Impact"/>
              <a:cs typeface="Impact"/>
              <a:sym typeface="Impact"/>
            </a:endParaRPr>
          </a:p>
        </p:txBody>
      </p:sp>
      <p:sp>
        <p:nvSpPr>
          <p:cNvPr id="127" name="Google Shape;127;p19"/>
          <p:cNvSpPr/>
          <p:nvPr/>
        </p:nvSpPr>
        <p:spPr>
          <a:xfrm>
            <a:off x="3343950" y="1309363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2</a:t>
            </a:r>
            <a:endParaRPr/>
          </a:p>
        </p:txBody>
      </p:sp>
      <p:sp>
        <p:nvSpPr>
          <p:cNvPr id="128" name="Google Shape;128;p19"/>
          <p:cNvSpPr/>
          <p:nvPr/>
        </p:nvSpPr>
        <p:spPr>
          <a:xfrm>
            <a:off x="6168200" y="1309375"/>
            <a:ext cx="2178600" cy="4467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073763"/>
                </a:solidFill>
                <a:latin typeface="Impact"/>
                <a:ea typeface="Impact"/>
                <a:cs typeface="Impact"/>
                <a:sym typeface="Impact"/>
              </a:rPr>
              <a:t>OBJECTIVE 3</a:t>
            </a:r>
            <a:endParaRPr/>
          </a:p>
        </p:txBody>
      </p:sp>
      <p:sp>
        <p:nvSpPr>
          <p:cNvPr id="129" name="Google Shape;129;p19"/>
          <p:cNvSpPr txBox="1"/>
          <p:nvPr/>
        </p:nvSpPr>
        <p:spPr>
          <a:xfrm>
            <a:off x="800500" y="1885825"/>
            <a:ext cx="1617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0" name="Google Shape;130;p19"/>
          <p:cNvSpPr txBox="1"/>
          <p:nvPr/>
        </p:nvSpPr>
        <p:spPr>
          <a:xfrm>
            <a:off x="3722200" y="1885825"/>
            <a:ext cx="1499100" cy="10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1" name="Google Shape;131;p19"/>
          <p:cNvSpPr txBox="1"/>
          <p:nvPr/>
        </p:nvSpPr>
        <p:spPr>
          <a:xfrm>
            <a:off x="6449000" y="1885825"/>
            <a:ext cx="1617000" cy="11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1"/>
                </a:solidFill>
              </a:rPr>
              <a:t>JVJVJGGGCGCCGCHGCGHHCGHCGHCGHCGCHVVVVVJVVHJVN NMBBBNB</a:t>
            </a:r>
            <a:endParaRPr sz="1300">
              <a:solidFill>
                <a:schemeClr val="lt1"/>
              </a:solidFill>
            </a:endParaRPr>
          </a:p>
        </p:txBody>
      </p:sp>
      <p:pic>
        <p:nvPicPr>
          <p:cNvPr id="132" name="Google Shape;13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0775" y="3178375"/>
            <a:ext cx="4041975" cy="175261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9"/>
          <p:cNvSpPr/>
          <p:nvPr/>
        </p:nvSpPr>
        <p:spPr>
          <a:xfrm rot="-1997660">
            <a:off x="3715865" y="3841565"/>
            <a:ext cx="277079" cy="200197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19"/>
          <p:cNvSpPr/>
          <p:nvPr/>
        </p:nvSpPr>
        <p:spPr>
          <a:xfrm rot="2101961">
            <a:off x="5014555" y="3876982"/>
            <a:ext cx="276982" cy="200081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0" name="Google Shape;140;p20"/>
          <p:cNvCxnSpPr/>
          <p:nvPr/>
        </p:nvCxnSpPr>
        <p:spPr>
          <a:xfrm>
            <a:off x="595650" y="915550"/>
            <a:ext cx="5698500" cy="156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1" name="Google Shape;141;p20"/>
          <p:cNvSpPr txBox="1"/>
          <p:nvPr/>
        </p:nvSpPr>
        <p:spPr>
          <a:xfrm>
            <a:off x="519700" y="354700"/>
            <a:ext cx="6198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COMMUNICATE WITH PURPOSE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42" name="Google Shape;142;p20"/>
          <p:cNvSpPr txBox="1"/>
          <p:nvPr/>
        </p:nvSpPr>
        <p:spPr>
          <a:xfrm>
            <a:off x="634150" y="1152475"/>
            <a:ext cx="61221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Determine the purpose of your paper, and then work with it in mind!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0"/>
          <p:cNvSpPr txBox="1"/>
          <p:nvPr/>
        </p:nvSpPr>
        <p:spPr>
          <a:xfrm>
            <a:off x="1773750" y="2115325"/>
            <a:ext cx="12573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PURPOSE: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0"/>
          <p:cNvSpPr txBox="1"/>
          <p:nvPr/>
        </p:nvSpPr>
        <p:spPr>
          <a:xfrm>
            <a:off x="5445375" y="2115313"/>
            <a:ext cx="19212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USE SARI FORMAT:</a:t>
            </a:r>
            <a:endParaRPr b="1"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1243500" y="2655775"/>
            <a:ext cx="2133000" cy="16122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  <a:effectLst>
            <a:outerShdw blurRad="57150" rotWithShape="0" algn="bl" dir="5400000" dist="19050">
              <a:srgbClr val="000000">
                <a:alpha val="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200">
                <a:solidFill>
                  <a:srgbClr val="0C343D"/>
                </a:solidFill>
              </a:rPr>
              <a:t>Describe nine basic </a:t>
            </a:r>
            <a:r>
              <a:rPr b="1" lang="en" sz="1200">
                <a:solidFill>
                  <a:srgbClr val="0C343D"/>
                </a:solidFill>
              </a:rPr>
              <a:t>practices</a:t>
            </a:r>
            <a:r>
              <a:rPr b="1" lang="en" sz="1200">
                <a:solidFill>
                  <a:srgbClr val="0C343D"/>
                </a:solidFill>
              </a:rPr>
              <a:t> of good communication in which my audience understands and appreciates its importance </a:t>
            </a:r>
            <a:endParaRPr sz="1700">
              <a:solidFill>
                <a:srgbClr val="0C343D"/>
              </a:solidFill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4715775" y="26557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rgbClr val="D9D9D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SPECIFIC </a:t>
            </a:r>
            <a:r>
              <a:rPr lang="en" sz="1000">
                <a:solidFill>
                  <a:srgbClr val="0C343D"/>
                </a:solidFill>
              </a:rPr>
              <a:t>to your content and audience.  </a:t>
            </a:r>
            <a:r>
              <a:rPr i="1" lang="en" sz="1000">
                <a:solidFill>
                  <a:srgbClr val="0C343D"/>
                </a:solidFill>
              </a:rPr>
              <a:t>It is focused.</a:t>
            </a:r>
            <a:endParaRPr sz="1000">
              <a:solidFill>
                <a:srgbClr val="0C343D"/>
              </a:solidFill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4715775" y="31931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ATTAINABLE, </a:t>
            </a:r>
            <a:r>
              <a:rPr lang="en" sz="1000">
                <a:solidFill>
                  <a:srgbClr val="0C343D"/>
                </a:solidFill>
              </a:rPr>
              <a:t>given your constraints.  </a:t>
            </a:r>
            <a:r>
              <a:rPr i="1" lang="en" sz="1000">
                <a:solidFill>
                  <a:srgbClr val="0C343D"/>
                </a:solidFill>
              </a:rPr>
              <a:t>It can be done.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20"/>
          <p:cNvSpPr/>
          <p:nvPr/>
        </p:nvSpPr>
        <p:spPr>
          <a:xfrm>
            <a:off x="4715775" y="37305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RELEVANT</a:t>
            </a:r>
            <a:r>
              <a:rPr lang="en" sz="1000">
                <a:solidFill>
                  <a:srgbClr val="0C343D"/>
                </a:solidFill>
              </a:rPr>
              <a:t> to the project.  </a:t>
            </a:r>
            <a:r>
              <a:rPr i="1" lang="en" sz="1000">
                <a:solidFill>
                  <a:srgbClr val="0C343D"/>
                </a:solidFill>
              </a:rPr>
              <a:t>It advances the cause.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20"/>
          <p:cNvSpPr/>
          <p:nvPr/>
        </p:nvSpPr>
        <p:spPr>
          <a:xfrm>
            <a:off x="4715775" y="4267975"/>
            <a:ext cx="3380400" cy="431100"/>
          </a:xfrm>
          <a:prstGeom prst="roundRect">
            <a:avLst>
              <a:gd fmla="val 16667" name="adj"/>
            </a:avLst>
          </a:prstGeom>
          <a:solidFill>
            <a:srgbClr val="D9D9D9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b="1" lang="en" sz="1000">
                <a:solidFill>
                  <a:srgbClr val="0C343D"/>
                </a:solidFill>
              </a:rPr>
              <a:t>IMPACTFUL </a:t>
            </a:r>
            <a:r>
              <a:rPr lang="en" sz="1000">
                <a:solidFill>
                  <a:srgbClr val="0C343D"/>
                </a:solidFill>
              </a:rPr>
              <a:t>to your audience.  </a:t>
            </a:r>
            <a:r>
              <a:rPr i="1" lang="en" sz="1000">
                <a:solidFill>
                  <a:srgbClr val="0C343D"/>
                </a:solidFill>
              </a:rPr>
              <a:t>It has an effect.</a:t>
            </a:r>
            <a:endParaRPr sz="1000">
              <a:solidFill>
                <a:srgbClr val="0C343D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1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5" name="Google Shape;155;p21"/>
          <p:cNvCxnSpPr/>
          <p:nvPr/>
        </p:nvCxnSpPr>
        <p:spPr>
          <a:xfrm>
            <a:off x="595650" y="915550"/>
            <a:ext cx="4750800" cy="102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21"/>
          <p:cNvSpPr txBox="1"/>
          <p:nvPr/>
        </p:nvSpPr>
        <p:spPr>
          <a:xfrm>
            <a:off x="519700" y="354700"/>
            <a:ext cx="57360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WHO ARE WE? (EXAMPLE)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57" name="Google Shape;157;p21"/>
          <p:cNvSpPr txBox="1"/>
          <p:nvPr/>
        </p:nvSpPr>
        <p:spPr>
          <a:xfrm>
            <a:off x="899850" y="1836850"/>
            <a:ext cx="41424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 resource group dedicated to helping new students find teams and resources to compete in engineering design competitions and challenges.</a:t>
            </a:r>
            <a:endParaRPr sz="9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1"/>
          <p:cNvPicPr preferRelativeResize="0"/>
          <p:nvPr/>
        </p:nvPicPr>
        <p:blipFill rotWithShape="1">
          <a:blip r:embed="rId3">
            <a:alphaModFix/>
          </a:blip>
          <a:srcRect b="0" l="-4130" r="4130" t="0"/>
          <a:stretch/>
        </p:blipFill>
        <p:spPr>
          <a:xfrm>
            <a:off x="6106825" y="854800"/>
            <a:ext cx="2607900" cy="17382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9DD9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59" name="Google Shape;159;p21"/>
          <p:cNvPicPr preferRelativeResize="0"/>
          <p:nvPr/>
        </p:nvPicPr>
        <p:blipFill rotWithShape="1">
          <a:blip r:embed="rId4">
            <a:alphaModFix/>
          </a:blip>
          <a:srcRect b="0" l="2070" r="-2070" t="0"/>
          <a:stretch/>
        </p:blipFill>
        <p:spPr>
          <a:xfrm>
            <a:off x="6152975" y="2808350"/>
            <a:ext cx="2607900" cy="19560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rgbClr val="009DD9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2"/>
          <p:cNvSpPr/>
          <p:nvPr/>
        </p:nvSpPr>
        <p:spPr>
          <a:xfrm>
            <a:off x="241775" y="270250"/>
            <a:ext cx="8662800" cy="4680300"/>
          </a:xfrm>
          <a:prstGeom prst="rect">
            <a:avLst/>
          </a:prstGeom>
          <a:solidFill>
            <a:srgbClr val="0A1735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22"/>
          <p:cNvSpPr txBox="1"/>
          <p:nvPr/>
        </p:nvSpPr>
        <p:spPr>
          <a:xfrm>
            <a:off x="2557950" y="2071650"/>
            <a:ext cx="42138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EoS Presentation Q&amp;A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66" name="Google Shape;166;p22"/>
          <p:cNvCxnSpPr/>
          <p:nvPr/>
        </p:nvCxnSpPr>
        <p:spPr>
          <a:xfrm flipH="1" rot="10800000">
            <a:off x="2450600" y="2659825"/>
            <a:ext cx="4179600" cy="81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22"/>
          <p:cNvSpPr txBox="1"/>
          <p:nvPr/>
        </p:nvSpPr>
        <p:spPr>
          <a:xfrm>
            <a:off x="2394300" y="2755100"/>
            <a:ext cx="43554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lt1"/>
                </a:solidFill>
                <a:latin typeface="Oswald"/>
                <a:ea typeface="Oswald"/>
                <a:cs typeface="Oswald"/>
                <a:sym typeface="Oswald"/>
              </a:rPr>
              <a:t>GOT ANY QUESTIONS? WE’RE HAPPY TO ANSWER THEM!</a:t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68" name="Google Shape;16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3625" y="2988175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241775" y="270250"/>
            <a:ext cx="4080949" cy="1962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2900" y="414650"/>
            <a:ext cx="451625" cy="45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0500" y="3559025"/>
            <a:ext cx="1125599" cy="1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3"/>
          <p:cNvSpPr txBox="1"/>
          <p:nvPr/>
        </p:nvSpPr>
        <p:spPr>
          <a:xfrm>
            <a:off x="443425" y="328450"/>
            <a:ext cx="51522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FOLLOW OUR SOCIALS!</a:t>
            </a:r>
            <a:endParaRPr sz="34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78" name="Google Shape;178;p23"/>
          <p:cNvCxnSpPr/>
          <p:nvPr/>
        </p:nvCxnSpPr>
        <p:spPr>
          <a:xfrm>
            <a:off x="447050" y="910725"/>
            <a:ext cx="4562700" cy="150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9" name="Google Shape;179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50" y="1366525"/>
            <a:ext cx="249249" cy="249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3"/>
          <p:cNvSpPr txBox="1"/>
          <p:nvPr/>
        </p:nvSpPr>
        <p:spPr>
          <a:xfrm>
            <a:off x="734450" y="12833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INSTA: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81" name="Google Shape;181;p23"/>
          <p:cNvSpPr txBox="1"/>
          <p:nvPr/>
        </p:nvSpPr>
        <p:spPr>
          <a:xfrm>
            <a:off x="696300" y="1600475"/>
            <a:ext cx="1434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FFFFFF"/>
                </a:solidFill>
              </a:rPr>
              <a:t>@tamuthinktank</a:t>
            </a:r>
            <a:endParaRPr sz="16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82" name="Google Shape;182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11550" y="2168029"/>
            <a:ext cx="320250" cy="3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3"/>
          <p:cNvSpPr txBox="1"/>
          <p:nvPr/>
        </p:nvSpPr>
        <p:spPr>
          <a:xfrm>
            <a:off x="734450" y="21203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WEBSITE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184" name="Google Shape;184;p23"/>
          <p:cNvSpPr txBox="1"/>
          <p:nvPr/>
        </p:nvSpPr>
        <p:spPr>
          <a:xfrm>
            <a:off x="734450" y="2488275"/>
            <a:ext cx="22908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FFFFFF"/>
                </a:solidFill>
              </a:rPr>
              <a:t>https://www.tamuthinktank.org/</a:t>
            </a:r>
            <a:endParaRPr sz="16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85" name="Google Shape;185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11550" y="3040525"/>
            <a:ext cx="320251" cy="32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23"/>
          <p:cNvSpPr txBox="1"/>
          <p:nvPr/>
        </p:nvSpPr>
        <p:spPr>
          <a:xfrm>
            <a:off x="777000" y="2992888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DISCORD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1" name="Google Shape;19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71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4700" y="2571750"/>
            <a:ext cx="1125599" cy="112559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4"/>
          <p:cNvSpPr txBox="1"/>
          <p:nvPr/>
        </p:nvSpPr>
        <p:spPr>
          <a:xfrm>
            <a:off x="443425" y="328450"/>
            <a:ext cx="51522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QUESTIONS?</a:t>
            </a:r>
            <a:endParaRPr sz="3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cxnSp>
        <p:nvCxnSpPr>
          <p:cNvPr id="194" name="Google Shape;194;p24"/>
          <p:cNvCxnSpPr/>
          <p:nvPr/>
        </p:nvCxnSpPr>
        <p:spPr>
          <a:xfrm>
            <a:off x="447050" y="910725"/>
            <a:ext cx="26688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5" name="Google Shape;195;p24"/>
          <p:cNvSpPr txBox="1"/>
          <p:nvPr/>
        </p:nvSpPr>
        <p:spPr>
          <a:xfrm>
            <a:off x="443425" y="1107800"/>
            <a:ext cx="6478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Oswald"/>
                <a:ea typeface="Oswald"/>
                <a:cs typeface="Oswald"/>
                <a:sym typeface="Oswald"/>
              </a:rPr>
              <a:t>If you have any questions, feel free to reach out to us via Discord or email!</a:t>
            </a:r>
            <a:endParaRPr sz="2500">
              <a:solidFill>
                <a:schemeClr val="dk2"/>
              </a:solidFill>
              <a:latin typeface="Oswald"/>
              <a:ea typeface="Oswald"/>
              <a:cs typeface="Oswald"/>
              <a:sym typeface="Oswald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050" y="1910500"/>
            <a:ext cx="320251" cy="32025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4"/>
          <p:cNvSpPr txBox="1"/>
          <p:nvPr/>
        </p:nvSpPr>
        <p:spPr>
          <a:xfrm>
            <a:off x="801200" y="1862863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DISCORD: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pic>
        <p:nvPicPr>
          <p:cNvPr id="198" name="Google Shape;198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51750" y="1910504"/>
            <a:ext cx="320250" cy="32025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4"/>
          <p:cNvSpPr txBox="1"/>
          <p:nvPr/>
        </p:nvSpPr>
        <p:spPr>
          <a:xfrm>
            <a:off x="4618350" y="1862863"/>
            <a:ext cx="12726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EMAIL</a:t>
            </a:r>
            <a:r>
              <a:rPr lang="en" sz="1500">
                <a:solidFill>
                  <a:schemeClr val="lt1"/>
                </a:solidFill>
                <a:latin typeface="Balthazar"/>
                <a:ea typeface="Balthazar"/>
                <a:cs typeface="Balthazar"/>
                <a:sym typeface="Balthazar"/>
              </a:rPr>
              <a:t>:</a:t>
            </a:r>
            <a:endParaRPr sz="1500">
              <a:solidFill>
                <a:schemeClr val="lt1"/>
              </a:solidFill>
              <a:latin typeface="Balthazar"/>
              <a:ea typeface="Balthazar"/>
              <a:cs typeface="Balthazar"/>
              <a:sym typeface="Balthazar"/>
            </a:endParaRPr>
          </a:p>
        </p:txBody>
      </p:sp>
      <p:sp>
        <p:nvSpPr>
          <p:cNvPr id="200" name="Google Shape;200;p24"/>
          <p:cNvSpPr txBox="1"/>
          <p:nvPr/>
        </p:nvSpPr>
        <p:spPr>
          <a:xfrm>
            <a:off x="4618350" y="2394750"/>
            <a:ext cx="420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FFFF"/>
                </a:solidFill>
              </a:rPr>
              <a:t>tamuthinktank@gmail.com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