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6858000" cy="9144000"/>
  <p:embeddedFontLst>
    <p:embeddedFont>
      <p:font typeface="Play"/>
      <p:regular r:id="rId50"/>
      <p:bold r:id="rId51"/>
    </p:embeddedFont>
    <p:embeddedFont>
      <p:font typeface="Robot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06C2EC-ACBF-406C-B3A9-D708854418FF}">
  <a:tblStyle styleId="{F306C2EC-ACBF-406C-B3A9-D708854418F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2A11744-EDD2-428C-879A-466AB4FB145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ay-bold.fntdata"/><Relationship Id="rId50" Type="http://schemas.openxmlformats.org/officeDocument/2006/relationships/font" Target="fonts/Play-regular.fntdata"/><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6.xml"/><Relationship Id="rId55" Type="http://schemas.openxmlformats.org/officeDocument/2006/relationships/font" Target="fonts/Roboto-boldItalic.fntdata"/><Relationship Id="rId10" Type="http://schemas.openxmlformats.org/officeDocument/2006/relationships/slide" Target="slides/slide5.xml"/><Relationship Id="rId54"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b1508d8b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b1508d8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9d2c155af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9d2c155a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d2c155af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9d2c155af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9b1508d8b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9b1508d8b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d1d6b0221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9d1d6b022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d2682c6c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9d2682c6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d2682c6c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9d2682c6c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9b1508d8b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9b1508d8b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9d0fd0fb7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9d0fd0fb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9d0fd0fb76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9d0fd0fb7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9d0fd0fb76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9d0fd0fb7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d42e4f1c8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9d42e4f1c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9d42e4f1c8_2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9d42e4f1c8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9d36c9d0b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9d36c9d0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9d42e4f1c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It’s over Vecna, we are the Stranger Things.</a:t>
            </a:r>
            <a:endParaRPr/>
          </a:p>
        </p:txBody>
      </p:sp>
      <p:sp>
        <p:nvSpPr>
          <p:cNvPr id="305" name="Google Shape;305;g39d42e4f1c8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d42e4f1c8_0_6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39d42e4f1c8_0_6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d42e4f1c8_0_8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7" name="Google Shape;317;g39d42e4f1c8_0_8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d42e4f1c8_0_10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g39d42e4f1c8_0_10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d42e4f1c8_0_12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g39d42e4f1c8_0_12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9d42e4f1c8_0_15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g39d42e4f1c8_0_15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d42e4f1c8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39d42e4f1c8_0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d42e4f1c8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g39d42e4f1c8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9d42e4f1c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9d42e4f1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9d36c9d0b9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9d36c9d0b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9d36c9d0b9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9d36c9d0b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9d36c9d0b9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9d36c9d0b9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9d36c9d0b9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9d36c9d0b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9d3c6591f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9d3c6591f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d3c6591f3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9d3c6591f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9d3c6591f3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9d3c6591f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9d3c6591f3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9d3c6591f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*Re was </a:t>
            </a:r>
            <a:r>
              <a:rPr lang="en-US"/>
              <a:t>calculated</a:t>
            </a:r>
            <a:r>
              <a:rPr lang="en-US"/>
              <a:t> using the maximum expected velocity and maximum expected </a:t>
            </a:r>
            <a:r>
              <a:rPr lang="en-US"/>
              <a:t>length from the leading to the trailing edge of the hydrofoil </a:t>
            </a:r>
            <a:endParaRPr/>
          </a:p>
          <a:p>
            <a:pPr indent="0" lvl="0" marL="0" rtl="0" algn="l">
              <a:spcBef>
                <a:spcPts val="0"/>
              </a:spcBef>
              <a:spcAft>
                <a:spcPts val="0"/>
              </a:spcAft>
              <a:buNone/>
            </a:pPr>
            <a:r>
              <a:rPr lang="en-US"/>
              <a:t>*The gain in lift coefficient for the Eppler 800 series outweighed the complexity of manufacturing for the NACA 66 mod </a:t>
            </a:r>
            <a:endParaRPr/>
          </a:p>
          <a:p>
            <a:pPr indent="0" lvl="0" marL="0" rtl="0" algn="l">
              <a:spcBef>
                <a:spcPts val="0"/>
              </a:spcBef>
              <a:spcAft>
                <a:spcPts val="0"/>
              </a:spcAft>
              <a:buNone/>
            </a:pPr>
            <a:r>
              <a:rPr lang="en-US"/>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9d3c6591f3_2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9d3c6591f3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It is evident that the Eppler 817 hydrofoil has a significantly higher coefficient of lift curve compared to the other two choices.This lift gain </a:t>
            </a:r>
            <a:r>
              <a:rPr lang="en-US"/>
              <a:t>outweighs the complexity of manufacturing for the NACA 66 hydrofoil. </a:t>
            </a:r>
            <a:endParaRPr/>
          </a:p>
          <a:p>
            <a:pPr indent="0" lvl="0" marL="0" rtl="0" algn="l">
              <a:spcBef>
                <a:spcPts val="0"/>
              </a:spcBef>
              <a:spcAft>
                <a:spcPts val="0"/>
              </a:spcAft>
              <a:buNone/>
            </a:pPr>
            <a:r>
              <a:rPr lang="en-US"/>
              <a:t>The red curve contributes to a Re of 500,000 while the beige curve contributes to one of 200,000</a:t>
            </a:r>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9d3c6591f3_2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9d3c6591f3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amount of pressure </a:t>
            </a:r>
            <a:r>
              <a:rPr lang="en-US"/>
              <a:t>withstood</a:t>
            </a:r>
            <a:r>
              <a:rPr lang="en-US"/>
              <a:t> at the </a:t>
            </a:r>
            <a:r>
              <a:rPr lang="en-US"/>
              <a:t>maximum</a:t>
            </a:r>
            <a:r>
              <a:rPr lang="en-US"/>
              <a:t> depth of 10 meters does not </a:t>
            </a:r>
            <a:r>
              <a:rPr lang="en-US"/>
              <a:t>justify</a:t>
            </a:r>
            <a:r>
              <a:rPr lang="en-US"/>
              <a:t> using a propeller created out of carbon fiber. The difficulties of dealing with epoxy reinforcement and manufacturing the carbon fiber in the first place is undesirable. </a:t>
            </a:r>
            <a:endParaRPr/>
          </a:p>
          <a:p>
            <a:pPr indent="0" lvl="0" marL="0" rtl="0" algn="l">
              <a:spcBef>
                <a:spcPts val="0"/>
              </a:spcBef>
              <a:spcAft>
                <a:spcPts val="0"/>
              </a:spcAft>
              <a:buNone/>
            </a:pPr>
            <a:r>
              <a:rPr lang="en-US"/>
              <a:t>On the </a:t>
            </a:r>
            <a:r>
              <a:rPr lang="en-US"/>
              <a:t>other</a:t>
            </a:r>
            <a:r>
              <a:rPr lang="en-US"/>
              <a:t> hand, the aluminum propellers would require us to cast the metal, which might not be an available option to us, or to weld parts together. In that case, we can resort to a fiberglass epoxy propeller. </a:t>
            </a:r>
            <a:endParaRPr/>
          </a:p>
          <a:p>
            <a:pPr indent="0" lvl="0" marL="0" rtl="0" algn="l">
              <a:spcBef>
                <a:spcPts val="0"/>
              </a:spcBef>
              <a:spcAft>
                <a:spcPts val="0"/>
              </a:spcAft>
              <a:buNone/>
            </a:pPr>
            <a:r>
              <a:rPr lang="en-US"/>
              <a:t>*NOTE: FEA </a:t>
            </a:r>
            <a:r>
              <a:rPr lang="en-US"/>
              <a:t>analysis</a:t>
            </a:r>
            <a:r>
              <a:rPr lang="en-US"/>
              <a:t> will be done on upcoming designs in order to further justify material choices.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9d36c9d0b9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9d36c9d0b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*NOTE: Number of blades cannot be chosen until </a:t>
            </a:r>
            <a:r>
              <a:rPr lang="en-US"/>
              <a:t>the</a:t>
            </a:r>
            <a:r>
              <a:rPr lang="en-US"/>
              <a:t> shaft power </a:t>
            </a:r>
            <a:r>
              <a:rPr lang="en-US"/>
              <a:t>provided by the motors is available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9d3c6591f3_2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9d3c6591f3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9d42e4f1c8_9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9d42e4f1c8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d42e4f1c8_9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d42e4f1c8_9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9d3c6591f3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9d3c6591f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9d3c6591f3_3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9d3c6591f3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9d3c6591f3_3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9d3c6591f3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9d3c6591f3_3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9d3c6591f3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9d3c6591f3_3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9d3c6591f3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9d3c6591f3_3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9d3c6591f3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grpSp>
        <p:nvGrpSpPr>
          <p:cNvPr id="12" name="Google Shape;12;p2"/>
          <p:cNvGrpSpPr/>
          <p:nvPr/>
        </p:nvGrpSpPr>
        <p:grpSpPr>
          <a:xfrm>
            <a:off x="-161903" y="-167749"/>
            <a:ext cx="6786369" cy="7140871"/>
            <a:chOff x="-161903" y="-167749"/>
            <a:chExt cx="6786369" cy="7140871"/>
          </a:xfrm>
        </p:grpSpPr>
        <p:sp>
          <p:nvSpPr>
            <p:cNvPr id="13" name="Google Shape;13;p2"/>
            <p:cNvSpPr/>
            <p:nvPr/>
          </p:nvSpPr>
          <p:spPr>
            <a:xfrm>
              <a:off x="-161903" y="-167749"/>
              <a:ext cx="6736299" cy="7025749"/>
            </a:xfrm>
            <a:prstGeom prst="rtTriangle">
              <a:avLst/>
            </a:pr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 name="Google Shape;14;p2"/>
            <p:cNvSpPr/>
            <p:nvPr/>
          </p:nvSpPr>
          <p:spPr>
            <a:xfrm>
              <a:off x="-111833" y="-52627"/>
              <a:ext cx="6736299" cy="7025749"/>
            </a:xfrm>
            <a:custGeom>
              <a:rect b="b" l="l" r="r" t="t"/>
              <a:pathLst>
                <a:path extrusionOk="0" h="7025749" w="6736299">
                  <a:moveTo>
                    <a:pt x="0" y="0"/>
                  </a:moveTo>
                  <a:cubicBezTo>
                    <a:pt x="789958" y="66332"/>
                    <a:pt x="1579917" y="132664"/>
                    <a:pt x="2065623" y="480224"/>
                  </a:cubicBezTo>
                  <a:cubicBezTo>
                    <a:pt x="2551330" y="827784"/>
                    <a:pt x="2454846" y="1702713"/>
                    <a:pt x="2914239" y="2085358"/>
                  </a:cubicBezTo>
                  <a:cubicBezTo>
                    <a:pt x="3373632" y="2468003"/>
                    <a:pt x="4477710" y="2356170"/>
                    <a:pt x="4821980" y="2776092"/>
                  </a:cubicBezTo>
                  <a:cubicBezTo>
                    <a:pt x="5166250" y="3196014"/>
                    <a:pt x="4801148" y="4123571"/>
                    <a:pt x="4979862" y="4604892"/>
                  </a:cubicBezTo>
                  <a:cubicBezTo>
                    <a:pt x="5158576" y="5086213"/>
                    <a:pt x="5601523" y="5260541"/>
                    <a:pt x="5894262" y="5664017"/>
                  </a:cubicBezTo>
                  <a:cubicBezTo>
                    <a:pt x="6187001" y="6067493"/>
                    <a:pt x="6589381" y="6796601"/>
                    <a:pt x="6736299" y="7025749"/>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5" name="Google Shape;15;p2"/>
          <p:cNvGrpSpPr/>
          <p:nvPr/>
        </p:nvGrpSpPr>
        <p:grpSpPr>
          <a:xfrm>
            <a:off x="-1552506" y="1270690"/>
            <a:ext cx="15025287" cy="5702432"/>
            <a:chOff x="-1028062" y="1775602"/>
            <a:chExt cx="14500843" cy="5255670"/>
          </a:xfrm>
        </p:grpSpPr>
        <p:sp>
          <p:nvSpPr>
            <p:cNvPr id="16" name="Google Shape;16;p2"/>
            <p:cNvSpPr/>
            <p:nvPr/>
          </p:nvSpPr>
          <p:spPr>
            <a:xfrm>
              <a:off x="-1028062" y="1775602"/>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 name="Google Shape;17;p2"/>
            <p:cNvSpPr/>
            <p:nvPr/>
          </p:nvSpPr>
          <p:spPr>
            <a:xfrm>
              <a:off x="-875662" y="18930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 name="Google Shape;18;p2"/>
            <p:cNvSpPr/>
            <p:nvPr/>
          </p:nvSpPr>
          <p:spPr>
            <a:xfrm>
              <a:off x="-723262" y="20454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 name="Google Shape;19;p2"/>
            <p:cNvSpPr/>
            <p:nvPr/>
          </p:nvSpPr>
          <p:spPr>
            <a:xfrm>
              <a:off x="-570862" y="21978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2"/>
            <p:cNvSpPr/>
            <p:nvPr/>
          </p:nvSpPr>
          <p:spPr>
            <a:xfrm>
              <a:off x="-418462" y="23502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 name="Google Shape;21;p2"/>
            <p:cNvSpPr/>
            <p:nvPr/>
          </p:nvSpPr>
          <p:spPr>
            <a:xfrm>
              <a:off x="-266062" y="25026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Google Shape;22;p2"/>
            <p:cNvSpPr/>
            <p:nvPr/>
          </p:nvSpPr>
          <p:spPr>
            <a:xfrm>
              <a:off x="-115671" y="26771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2"/>
            <p:cNvSpPr/>
            <p:nvPr/>
          </p:nvSpPr>
          <p:spPr>
            <a:xfrm>
              <a:off x="36729" y="28295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2"/>
            <p:cNvSpPr/>
            <p:nvPr/>
          </p:nvSpPr>
          <p:spPr>
            <a:xfrm>
              <a:off x="189129" y="29819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 name="Google Shape;25;p2"/>
          <p:cNvSpPr txBox="1"/>
          <p:nvPr>
            <p:ph type="ctrTitle"/>
          </p:nvPr>
        </p:nvSpPr>
        <p:spPr>
          <a:xfrm>
            <a:off x="208317" y="1122363"/>
            <a:ext cx="9144000"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
          <p:cNvSpPr txBox="1"/>
          <p:nvPr>
            <p:ph idx="1" type="subTitle"/>
          </p:nvPr>
        </p:nvSpPr>
        <p:spPr>
          <a:xfrm>
            <a:off x="208317" y="3602038"/>
            <a:ext cx="9144000"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 name="Google Shape;27;p2"/>
          <p:cNvSpPr txBox="1"/>
          <p:nvPr>
            <p:ph idx="10" type="dt"/>
          </p:nvPr>
        </p:nvSpPr>
        <p:spPr>
          <a:xfrm>
            <a:off x="-92098" y="6356348"/>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
          <p:cNvSpPr txBox="1"/>
          <p:nvPr>
            <p:ph idx="11" type="ftr"/>
          </p:nvPr>
        </p:nvSpPr>
        <p:spPr>
          <a:xfrm>
            <a:off x="5237517" y="6356349"/>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
          <p:cNvSpPr txBox="1"/>
          <p:nvPr>
            <p:ph idx="12" type="sldNum"/>
          </p:nvPr>
        </p:nvSpPr>
        <p:spPr>
          <a:xfrm>
            <a:off x="935231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30" name="Google Shape;30;p2"/>
          <p:cNvCxnSpPr/>
          <p:nvPr/>
        </p:nvCxnSpPr>
        <p:spPr>
          <a:xfrm>
            <a:off x="306993" y="4052305"/>
            <a:ext cx="3650725" cy="0"/>
          </a:xfrm>
          <a:prstGeom prst="straightConnector1">
            <a:avLst/>
          </a:prstGeom>
          <a:noFill/>
          <a:ln cap="flat" cmpd="sng" w="76200">
            <a:solidFill>
              <a:schemeClr val="accent3"/>
            </a:solidFill>
            <a:prstDash val="solid"/>
            <a:miter lim="800000"/>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1" name="Shape 31"/>
        <p:cNvGrpSpPr/>
        <p:nvPr/>
      </p:nvGrpSpPr>
      <p:grpSpPr>
        <a:xfrm>
          <a:off x="0" y="0"/>
          <a:ext cx="0" cy="0"/>
          <a:chOff x="0" y="0"/>
          <a:chExt cx="0" cy="0"/>
        </a:xfrm>
      </p:grpSpPr>
      <p:sp>
        <p:nvSpPr>
          <p:cNvPr id="32" name="Google Shape;32;p3"/>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 name="Google Shape;33;p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5" name="Google Shape;35;p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6" name="Google Shape;36;p3"/>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39" name="Google Shape;39;p3"/>
          <p:cNvGrpSpPr/>
          <p:nvPr/>
        </p:nvGrpSpPr>
        <p:grpSpPr>
          <a:xfrm>
            <a:off x="-1341996" y="3657600"/>
            <a:ext cx="14551458" cy="4029984"/>
            <a:chOff x="-1350448" y="3657600"/>
            <a:chExt cx="14078468" cy="4029984"/>
          </a:xfrm>
        </p:grpSpPr>
        <p:sp>
          <p:nvSpPr>
            <p:cNvPr id="40" name="Google Shape;40;p3"/>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 name="Google Shape;41;p3"/>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 name="Google Shape;42;p3"/>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 name="Google Shape;43;p3"/>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 name="Google Shape;44;p3"/>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3"/>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 name="Google Shape;46;p3"/>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 name="Google Shape;47;p3"/>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8" name="Shape 48"/>
        <p:cNvGrpSpPr/>
        <p:nvPr/>
      </p:nvGrpSpPr>
      <p:grpSpPr>
        <a:xfrm>
          <a:off x="0" y="0"/>
          <a:ext cx="0" cy="0"/>
          <a:chOff x="0" y="0"/>
          <a:chExt cx="0" cy="0"/>
        </a:xfrm>
      </p:grpSpPr>
      <p:sp>
        <p:nvSpPr>
          <p:cNvPr id="49" name="Google Shape;49;p4"/>
          <p:cNvSpPr/>
          <p:nvPr/>
        </p:nvSpPr>
        <p:spPr>
          <a:xfrm>
            <a:off x="-177799" y="-109041"/>
            <a:ext cx="9175240" cy="7125395"/>
          </a:xfrm>
          <a:custGeom>
            <a:rect b="b" l="l" r="r" t="t"/>
            <a:pathLst>
              <a:path extrusionOk="0" h="7125395" w="9175240">
                <a:moveTo>
                  <a:pt x="165100" y="39191"/>
                </a:moveTo>
                <a:cubicBezTo>
                  <a:pt x="318558" y="1620"/>
                  <a:pt x="472017" y="-35951"/>
                  <a:pt x="838200" y="64591"/>
                </a:cubicBezTo>
                <a:cubicBezTo>
                  <a:pt x="1204383" y="165133"/>
                  <a:pt x="1951567" y="157724"/>
                  <a:pt x="2362200" y="642441"/>
                </a:cubicBezTo>
                <a:cubicBezTo>
                  <a:pt x="2772833" y="1127158"/>
                  <a:pt x="2586567" y="2382341"/>
                  <a:pt x="3302000" y="2972891"/>
                </a:cubicBezTo>
                <a:cubicBezTo>
                  <a:pt x="4017433" y="3563441"/>
                  <a:pt x="5977467" y="3719016"/>
                  <a:pt x="6654800" y="4185741"/>
                </a:cubicBezTo>
                <a:cubicBezTo>
                  <a:pt x="7332133" y="4652466"/>
                  <a:pt x="6946900" y="5306516"/>
                  <a:pt x="7366000" y="5773241"/>
                </a:cubicBezTo>
                <a:cubicBezTo>
                  <a:pt x="7785100" y="6239966"/>
                  <a:pt x="8897408" y="6775483"/>
                  <a:pt x="9169400" y="6986091"/>
                </a:cubicBezTo>
                <a:cubicBezTo>
                  <a:pt x="9441392" y="7196699"/>
                  <a:pt x="123296" y="7110445"/>
                  <a:pt x="0" y="7094041"/>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0" name="Google Shape;5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81000" lvl="1" marL="914400" algn="l">
              <a:lnSpc>
                <a:spcPct val="90000"/>
              </a:lnSpc>
              <a:spcBef>
                <a:spcPts val="500"/>
              </a:spcBef>
              <a:spcAft>
                <a:spcPts val="0"/>
              </a:spcAft>
              <a:buClr>
                <a:schemeClr val="lt1"/>
              </a:buClr>
              <a:buSzPts val="2400"/>
              <a:buChar char="•"/>
              <a:defRPr>
                <a:latin typeface="Play"/>
                <a:ea typeface="Play"/>
                <a:cs typeface="Play"/>
                <a:sym typeface="Play"/>
              </a:defRPr>
            </a:lvl2pPr>
            <a:lvl3pPr indent="-355600" lvl="2" marL="1371600" algn="l">
              <a:lnSpc>
                <a:spcPct val="90000"/>
              </a:lnSpc>
              <a:spcBef>
                <a:spcPts val="500"/>
              </a:spcBef>
              <a:spcAft>
                <a:spcPts val="0"/>
              </a:spcAft>
              <a:buClr>
                <a:schemeClr val="lt1"/>
              </a:buClr>
              <a:buSzPts val="2000"/>
              <a:buChar char="•"/>
              <a:defRPr>
                <a:latin typeface="Play"/>
                <a:ea typeface="Play"/>
                <a:cs typeface="Play"/>
                <a:sym typeface="Play"/>
              </a:defRPr>
            </a:lvl3pPr>
            <a:lvl4pPr indent="-342900" lvl="3" marL="1828800" algn="l">
              <a:lnSpc>
                <a:spcPct val="90000"/>
              </a:lnSpc>
              <a:spcBef>
                <a:spcPts val="500"/>
              </a:spcBef>
              <a:spcAft>
                <a:spcPts val="0"/>
              </a:spcAft>
              <a:buClr>
                <a:schemeClr val="lt1"/>
              </a:buClr>
              <a:buSzPts val="1800"/>
              <a:buChar char="•"/>
              <a:defRPr>
                <a:latin typeface="Play"/>
                <a:ea typeface="Play"/>
                <a:cs typeface="Play"/>
                <a:sym typeface="Play"/>
              </a:defRPr>
            </a:lvl4pPr>
            <a:lvl5pPr indent="-342900" lvl="4" marL="2286000" algn="l">
              <a:lnSpc>
                <a:spcPct val="90000"/>
              </a:lnSpc>
              <a:spcBef>
                <a:spcPts val="500"/>
              </a:spcBef>
              <a:spcAft>
                <a:spcPts val="0"/>
              </a:spcAft>
              <a:buClr>
                <a:schemeClr val="lt1"/>
              </a:buClr>
              <a:buSzPts val="1800"/>
              <a:buChar char="•"/>
              <a:defRPr>
                <a:latin typeface="Play"/>
                <a:ea typeface="Play"/>
                <a:cs typeface="Play"/>
                <a:sym typeface="Play"/>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4"/>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grpSp>
        <p:nvGrpSpPr>
          <p:cNvPr id="55" name="Google Shape;55;p4"/>
          <p:cNvGrpSpPr/>
          <p:nvPr/>
        </p:nvGrpSpPr>
        <p:grpSpPr>
          <a:xfrm>
            <a:off x="8185150" y="-762001"/>
            <a:ext cx="4876800" cy="8997555"/>
            <a:chOff x="8185150" y="-762001"/>
            <a:chExt cx="4876800" cy="8997555"/>
          </a:xfrm>
        </p:grpSpPr>
        <p:sp>
          <p:nvSpPr>
            <p:cNvPr id="56" name="Google Shape;56;p4"/>
            <p:cNvSpPr/>
            <p:nvPr/>
          </p:nvSpPr>
          <p:spPr>
            <a:xfrm>
              <a:off x="8185150" y="-7620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4"/>
            <p:cNvSpPr/>
            <p:nvPr/>
          </p:nvSpPr>
          <p:spPr>
            <a:xfrm>
              <a:off x="8337550" y="-6096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4"/>
            <p:cNvSpPr/>
            <p:nvPr/>
          </p:nvSpPr>
          <p:spPr>
            <a:xfrm>
              <a:off x="8489950" y="-4572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 name="Google Shape;59;p4"/>
            <p:cNvSpPr/>
            <p:nvPr/>
          </p:nvSpPr>
          <p:spPr>
            <a:xfrm>
              <a:off x="8642350" y="-3048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 name="Google Shape;60;p4"/>
            <p:cNvSpPr/>
            <p:nvPr/>
          </p:nvSpPr>
          <p:spPr>
            <a:xfrm>
              <a:off x="8794750" y="-1524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 name="Google Shape;61;p4"/>
            <p:cNvSpPr/>
            <p:nvPr/>
          </p:nvSpPr>
          <p:spPr>
            <a:xfrm>
              <a:off x="8947150" y="-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 name="Google Shape;62;p4"/>
            <p:cNvSpPr/>
            <p:nvPr/>
          </p:nvSpPr>
          <p:spPr>
            <a:xfrm>
              <a:off x="9115662" y="1523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 name="Google Shape;63;p4"/>
            <p:cNvSpPr/>
            <p:nvPr/>
          </p:nvSpPr>
          <p:spPr>
            <a:xfrm>
              <a:off x="9268062" y="3047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 name="Google Shape;64;p4"/>
            <p:cNvSpPr/>
            <p:nvPr/>
          </p:nvSpPr>
          <p:spPr>
            <a:xfrm>
              <a:off x="9420462" y="4571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65" name="Google Shape;65;p4"/>
          <p:cNvCxnSpPr/>
          <p:nvPr/>
        </p:nvCxnSpPr>
        <p:spPr>
          <a:xfrm>
            <a:off x="948343" y="1353555"/>
            <a:ext cx="3650725" cy="0"/>
          </a:xfrm>
          <a:prstGeom prst="straightConnector1">
            <a:avLst/>
          </a:prstGeom>
          <a:noFill/>
          <a:ln cap="flat" cmpd="sng" w="76200">
            <a:solidFill>
              <a:schemeClr val="accent3"/>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5"/>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68" name="Google Shape;68;p5"/>
          <p:cNvGrpSpPr/>
          <p:nvPr/>
        </p:nvGrpSpPr>
        <p:grpSpPr>
          <a:xfrm>
            <a:off x="-1341996" y="3657600"/>
            <a:ext cx="14551458" cy="4029984"/>
            <a:chOff x="-1350448" y="3657600"/>
            <a:chExt cx="14078468" cy="4029984"/>
          </a:xfrm>
        </p:grpSpPr>
        <p:sp>
          <p:nvSpPr>
            <p:cNvPr id="69" name="Google Shape;69;p5"/>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 name="Google Shape;70;p5"/>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5"/>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5"/>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5"/>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5"/>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5"/>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 name="Google Shape;76;p5"/>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7" name="Google Shape;7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1" name="Shape 81"/>
        <p:cNvGrpSpPr/>
        <p:nvPr/>
      </p:nvGrpSpPr>
      <p:grpSpPr>
        <a:xfrm>
          <a:off x="0" y="0"/>
          <a:ext cx="0" cy="0"/>
          <a:chOff x="0" y="0"/>
          <a:chExt cx="0" cy="0"/>
        </a:xfrm>
      </p:grpSpPr>
      <p:sp>
        <p:nvSpPr>
          <p:cNvPr id="82" name="Google Shape;82;p6"/>
          <p:cNvSpPr/>
          <p:nvPr/>
        </p:nvSpPr>
        <p:spPr>
          <a:xfrm>
            <a:off x="-304800" y="488951"/>
            <a:ext cx="7928762" cy="6507786"/>
          </a:xfrm>
          <a:custGeom>
            <a:rect b="b" l="l" r="r" t="t"/>
            <a:pathLst>
              <a:path extrusionOk="0" h="6507786" w="7928762">
                <a:moveTo>
                  <a:pt x="158750" y="0"/>
                </a:moveTo>
                <a:cubicBezTo>
                  <a:pt x="861483" y="268816"/>
                  <a:pt x="1564217" y="537633"/>
                  <a:pt x="1905000" y="1003300"/>
                </a:cubicBezTo>
                <a:cubicBezTo>
                  <a:pt x="2245783" y="1468967"/>
                  <a:pt x="1994958" y="2437342"/>
                  <a:pt x="2203450" y="2794000"/>
                </a:cubicBezTo>
                <a:cubicBezTo>
                  <a:pt x="2411942" y="3150658"/>
                  <a:pt x="2684992" y="2909358"/>
                  <a:pt x="3155950" y="3143250"/>
                </a:cubicBezTo>
                <a:cubicBezTo>
                  <a:pt x="3626908" y="3377142"/>
                  <a:pt x="4639733" y="3816350"/>
                  <a:pt x="5029200" y="4197350"/>
                </a:cubicBezTo>
                <a:cubicBezTo>
                  <a:pt x="5418667" y="4578350"/>
                  <a:pt x="5012267" y="5064125"/>
                  <a:pt x="5492750" y="5429250"/>
                </a:cubicBezTo>
                <a:cubicBezTo>
                  <a:pt x="5973233" y="5794375"/>
                  <a:pt x="7477125" y="6224058"/>
                  <a:pt x="7912100" y="6388100"/>
                </a:cubicBezTo>
                <a:cubicBezTo>
                  <a:pt x="8347075" y="6552142"/>
                  <a:pt x="122237" y="6520921"/>
                  <a:pt x="0" y="6451600"/>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3" name="Google Shape;8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85" name="Google Shape;85;p6"/>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6"/>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6"/>
          <p:cNvSpPr txBox="1"/>
          <p:nvPr>
            <p:ph idx="12" type="sldNum"/>
          </p:nvPr>
        </p:nvSpPr>
        <p:spPr>
          <a:xfrm>
            <a:off x="9288177"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6"/>
          <p:cNvSpPr/>
          <p:nvPr/>
        </p:nvSpPr>
        <p:spPr>
          <a:xfrm rot="-242220">
            <a:off x="163285" y="38916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6"/>
          <p:cNvSpPr/>
          <p:nvPr/>
        </p:nvSpPr>
        <p:spPr>
          <a:xfrm rot="-242220">
            <a:off x="315685" y="40440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6"/>
          <p:cNvSpPr/>
          <p:nvPr/>
        </p:nvSpPr>
        <p:spPr>
          <a:xfrm rot="-242220">
            <a:off x="468085" y="41964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6"/>
          <p:cNvSpPr/>
          <p:nvPr/>
        </p:nvSpPr>
        <p:spPr>
          <a:xfrm rot="-242220">
            <a:off x="620485" y="43488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6"/>
          <p:cNvSpPr/>
          <p:nvPr/>
        </p:nvSpPr>
        <p:spPr>
          <a:xfrm rot="-242220">
            <a:off x="772885" y="45012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6"/>
          <p:cNvSpPr/>
          <p:nvPr/>
        </p:nvSpPr>
        <p:spPr>
          <a:xfrm rot="-242220">
            <a:off x="925285" y="46536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6"/>
          <p:cNvSpPr/>
          <p:nvPr/>
        </p:nvSpPr>
        <p:spPr>
          <a:xfrm rot="-242220">
            <a:off x="1077685" y="4806059"/>
            <a:ext cx="13240886" cy="2760238"/>
          </a:xfrm>
          <a:custGeom>
            <a:rect b="b" l="l" r="r" t="t"/>
            <a:pathLst>
              <a:path extrusionOk="0" h="3155950" w="11906250">
                <a:moveTo>
                  <a:pt x="0" y="3155950"/>
                </a:moveTo>
                <a:cubicBezTo>
                  <a:pt x="993246" y="2668058"/>
                  <a:pt x="1986492" y="2180167"/>
                  <a:pt x="2889250" y="1981200"/>
                </a:cubicBezTo>
                <a:cubicBezTo>
                  <a:pt x="3792008" y="1782233"/>
                  <a:pt x="4349750" y="2239433"/>
                  <a:pt x="5416550" y="1962150"/>
                </a:cubicBezTo>
                <a:cubicBezTo>
                  <a:pt x="6483350" y="1684867"/>
                  <a:pt x="8208433" y="644525"/>
                  <a:pt x="9290050" y="317500"/>
                </a:cubicBezTo>
                <a:cubicBezTo>
                  <a:pt x="10371667" y="-9525"/>
                  <a:pt x="11415183" y="63500"/>
                  <a:pt x="1190625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95" name="Google Shape;95;p6"/>
          <p:cNvCxnSpPr/>
          <p:nvPr/>
        </p:nvCxnSpPr>
        <p:spPr>
          <a:xfrm>
            <a:off x="948343" y="5063783"/>
            <a:ext cx="3650725" cy="0"/>
          </a:xfrm>
          <a:prstGeom prst="straightConnector1">
            <a:avLst/>
          </a:prstGeom>
          <a:noFill/>
          <a:ln cap="flat" cmpd="sng" w="76200">
            <a:solidFill>
              <a:schemeClr val="accent3"/>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TT_layout_blank">
  <p:cSld name="1_TTT_layout_blank">
    <p:spTree>
      <p:nvGrpSpPr>
        <p:cNvPr id="96" name="Shape 96"/>
        <p:cNvGrpSpPr/>
        <p:nvPr/>
      </p:nvGrpSpPr>
      <p:grpSpPr>
        <a:xfrm>
          <a:off x="0" y="0"/>
          <a:ext cx="0" cy="0"/>
          <a:chOff x="0" y="0"/>
          <a:chExt cx="0" cy="0"/>
        </a:xfrm>
      </p:grpSpPr>
      <p:grpSp>
        <p:nvGrpSpPr>
          <p:cNvPr id="97" name="Google Shape;97;p7"/>
          <p:cNvGrpSpPr/>
          <p:nvPr/>
        </p:nvGrpSpPr>
        <p:grpSpPr>
          <a:xfrm>
            <a:off x="-161903" y="-167749"/>
            <a:ext cx="6786369" cy="7140871"/>
            <a:chOff x="-161903" y="-167749"/>
            <a:chExt cx="6786369" cy="7140871"/>
          </a:xfrm>
        </p:grpSpPr>
        <p:sp>
          <p:nvSpPr>
            <p:cNvPr id="98" name="Google Shape;98;p7"/>
            <p:cNvSpPr/>
            <p:nvPr/>
          </p:nvSpPr>
          <p:spPr>
            <a:xfrm>
              <a:off x="-161903" y="-167749"/>
              <a:ext cx="6736299" cy="7025749"/>
            </a:xfrm>
            <a:prstGeom prst="rtTriangle">
              <a:avLst/>
            </a:pr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7"/>
            <p:cNvSpPr/>
            <p:nvPr/>
          </p:nvSpPr>
          <p:spPr>
            <a:xfrm>
              <a:off x="-111833" y="-52627"/>
              <a:ext cx="6736299" cy="7025749"/>
            </a:xfrm>
            <a:custGeom>
              <a:rect b="b" l="l" r="r" t="t"/>
              <a:pathLst>
                <a:path extrusionOk="0" h="7025749" w="6736299">
                  <a:moveTo>
                    <a:pt x="0" y="0"/>
                  </a:moveTo>
                  <a:cubicBezTo>
                    <a:pt x="789958" y="66332"/>
                    <a:pt x="1579917" y="132664"/>
                    <a:pt x="2065623" y="480224"/>
                  </a:cubicBezTo>
                  <a:cubicBezTo>
                    <a:pt x="2551330" y="827784"/>
                    <a:pt x="2454846" y="1702713"/>
                    <a:pt x="2914239" y="2085358"/>
                  </a:cubicBezTo>
                  <a:cubicBezTo>
                    <a:pt x="3373632" y="2468003"/>
                    <a:pt x="4477710" y="2356170"/>
                    <a:pt x="4821980" y="2776092"/>
                  </a:cubicBezTo>
                  <a:cubicBezTo>
                    <a:pt x="5166250" y="3196014"/>
                    <a:pt x="4801148" y="4123571"/>
                    <a:pt x="4979862" y="4604892"/>
                  </a:cubicBezTo>
                  <a:cubicBezTo>
                    <a:pt x="5158576" y="5086213"/>
                    <a:pt x="5601523" y="5260541"/>
                    <a:pt x="5894262" y="5664017"/>
                  </a:cubicBezTo>
                  <a:cubicBezTo>
                    <a:pt x="6187001" y="6067493"/>
                    <a:pt x="6589381" y="6796601"/>
                    <a:pt x="6736299" y="7025749"/>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00" name="Google Shape;100;p7"/>
          <p:cNvGrpSpPr/>
          <p:nvPr/>
        </p:nvGrpSpPr>
        <p:grpSpPr>
          <a:xfrm>
            <a:off x="-1552506" y="1270690"/>
            <a:ext cx="15025287" cy="5702432"/>
            <a:chOff x="-1028062" y="1775602"/>
            <a:chExt cx="14500843" cy="5255670"/>
          </a:xfrm>
        </p:grpSpPr>
        <p:sp>
          <p:nvSpPr>
            <p:cNvPr id="101" name="Google Shape;101;p7"/>
            <p:cNvSpPr/>
            <p:nvPr/>
          </p:nvSpPr>
          <p:spPr>
            <a:xfrm>
              <a:off x="-1028062" y="1775602"/>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7"/>
            <p:cNvSpPr/>
            <p:nvPr/>
          </p:nvSpPr>
          <p:spPr>
            <a:xfrm>
              <a:off x="-875662" y="18930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 name="Google Shape;103;p7"/>
            <p:cNvSpPr/>
            <p:nvPr/>
          </p:nvSpPr>
          <p:spPr>
            <a:xfrm>
              <a:off x="-723262" y="20454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7"/>
            <p:cNvSpPr/>
            <p:nvPr/>
          </p:nvSpPr>
          <p:spPr>
            <a:xfrm>
              <a:off x="-570862" y="21978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 name="Google Shape;105;p7"/>
            <p:cNvSpPr/>
            <p:nvPr/>
          </p:nvSpPr>
          <p:spPr>
            <a:xfrm>
              <a:off x="-418462" y="23502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7"/>
            <p:cNvSpPr/>
            <p:nvPr/>
          </p:nvSpPr>
          <p:spPr>
            <a:xfrm>
              <a:off x="-266062" y="25026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7"/>
            <p:cNvSpPr/>
            <p:nvPr/>
          </p:nvSpPr>
          <p:spPr>
            <a:xfrm>
              <a:off x="-115671" y="26771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7"/>
            <p:cNvSpPr/>
            <p:nvPr/>
          </p:nvSpPr>
          <p:spPr>
            <a:xfrm>
              <a:off x="36729" y="28295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7"/>
            <p:cNvSpPr/>
            <p:nvPr/>
          </p:nvSpPr>
          <p:spPr>
            <a:xfrm>
              <a:off x="189129" y="29819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p8"/>
          <p:cNvSpPr/>
          <p:nvPr/>
        </p:nvSpPr>
        <p:spPr>
          <a:xfrm>
            <a:off x="-177799" y="-109041"/>
            <a:ext cx="9175240" cy="7125395"/>
          </a:xfrm>
          <a:custGeom>
            <a:rect b="b" l="l" r="r" t="t"/>
            <a:pathLst>
              <a:path extrusionOk="0" h="7125395" w="9175240">
                <a:moveTo>
                  <a:pt x="165100" y="39191"/>
                </a:moveTo>
                <a:cubicBezTo>
                  <a:pt x="318558" y="1620"/>
                  <a:pt x="472017" y="-35951"/>
                  <a:pt x="838200" y="64591"/>
                </a:cubicBezTo>
                <a:cubicBezTo>
                  <a:pt x="1204383" y="165133"/>
                  <a:pt x="1951567" y="157724"/>
                  <a:pt x="2362200" y="642441"/>
                </a:cubicBezTo>
                <a:cubicBezTo>
                  <a:pt x="2772833" y="1127158"/>
                  <a:pt x="2586567" y="2382341"/>
                  <a:pt x="3302000" y="2972891"/>
                </a:cubicBezTo>
                <a:cubicBezTo>
                  <a:pt x="4017433" y="3563441"/>
                  <a:pt x="5977467" y="3719016"/>
                  <a:pt x="6654800" y="4185741"/>
                </a:cubicBezTo>
                <a:cubicBezTo>
                  <a:pt x="7332133" y="4652466"/>
                  <a:pt x="6946900" y="5306516"/>
                  <a:pt x="7366000" y="5773241"/>
                </a:cubicBezTo>
                <a:cubicBezTo>
                  <a:pt x="7785100" y="6239966"/>
                  <a:pt x="8897408" y="6775483"/>
                  <a:pt x="9169400" y="6986091"/>
                </a:cubicBezTo>
                <a:cubicBezTo>
                  <a:pt x="9441392" y="7196699"/>
                  <a:pt x="123296" y="7110445"/>
                  <a:pt x="0" y="7094041"/>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12" name="Google Shape;112;p8"/>
          <p:cNvGrpSpPr/>
          <p:nvPr/>
        </p:nvGrpSpPr>
        <p:grpSpPr>
          <a:xfrm>
            <a:off x="8185150" y="-762001"/>
            <a:ext cx="4876800" cy="8997555"/>
            <a:chOff x="8185150" y="-762001"/>
            <a:chExt cx="4876800" cy="8997555"/>
          </a:xfrm>
        </p:grpSpPr>
        <p:sp>
          <p:nvSpPr>
            <p:cNvPr id="113" name="Google Shape;113;p8"/>
            <p:cNvSpPr/>
            <p:nvPr/>
          </p:nvSpPr>
          <p:spPr>
            <a:xfrm>
              <a:off x="8185150" y="-7620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 name="Google Shape;114;p8"/>
            <p:cNvSpPr/>
            <p:nvPr/>
          </p:nvSpPr>
          <p:spPr>
            <a:xfrm>
              <a:off x="8337550" y="-6096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8"/>
            <p:cNvSpPr/>
            <p:nvPr/>
          </p:nvSpPr>
          <p:spPr>
            <a:xfrm>
              <a:off x="8489950" y="-4572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8"/>
            <p:cNvSpPr/>
            <p:nvPr/>
          </p:nvSpPr>
          <p:spPr>
            <a:xfrm>
              <a:off x="8642350" y="-3048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8"/>
            <p:cNvSpPr/>
            <p:nvPr/>
          </p:nvSpPr>
          <p:spPr>
            <a:xfrm>
              <a:off x="8794750" y="-1524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8"/>
            <p:cNvSpPr/>
            <p:nvPr/>
          </p:nvSpPr>
          <p:spPr>
            <a:xfrm>
              <a:off x="8947150" y="-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8"/>
            <p:cNvSpPr/>
            <p:nvPr/>
          </p:nvSpPr>
          <p:spPr>
            <a:xfrm>
              <a:off x="9115662" y="1523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8"/>
            <p:cNvSpPr/>
            <p:nvPr/>
          </p:nvSpPr>
          <p:spPr>
            <a:xfrm>
              <a:off x="9268062" y="3047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8"/>
            <p:cNvSpPr/>
            <p:nvPr/>
          </p:nvSpPr>
          <p:spPr>
            <a:xfrm>
              <a:off x="9420462" y="4571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8"/>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8"/>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8"/>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28" name="Google Shape;128;p8"/>
          <p:cNvCxnSpPr/>
          <p:nvPr/>
        </p:nvCxnSpPr>
        <p:spPr>
          <a:xfrm>
            <a:off x="948343" y="1353555"/>
            <a:ext cx="3650725" cy="0"/>
          </a:xfrm>
          <a:prstGeom prst="straightConnector1">
            <a:avLst/>
          </a:prstGeom>
          <a:noFill/>
          <a:ln cap="flat" cmpd="sng" w="76200">
            <a:solidFill>
              <a:schemeClr val="accent3"/>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9" name="Shape 129"/>
        <p:cNvGrpSpPr/>
        <p:nvPr/>
      </p:nvGrpSpPr>
      <p:grpSpPr>
        <a:xfrm>
          <a:off x="0" y="0"/>
          <a:ext cx="0" cy="0"/>
          <a:chOff x="0" y="0"/>
          <a:chExt cx="0" cy="0"/>
        </a:xfrm>
      </p:grpSpPr>
      <p:sp>
        <p:nvSpPr>
          <p:cNvPr id="130" name="Google Shape;130;p9"/>
          <p:cNvSpPr/>
          <p:nvPr/>
        </p:nvSpPr>
        <p:spPr>
          <a:xfrm>
            <a:off x="-177799" y="-109041"/>
            <a:ext cx="9175240" cy="7125395"/>
          </a:xfrm>
          <a:custGeom>
            <a:rect b="b" l="l" r="r" t="t"/>
            <a:pathLst>
              <a:path extrusionOk="0" h="7125395" w="9175240">
                <a:moveTo>
                  <a:pt x="165100" y="39191"/>
                </a:moveTo>
                <a:cubicBezTo>
                  <a:pt x="318558" y="1620"/>
                  <a:pt x="472017" y="-35951"/>
                  <a:pt x="838200" y="64591"/>
                </a:cubicBezTo>
                <a:cubicBezTo>
                  <a:pt x="1204383" y="165133"/>
                  <a:pt x="1951567" y="157724"/>
                  <a:pt x="2362200" y="642441"/>
                </a:cubicBezTo>
                <a:cubicBezTo>
                  <a:pt x="2772833" y="1127158"/>
                  <a:pt x="2586567" y="2382341"/>
                  <a:pt x="3302000" y="2972891"/>
                </a:cubicBezTo>
                <a:cubicBezTo>
                  <a:pt x="4017433" y="3563441"/>
                  <a:pt x="5977467" y="3719016"/>
                  <a:pt x="6654800" y="4185741"/>
                </a:cubicBezTo>
                <a:cubicBezTo>
                  <a:pt x="7332133" y="4652466"/>
                  <a:pt x="6946900" y="5306516"/>
                  <a:pt x="7366000" y="5773241"/>
                </a:cubicBezTo>
                <a:cubicBezTo>
                  <a:pt x="7785100" y="6239966"/>
                  <a:pt x="8897408" y="6775483"/>
                  <a:pt x="9169400" y="6986091"/>
                </a:cubicBezTo>
                <a:cubicBezTo>
                  <a:pt x="9441392" y="7196699"/>
                  <a:pt x="123296" y="7110445"/>
                  <a:pt x="0" y="7094041"/>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31" name="Google Shape;131;p9"/>
          <p:cNvGrpSpPr/>
          <p:nvPr/>
        </p:nvGrpSpPr>
        <p:grpSpPr>
          <a:xfrm>
            <a:off x="8185150" y="-762001"/>
            <a:ext cx="4876800" cy="8997555"/>
            <a:chOff x="8185150" y="-762001"/>
            <a:chExt cx="4876800" cy="8997555"/>
          </a:xfrm>
        </p:grpSpPr>
        <p:sp>
          <p:nvSpPr>
            <p:cNvPr id="132" name="Google Shape;132;p9"/>
            <p:cNvSpPr/>
            <p:nvPr/>
          </p:nvSpPr>
          <p:spPr>
            <a:xfrm>
              <a:off x="8185150" y="-7620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9"/>
            <p:cNvSpPr/>
            <p:nvPr/>
          </p:nvSpPr>
          <p:spPr>
            <a:xfrm>
              <a:off x="8337550" y="-6096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4" name="Google Shape;134;p9"/>
            <p:cNvSpPr/>
            <p:nvPr/>
          </p:nvSpPr>
          <p:spPr>
            <a:xfrm>
              <a:off x="8489950" y="-4572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9"/>
            <p:cNvSpPr/>
            <p:nvPr/>
          </p:nvSpPr>
          <p:spPr>
            <a:xfrm>
              <a:off x="8642350" y="-3048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 name="Google Shape;136;p9"/>
            <p:cNvSpPr/>
            <p:nvPr/>
          </p:nvSpPr>
          <p:spPr>
            <a:xfrm>
              <a:off x="8794750" y="-15240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9"/>
            <p:cNvSpPr/>
            <p:nvPr/>
          </p:nvSpPr>
          <p:spPr>
            <a:xfrm>
              <a:off x="8947150" y="-1"/>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9"/>
            <p:cNvSpPr/>
            <p:nvPr/>
          </p:nvSpPr>
          <p:spPr>
            <a:xfrm>
              <a:off x="9115662" y="1523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9"/>
            <p:cNvSpPr/>
            <p:nvPr/>
          </p:nvSpPr>
          <p:spPr>
            <a:xfrm>
              <a:off x="9268062" y="3047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9"/>
            <p:cNvSpPr/>
            <p:nvPr/>
          </p:nvSpPr>
          <p:spPr>
            <a:xfrm>
              <a:off x="9420462" y="457199"/>
              <a:ext cx="3641488" cy="7778355"/>
            </a:xfrm>
            <a:custGeom>
              <a:rect b="b" l="l" r="r" t="t"/>
              <a:pathLst>
                <a:path extrusionOk="0" h="6908800" w="2955688">
                  <a:moveTo>
                    <a:pt x="0" y="6908800"/>
                  </a:moveTo>
                  <a:cubicBezTo>
                    <a:pt x="766233" y="6481233"/>
                    <a:pt x="1798108" y="6068483"/>
                    <a:pt x="2146300" y="5334000"/>
                  </a:cubicBezTo>
                  <a:cubicBezTo>
                    <a:pt x="2494492" y="4599517"/>
                    <a:pt x="1945217" y="3370792"/>
                    <a:pt x="2089150" y="2501900"/>
                  </a:cubicBezTo>
                  <a:cubicBezTo>
                    <a:pt x="2233083" y="1633008"/>
                    <a:pt x="3418417" y="675217"/>
                    <a:pt x="2755900" y="0"/>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3" name="Google Shape;143;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5" name="Google Shape;145;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9"/>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9"/>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9"/>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9" name="Shape 149"/>
        <p:cNvGrpSpPr/>
        <p:nvPr/>
      </p:nvGrpSpPr>
      <p:grpSpPr>
        <a:xfrm>
          <a:off x="0" y="0"/>
          <a:ext cx="0" cy="0"/>
          <a:chOff x="0" y="0"/>
          <a:chExt cx="0" cy="0"/>
        </a:xfrm>
      </p:grpSpPr>
      <p:grpSp>
        <p:nvGrpSpPr>
          <p:cNvPr id="150" name="Google Shape;150;p10"/>
          <p:cNvGrpSpPr/>
          <p:nvPr/>
        </p:nvGrpSpPr>
        <p:grpSpPr>
          <a:xfrm>
            <a:off x="-161903" y="-167749"/>
            <a:ext cx="6786369" cy="7140871"/>
            <a:chOff x="-161903" y="-167749"/>
            <a:chExt cx="6786369" cy="7140871"/>
          </a:xfrm>
        </p:grpSpPr>
        <p:sp>
          <p:nvSpPr>
            <p:cNvPr id="151" name="Google Shape;151;p10"/>
            <p:cNvSpPr/>
            <p:nvPr/>
          </p:nvSpPr>
          <p:spPr>
            <a:xfrm>
              <a:off x="-161903" y="-167749"/>
              <a:ext cx="6736299" cy="7025749"/>
            </a:xfrm>
            <a:prstGeom prst="rtTriangle">
              <a:avLst/>
            </a:pr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2" name="Google Shape;152;p10"/>
            <p:cNvSpPr/>
            <p:nvPr/>
          </p:nvSpPr>
          <p:spPr>
            <a:xfrm>
              <a:off x="-111833" y="-52627"/>
              <a:ext cx="6736299" cy="7025749"/>
            </a:xfrm>
            <a:custGeom>
              <a:rect b="b" l="l" r="r" t="t"/>
              <a:pathLst>
                <a:path extrusionOk="0" h="7025749" w="6736299">
                  <a:moveTo>
                    <a:pt x="0" y="0"/>
                  </a:moveTo>
                  <a:cubicBezTo>
                    <a:pt x="789958" y="66332"/>
                    <a:pt x="1579917" y="132664"/>
                    <a:pt x="2065623" y="480224"/>
                  </a:cubicBezTo>
                  <a:cubicBezTo>
                    <a:pt x="2551330" y="827784"/>
                    <a:pt x="2454846" y="1702713"/>
                    <a:pt x="2914239" y="2085358"/>
                  </a:cubicBezTo>
                  <a:cubicBezTo>
                    <a:pt x="3373632" y="2468003"/>
                    <a:pt x="4477710" y="2356170"/>
                    <a:pt x="4821980" y="2776092"/>
                  </a:cubicBezTo>
                  <a:cubicBezTo>
                    <a:pt x="5166250" y="3196014"/>
                    <a:pt x="4801148" y="4123571"/>
                    <a:pt x="4979862" y="4604892"/>
                  </a:cubicBezTo>
                  <a:cubicBezTo>
                    <a:pt x="5158576" y="5086213"/>
                    <a:pt x="5601523" y="5260541"/>
                    <a:pt x="5894262" y="5664017"/>
                  </a:cubicBezTo>
                  <a:cubicBezTo>
                    <a:pt x="6187001" y="6067493"/>
                    <a:pt x="6589381" y="6796601"/>
                    <a:pt x="6736299" y="7025749"/>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53" name="Google Shape;153;p10"/>
          <p:cNvGrpSpPr/>
          <p:nvPr/>
        </p:nvGrpSpPr>
        <p:grpSpPr>
          <a:xfrm>
            <a:off x="-1552506" y="1328840"/>
            <a:ext cx="15025287" cy="5702432"/>
            <a:chOff x="-1028062" y="1775602"/>
            <a:chExt cx="14500843" cy="5255670"/>
          </a:xfrm>
        </p:grpSpPr>
        <p:sp>
          <p:nvSpPr>
            <p:cNvPr id="154" name="Google Shape;154;p10"/>
            <p:cNvSpPr/>
            <p:nvPr/>
          </p:nvSpPr>
          <p:spPr>
            <a:xfrm>
              <a:off x="-1028062" y="1775602"/>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p10"/>
            <p:cNvSpPr/>
            <p:nvPr/>
          </p:nvSpPr>
          <p:spPr>
            <a:xfrm>
              <a:off x="-875662" y="18930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10"/>
            <p:cNvSpPr/>
            <p:nvPr/>
          </p:nvSpPr>
          <p:spPr>
            <a:xfrm>
              <a:off x="-723262" y="20454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p10"/>
            <p:cNvSpPr/>
            <p:nvPr/>
          </p:nvSpPr>
          <p:spPr>
            <a:xfrm>
              <a:off x="-570862" y="21978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 name="Google Shape;158;p10"/>
            <p:cNvSpPr/>
            <p:nvPr/>
          </p:nvSpPr>
          <p:spPr>
            <a:xfrm>
              <a:off x="-418462" y="23502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10"/>
            <p:cNvSpPr/>
            <p:nvPr/>
          </p:nvSpPr>
          <p:spPr>
            <a:xfrm>
              <a:off x="-266062" y="250268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10"/>
            <p:cNvSpPr/>
            <p:nvPr/>
          </p:nvSpPr>
          <p:spPr>
            <a:xfrm>
              <a:off x="-115671" y="26771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10"/>
            <p:cNvSpPr/>
            <p:nvPr/>
          </p:nvSpPr>
          <p:spPr>
            <a:xfrm>
              <a:off x="36729" y="28295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p10"/>
            <p:cNvSpPr/>
            <p:nvPr/>
          </p:nvSpPr>
          <p:spPr>
            <a:xfrm>
              <a:off x="189129" y="2981930"/>
              <a:ext cx="13283652" cy="4049342"/>
            </a:xfrm>
            <a:custGeom>
              <a:rect b="b" l="l" r="r" t="t"/>
              <a:pathLst>
                <a:path extrusionOk="0" h="4049342" w="12706350">
                  <a:moveTo>
                    <a:pt x="0" y="3108932"/>
                  </a:moveTo>
                  <a:cubicBezTo>
                    <a:pt x="998537" y="3588886"/>
                    <a:pt x="1997075" y="4068840"/>
                    <a:pt x="3111500" y="4048732"/>
                  </a:cubicBezTo>
                  <a:cubicBezTo>
                    <a:pt x="4225925" y="4028624"/>
                    <a:pt x="5623983" y="3131157"/>
                    <a:pt x="6686550" y="2988282"/>
                  </a:cubicBezTo>
                  <a:cubicBezTo>
                    <a:pt x="7749117" y="2845407"/>
                    <a:pt x="8755592" y="3622224"/>
                    <a:pt x="9486900" y="3191482"/>
                  </a:cubicBezTo>
                  <a:cubicBezTo>
                    <a:pt x="10218208" y="2760740"/>
                    <a:pt x="10537825" y="934057"/>
                    <a:pt x="11074400" y="403832"/>
                  </a:cubicBezTo>
                  <a:cubicBezTo>
                    <a:pt x="11610975" y="-126393"/>
                    <a:pt x="12434358" y="22832"/>
                    <a:pt x="12706350" y="10132"/>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10"/>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10"/>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10"/>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6" name="Shape 166"/>
        <p:cNvGrpSpPr/>
        <p:nvPr/>
      </p:nvGrpSpPr>
      <p:grpSpPr>
        <a:xfrm>
          <a:off x="0" y="0"/>
          <a:ext cx="0" cy="0"/>
          <a:chOff x="0" y="0"/>
          <a:chExt cx="0" cy="0"/>
        </a:xfrm>
      </p:grpSpPr>
      <p:sp>
        <p:nvSpPr>
          <p:cNvPr id="167" name="Google Shape;167;p11"/>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68" name="Google Shape;168;p11"/>
          <p:cNvGrpSpPr/>
          <p:nvPr/>
        </p:nvGrpSpPr>
        <p:grpSpPr>
          <a:xfrm>
            <a:off x="-1341996" y="3657600"/>
            <a:ext cx="14551458" cy="4029984"/>
            <a:chOff x="-1350448" y="3657600"/>
            <a:chExt cx="14078468" cy="4029984"/>
          </a:xfrm>
        </p:grpSpPr>
        <p:sp>
          <p:nvSpPr>
            <p:cNvPr id="169" name="Google Shape;169;p11"/>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p11"/>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p11"/>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11"/>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11"/>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11"/>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11"/>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p11"/>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11"/>
          <p:cNvSpPr/>
          <p:nvPr>
            <p:ph idx="2" type="pic"/>
          </p:nvPr>
        </p:nvSpPr>
        <p:spPr>
          <a:xfrm>
            <a:off x="5183188" y="987425"/>
            <a:ext cx="6172200" cy="4873625"/>
          </a:xfrm>
          <a:prstGeom prst="rect">
            <a:avLst/>
          </a:prstGeom>
          <a:noFill/>
          <a:ln>
            <a:noFill/>
          </a:ln>
        </p:spPr>
      </p:sp>
      <p:sp>
        <p:nvSpPr>
          <p:cNvPr id="179" name="Google Shape;179;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80" name="Google Shape;180;p11"/>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11"/>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11"/>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3" name="Shape 183"/>
        <p:cNvGrpSpPr/>
        <p:nvPr/>
      </p:nvGrpSpPr>
      <p:grpSpPr>
        <a:xfrm>
          <a:off x="0" y="0"/>
          <a:ext cx="0" cy="0"/>
          <a:chOff x="0" y="0"/>
          <a:chExt cx="0" cy="0"/>
        </a:xfrm>
      </p:grpSpPr>
      <p:sp>
        <p:nvSpPr>
          <p:cNvPr id="184" name="Google Shape;184;p12"/>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85" name="Google Shape;185;p12"/>
          <p:cNvGrpSpPr/>
          <p:nvPr/>
        </p:nvGrpSpPr>
        <p:grpSpPr>
          <a:xfrm>
            <a:off x="-1341996" y="3657600"/>
            <a:ext cx="14551458" cy="4029984"/>
            <a:chOff x="-1350448" y="3657600"/>
            <a:chExt cx="14078468" cy="4029984"/>
          </a:xfrm>
        </p:grpSpPr>
        <p:sp>
          <p:nvSpPr>
            <p:cNvPr id="186" name="Google Shape;186;p12"/>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7" name="Google Shape;187;p12"/>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12"/>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12"/>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12"/>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p12"/>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12"/>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12"/>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4" name="Google Shape;19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12"/>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12"/>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12"/>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9" name="Shape 199"/>
        <p:cNvGrpSpPr/>
        <p:nvPr/>
      </p:nvGrpSpPr>
      <p:grpSpPr>
        <a:xfrm>
          <a:off x="0" y="0"/>
          <a:ext cx="0" cy="0"/>
          <a:chOff x="0" y="0"/>
          <a:chExt cx="0" cy="0"/>
        </a:xfrm>
      </p:grpSpPr>
      <p:sp>
        <p:nvSpPr>
          <p:cNvPr id="200" name="Google Shape;200;p13"/>
          <p:cNvSpPr/>
          <p:nvPr/>
        </p:nvSpPr>
        <p:spPr>
          <a:xfrm>
            <a:off x="-278718" y="-113907"/>
            <a:ext cx="9705684" cy="7170263"/>
          </a:xfrm>
          <a:custGeom>
            <a:rect b="b" l="l" r="r" t="t"/>
            <a:pathLst>
              <a:path extrusionOk="0" h="6820837" w="9233590">
                <a:moveTo>
                  <a:pt x="83929" y="12662"/>
                </a:moveTo>
                <a:cubicBezTo>
                  <a:pt x="454875" y="-15384"/>
                  <a:pt x="1737024" y="-13227"/>
                  <a:pt x="2187023" y="194955"/>
                </a:cubicBezTo>
                <a:cubicBezTo>
                  <a:pt x="2637022" y="403137"/>
                  <a:pt x="2434673" y="1038447"/>
                  <a:pt x="2783923" y="1261755"/>
                </a:cubicBezTo>
                <a:cubicBezTo>
                  <a:pt x="3133173" y="1485063"/>
                  <a:pt x="3973490" y="1054322"/>
                  <a:pt x="4282523" y="1534805"/>
                </a:cubicBezTo>
                <a:cubicBezTo>
                  <a:pt x="4591556" y="2015288"/>
                  <a:pt x="4257123" y="3561513"/>
                  <a:pt x="4638123" y="4144655"/>
                </a:cubicBezTo>
                <a:cubicBezTo>
                  <a:pt x="5019123" y="4727797"/>
                  <a:pt x="5805686" y="4610216"/>
                  <a:pt x="6568523" y="5033655"/>
                </a:cubicBezTo>
                <a:cubicBezTo>
                  <a:pt x="7331360" y="5457094"/>
                  <a:pt x="8518814" y="6621230"/>
                  <a:pt x="9215147" y="6685287"/>
                </a:cubicBezTo>
                <a:cubicBezTo>
                  <a:pt x="9724205" y="6966804"/>
                  <a:pt x="-477824" y="6705723"/>
                  <a:pt x="17476" y="6807323"/>
                </a:cubicBezTo>
              </a:path>
            </a:pathLst>
          </a:custGeom>
          <a:solidFill>
            <a:srgbClr val="0A2B3C"/>
          </a:solidFill>
          <a:ln cap="flat" cmpd="sng" w="12700">
            <a:solidFill>
              <a:srgbClr val="0A2B3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01" name="Google Shape;201;p13"/>
          <p:cNvGrpSpPr/>
          <p:nvPr/>
        </p:nvGrpSpPr>
        <p:grpSpPr>
          <a:xfrm>
            <a:off x="-1341996" y="3657600"/>
            <a:ext cx="14551458" cy="4029984"/>
            <a:chOff x="-1350448" y="3657600"/>
            <a:chExt cx="14078468" cy="4029984"/>
          </a:xfrm>
        </p:grpSpPr>
        <p:sp>
          <p:nvSpPr>
            <p:cNvPr id="202" name="Google Shape;202;p13"/>
            <p:cNvSpPr/>
            <p:nvPr/>
          </p:nvSpPr>
          <p:spPr>
            <a:xfrm>
              <a:off x="-1350448" y="36576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p13"/>
            <p:cNvSpPr/>
            <p:nvPr/>
          </p:nvSpPr>
          <p:spPr>
            <a:xfrm>
              <a:off x="-1261548" y="3796021"/>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p13"/>
            <p:cNvSpPr/>
            <p:nvPr/>
          </p:nvSpPr>
          <p:spPr>
            <a:xfrm>
              <a:off x="-1140898" y="39624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13"/>
            <p:cNvSpPr/>
            <p:nvPr/>
          </p:nvSpPr>
          <p:spPr>
            <a:xfrm>
              <a:off x="-1020248" y="41148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p13"/>
            <p:cNvSpPr/>
            <p:nvPr/>
          </p:nvSpPr>
          <p:spPr>
            <a:xfrm>
              <a:off x="-874426" y="4267200"/>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13"/>
            <p:cNvSpPr/>
            <p:nvPr/>
          </p:nvSpPr>
          <p:spPr>
            <a:xfrm>
              <a:off x="-752083" y="4413713"/>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13"/>
            <p:cNvSpPr/>
            <p:nvPr/>
          </p:nvSpPr>
          <p:spPr>
            <a:xfrm>
              <a:off x="-616584" y="4575015"/>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13"/>
            <p:cNvSpPr/>
            <p:nvPr/>
          </p:nvSpPr>
          <p:spPr>
            <a:xfrm>
              <a:off x="-492680" y="4721528"/>
              <a:ext cx="13220700" cy="2966056"/>
            </a:xfrm>
            <a:custGeom>
              <a:rect b="b" l="l" r="r" t="t"/>
              <a:pathLst>
                <a:path extrusionOk="0" h="2966056" w="12649200">
                  <a:moveTo>
                    <a:pt x="0" y="457806"/>
                  </a:moveTo>
                  <a:cubicBezTo>
                    <a:pt x="844021" y="869497"/>
                    <a:pt x="1688042" y="1281189"/>
                    <a:pt x="2444750" y="1207106"/>
                  </a:cubicBezTo>
                  <a:cubicBezTo>
                    <a:pt x="3201458" y="1133023"/>
                    <a:pt x="3693583" y="-143327"/>
                    <a:pt x="4540250" y="13306"/>
                  </a:cubicBezTo>
                  <a:cubicBezTo>
                    <a:pt x="5386917" y="169939"/>
                    <a:pt x="6173258" y="1654781"/>
                    <a:pt x="7524750" y="2146906"/>
                  </a:cubicBezTo>
                  <a:cubicBezTo>
                    <a:pt x="8876242" y="2639031"/>
                    <a:pt x="11752792" y="2915256"/>
                    <a:pt x="12649200" y="2966056"/>
                  </a:cubicBezTo>
                </a:path>
              </a:pathLst>
            </a:custGeom>
            <a:no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0" name="Google Shape;210;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13"/>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13"/>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13"/>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C2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Arial"/>
              <a:buNone/>
              <a:defRPr b="0" i="0" sz="4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120650" y="635634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521335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93281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26.png"/><Relationship Id="rId5" Type="http://schemas.openxmlformats.org/officeDocument/2006/relationships/image" Target="../media/image35.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8.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4"/>
          <p:cNvSpPr txBox="1"/>
          <p:nvPr>
            <p:ph type="ctrTitle"/>
          </p:nvPr>
        </p:nvSpPr>
        <p:spPr>
          <a:xfrm>
            <a:off x="208317" y="1122363"/>
            <a:ext cx="9144000" cy="238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Arial"/>
              <a:buNone/>
            </a:pPr>
            <a:r>
              <a:rPr lang="en-US"/>
              <a:t>Prototype #1 Presentation</a:t>
            </a:r>
            <a:endParaRPr/>
          </a:p>
        </p:txBody>
      </p:sp>
      <p:sp>
        <p:nvSpPr>
          <p:cNvPr id="220" name="Google Shape;220;p14"/>
          <p:cNvSpPr txBox="1"/>
          <p:nvPr>
            <p:ph idx="1" type="subTitle"/>
          </p:nvPr>
        </p:nvSpPr>
        <p:spPr>
          <a:xfrm>
            <a:off x="208317" y="3602038"/>
            <a:ext cx="9144000" cy="16557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None/>
            </a:pPr>
            <a:r>
              <a:rPr lang="en-US"/>
              <a:t>Team Oceanus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ph type="title"/>
          </p:nvPr>
        </p:nvSpPr>
        <p:spPr>
          <a:xfrm>
            <a:off x="586350" y="2766150"/>
            <a:ext cx="110193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Thermals, Mechanisms, Structures </a:t>
            </a:r>
            <a:r>
              <a:rPr lang="en-US"/>
              <a:t>(TMS)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Material Justification</a:t>
            </a:r>
            <a:endParaRPr/>
          </a:p>
        </p:txBody>
      </p:sp>
      <p:pic>
        <p:nvPicPr>
          <p:cNvPr id="231" name="Google Shape;231;p16"/>
          <p:cNvPicPr preferRelativeResize="0"/>
          <p:nvPr/>
        </p:nvPicPr>
        <p:blipFill rotWithShape="1">
          <a:blip r:embed="rId3">
            <a:alphaModFix/>
          </a:blip>
          <a:srcRect b="0" l="0" r="0" t="19244"/>
          <a:stretch/>
        </p:blipFill>
        <p:spPr>
          <a:xfrm>
            <a:off x="682200" y="1549250"/>
            <a:ext cx="10671600" cy="4758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Material Selection</a:t>
            </a:r>
            <a:endParaRPr/>
          </a:p>
        </p:txBody>
      </p:sp>
      <p:pic>
        <p:nvPicPr>
          <p:cNvPr id="237" name="Google Shape;237;p17"/>
          <p:cNvPicPr preferRelativeResize="0"/>
          <p:nvPr/>
        </p:nvPicPr>
        <p:blipFill>
          <a:blip r:embed="rId3">
            <a:alphaModFix/>
          </a:blip>
          <a:stretch>
            <a:fillRect/>
          </a:stretch>
        </p:blipFill>
        <p:spPr>
          <a:xfrm>
            <a:off x="617850" y="1690825"/>
            <a:ext cx="10735950" cy="4781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Cooling</a:t>
            </a:r>
            <a:endParaRPr/>
          </a:p>
        </p:txBody>
      </p:sp>
      <p:pic>
        <p:nvPicPr>
          <p:cNvPr id="243" name="Google Shape;243;p18"/>
          <p:cNvPicPr preferRelativeResize="0"/>
          <p:nvPr/>
        </p:nvPicPr>
        <p:blipFill>
          <a:blip r:embed="rId3">
            <a:alphaModFix/>
          </a:blip>
          <a:stretch>
            <a:fillRect/>
          </a:stretch>
        </p:blipFill>
        <p:spPr>
          <a:xfrm>
            <a:off x="838200" y="1637025"/>
            <a:ext cx="10515600" cy="396130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Bolt Material</a:t>
            </a:r>
            <a:endParaRPr/>
          </a:p>
        </p:txBody>
      </p:sp>
      <p:sp>
        <p:nvSpPr>
          <p:cNvPr id="249" name="Google Shape;249;p1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50" name="Google Shape;250;p19"/>
          <p:cNvPicPr preferRelativeResize="0"/>
          <p:nvPr/>
        </p:nvPicPr>
        <p:blipFill>
          <a:blip r:embed="rId3">
            <a:alphaModFix/>
          </a:blip>
          <a:stretch>
            <a:fillRect/>
          </a:stretch>
        </p:blipFill>
        <p:spPr>
          <a:xfrm>
            <a:off x="838199" y="1656611"/>
            <a:ext cx="10906624" cy="4689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Motor Selection </a:t>
            </a:r>
            <a:endParaRPr/>
          </a:p>
        </p:txBody>
      </p:sp>
      <p:pic>
        <p:nvPicPr>
          <p:cNvPr id="256" name="Google Shape;256;p20" title="Screenshot 2025-10-26 000243.png"/>
          <p:cNvPicPr preferRelativeResize="0"/>
          <p:nvPr/>
        </p:nvPicPr>
        <p:blipFill>
          <a:blip r:embed="rId3">
            <a:alphaModFix/>
          </a:blip>
          <a:stretch>
            <a:fillRect/>
          </a:stretch>
        </p:blipFill>
        <p:spPr>
          <a:xfrm>
            <a:off x="838200" y="1690825"/>
            <a:ext cx="10515600" cy="4735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Potting Compounds</a:t>
            </a:r>
            <a:endParaRPr/>
          </a:p>
        </p:txBody>
      </p:sp>
      <p:pic>
        <p:nvPicPr>
          <p:cNvPr id="262" name="Google Shape;262;p21" title="Screenshot 2025-10-25 220740.jpg"/>
          <p:cNvPicPr preferRelativeResize="0"/>
          <p:nvPr/>
        </p:nvPicPr>
        <p:blipFill>
          <a:blip r:embed="rId3">
            <a:alphaModFix/>
          </a:blip>
          <a:stretch>
            <a:fillRect/>
          </a:stretch>
        </p:blipFill>
        <p:spPr>
          <a:xfrm>
            <a:off x="538712" y="2063750"/>
            <a:ext cx="11347225" cy="3616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2"/>
          <p:cNvSpPr txBox="1"/>
          <p:nvPr>
            <p:ph type="title"/>
          </p:nvPr>
        </p:nvSpPr>
        <p:spPr>
          <a:xfrm>
            <a:off x="685800" y="57467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Waterproofing Servo Motors</a:t>
            </a:r>
            <a:endParaRPr/>
          </a:p>
        </p:txBody>
      </p:sp>
      <p:pic>
        <p:nvPicPr>
          <p:cNvPr id="268" name="Google Shape;268;p22" title="Screenshot 2025-10-25 220159.png"/>
          <p:cNvPicPr preferRelativeResize="0"/>
          <p:nvPr/>
        </p:nvPicPr>
        <p:blipFill>
          <a:blip r:embed="rId3">
            <a:alphaModFix/>
          </a:blip>
          <a:stretch>
            <a:fillRect/>
          </a:stretch>
        </p:blipFill>
        <p:spPr>
          <a:xfrm>
            <a:off x="382649" y="2154975"/>
            <a:ext cx="11303601" cy="2704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3"/>
          <p:cNvSpPr txBox="1"/>
          <p:nvPr>
            <p:ph type="title"/>
          </p:nvPr>
        </p:nvSpPr>
        <p:spPr>
          <a:xfrm>
            <a:off x="586350" y="428550"/>
            <a:ext cx="110193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Guidance Navigation and Control (GNC)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Camera Systems</a:t>
            </a:r>
            <a:endParaRPr/>
          </a:p>
        </p:txBody>
      </p:sp>
      <p:pic>
        <p:nvPicPr>
          <p:cNvPr id="279" name="Google Shape;279;p24" title="Screenshot 2025-10-26 at 12.42.57 PM.png"/>
          <p:cNvPicPr preferRelativeResize="0"/>
          <p:nvPr/>
        </p:nvPicPr>
        <p:blipFill>
          <a:blip r:embed="rId3">
            <a:alphaModFix/>
          </a:blip>
          <a:stretch>
            <a:fillRect/>
          </a:stretch>
        </p:blipFill>
        <p:spPr>
          <a:xfrm>
            <a:off x="152400" y="1843225"/>
            <a:ext cx="11887201" cy="313432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IMUs</a:t>
            </a:r>
            <a:endParaRPr/>
          </a:p>
        </p:txBody>
      </p:sp>
      <p:pic>
        <p:nvPicPr>
          <p:cNvPr id="285" name="Google Shape;285;p25" title="Screenshot 2025-10-25 at 8.44.28 AM.png"/>
          <p:cNvPicPr preferRelativeResize="0"/>
          <p:nvPr/>
        </p:nvPicPr>
        <p:blipFill>
          <a:blip r:embed="rId3">
            <a:alphaModFix/>
          </a:blip>
          <a:stretch>
            <a:fillRect/>
          </a:stretch>
        </p:blipFill>
        <p:spPr>
          <a:xfrm>
            <a:off x="152400" y="1873125"/>
            <a:ext cx="11887201" cy="3883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Simulation Software</a:t>
            </a:r>
            <a:endParaRPr/>
          </a:p>
        </p:txBody>
      </p:sp>
      <p:pic>
        <p:nvPicPr>
          <p:cNvPr id="291" name="Google Shape;291;p26" title="Screenshot 2025-10-26 at 2.49.42 PM.png"/>
          <p:cNvPicPr preferRelativeResize="0"/>
          <p:nvPr/>
        </p:nvPicPr>
        <p:blipFill>
          <a:blip r:embed="rId3">
            <a:alphaModFix/>
          </a:blip>
          <a:stretch>
            <a:fillRect/>
          </a:stretch>
        </p:blipFill>
        <p:spPr>
          <a:xfrm>
            <a:off x="152400" y="1843225"/>
            <a:ext cx="11887201" cy="36625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Single Board Computers</a:t>
            </a:r>
            <a:endParaRPr/>
          </a:p>
        </p:txBody>
      </p:sp>
      <p:pic>
        <p:nvPicPr>
          <p:cNvPr id="297" name="Google Shape;297;p27" title="Screenshot 2025-10-26 at 2.50.01 PM.png"/>
          <p:cNvPicPr preferRelativeResize="0"/>
          <p:nvPr/>
        </p:nvPicPr>
        <p:blipFill>
          <a:blip r:embed="rId3">
            <a:alphaModFix/>
          </a:blip>
          <a:stretch>
            <a:fillRect/>
          </a:stretch>
        </p:blipFill>
        <p:spPr>
          <a:xfrm>
            <a:off x="152400" y="1843225"/>
            <a:ext cx="11887201" cy="325621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8"/>
          <p:cNvSpPr txBox="1"/>
          <p:nvPr>
            <p:ph type="title"/>
          </p:nvPr>
        </p:nvSpPr>
        <p:spPr>
          <a:xfrm>
            <a:off x="586350" y="428550"/>
            <a:ext cx="110193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Computation and Communications (C&amp;C)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Microcontroller</a:t>
            </a:r>
            <a:endParaRPr/>
          </a:p>
        </p:txBody>
      </p:sp>
      <p:pic>
        <p:nvPicPr>
          <p:cNvPr id="308" name="Google Shape;308;p29"/>
          <p:cNvPicPr preferRelativeResize="0"/>
          <p:nvPr/>
        </p:nvPicPr>
        <p:blipFill>
          <a:blip r:embed="rId3">
            <a:alphaModFix/>
          </a:blip>
          <a:stretch>
            <a:fillRect/>
          </a:stretch>
        </p:blipFill>
        <p:spPr>
          <a:xfrm>
            <a:off x="152400" y="1557888"/>
            <a:ext cx="11887202" cy="478575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C3 Station Outside Design</a:t>
            </a:r>
            <a:endParaRPr/>
          </a:p>
        </p:txBody>
      </p:sp>
      <p:pic>
        <p:nvPicPr>
          <p:cNvPr id="314" name="Google Shape;314;p30"/>
          <p:cNvPicPr preferRelativeResize="0"/>
          <p:nvPr/>
        </p:nvPicPr>
        <p:blipFill>
          <a:blip r:embed="rId3">
            <a:alphaModFix/>
          </a:blip>
          <a:stretch>
            <a:fillRect/>
          </a:stretch>
        </p:blipFill>
        <p:spPr>
          <a:xfrm>
            <a:off x="1237800" y="1567325"/>
            <a:ext cx="9716394" cy="48623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C3 Station Movement Input Device</a:t>
            </a:r>
            <a:endParaRPr/>
          </a:p>
        </p:txBody>
      </p:sp>
      <p:pic>
        <p:nvPicPr>
          <p:cNvPr id="320" name="Google Shape;320;p31"/>
          <p:cNvPicPr preferRelativeResize="0"/>
          <p:nvPr/>
        </p:nvPicPr>
        <p:blipFill rotWithShape="1">
          <a:blip r:embed="rId3">
            <a:alphaModFix/>
          </a:blip>
          <a:srcRect b="0" l="0" r="0" t="0"/>
          <a:stretch/>
        </p:blipFill>
        <p:spPr>
          <a:xfrm>
            <a:off x="152400" y="1833375"/>
            <a:ext cx="11887201" cy="4474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6 DOF IMU</a:t>
            </a:r>
            <a:endParaRPr/>
          </a:p>
        </p:txBody>
      </p:sp>
      <p:pic>
        <p:nvPicPr>
          <p:cNvPr id="326" name="Google Shape;326;p32"/>
          <p:cNvPicPr preferRelativeResize="0"/>
          <p:nvPr/>
        </p:nvPicPr>
        <p:blipFill>
          <a:blip r:embed="rId3">
            <a:alphaModFix/>
          </a:blip>
          <a:stretch>
            <a:fillRect/>
          </a:stretch>
        </p:blipFill>
        <p:spPr>
          <a:xfrm>
            <a:off x="1281113" y="1547625"/>
            <a:ext cx="9629775" cy="4743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Navigational Camera</a:t>
            </a:r>
            <a:endParaRPr/>
          </a:p>
        </p:txBody>
      </p:sp>
      <p:pic>
        <p:nvPicPr>
          <p:cNvPr id="332" name="Google Shape;332;p33"/>
          <p:cNvPicPr preferRelativeResize="0"/>
          <p:nvPr/>
        </p:nvPicPr>
        <p:blipFill>
          <a:blip r:embed="rId3">
            <a:alphaModFix/>
          </a:blip>
          <a:stretch>
            <a:fillRect/>
          </a:stretch>
        </p:blipFill>
        <p:spPr>
          <a:xfrm>
            <a:off x="2890950" y="1737250"/>
            <a:ext cx="5937998" cy="46305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“Specialized” Camera</a:t>
            </a:r>
            <a:endParaRPr/>
          </a:p>
        </p:txBody>
      </p:sp>
      <p:pic>
        <p:nvPicPr>
          <p:cNvPr id="338" name="Google Shape;338;p34"/>
          <p:cNvPicPr preferRelativeResize="0"/>
          <p:nvPr/>
        </p:nvPicPr>
        <p:blipFill>
          <a:blip r:embed="rId3">
            <a:alphaModFix/>
          </a:blip>
          <a:stretch>
            <a:fillRect/>
          </a:stretch>
        </p:blipFill>
        <p:spPr>
          <a:xfrm>
            <a:off x="2125100" y="1564750"/>
            <a:ext cx="7098467" cy="4862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Depth Sensor</a:t>
            </a:r>
            <a:endParaRPr/>
          </a:p>
        </p:txBody>
      </p:sp>
      <p:pic>
        <p:nvPicPr>
          <p:cNvPr id="344" name="Google Shape;344;p35"/>
          <p:cNvPicPr preferRelativeResize="0"/>
          <p:nvPr/>
        </p:nvPicPr>
        <p:blipFill>
          <a:blip r:embed="rId3">
            <a:alphaModFix/>
          </a:blip>
          <a:stretch>
            <a:fillRect/>
          </a:stretch>
        </p:blipFill>
        <p:spPr>
          <a:xfrm>
            <a:off x="300025" y="1596763"/>
            <a:ext cx="11591925" cy="4686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Arial"/>
              <a:buNone/>
            </a:pPr>
            <a:r>
              <a:rPr lang="en-US"/>
              <a:t>Lights</a:t>
            </a:r>
            <a:endParaRPr/>
          </a:p>
        </p:txBody>
      </p:sp>
      <p:pic>
        <p:nvPicPr>
          <p:cNvPr id="350" name="Google Shape;350;p36"/>
          <p:cNvPicPr preferRelativeResize="0"/>
          <p:nvPr/>
        </p:nvPicPr>
        <p:blipFill>
          <a:blip r:embed="rId3">
            <a:alphaModFix/>
          </a:blip>
          <a:stretch>
            <a:fillRect/>
          </a:stretch>
        </p:blipFill>
        <p:spPr>
          <a:xfrm>
            <a:off x="328613" y="1753209"/>
            <a:ext cx="11534775" cy="4419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7"/>
          <p:cNvSpPr txBox="1"/>
          <p:nvPr>
            <p:ph type="title"/>
          </p:nvPr>
        </p:nvSpPr>
        <p:spPr>
          <a:xfrm>
            <a:off x="586350" y="428550"/>
            <a:ext cx="110193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Fluids &amp; Propulsion (F&amp;P)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Motors for Propulsion</a:t>
            </a:r>
            <a:endParaRPr/>
          </a:p>
        </p:txBody>
      </p:sp>
      <p:pic>
        <p:nvPicPr>
          <p:cNvPr id="361" name="Google Shape;361;p38" title="prop motors trade study final.png"/>
          <p:cNvPicPr preferRelativeResize="0"/>
          <p:nvPr/>
        </p:nvPicPr>
        <p:blipFill>
          <a:blip r:embed="rId3">
            <a:alphaModFix/>
          </a:blip>
          <a:stretch>
            <a:fillRect/>
          </a:stretch>
        </p:blipFill>
        <p:spPr>
          <a:xfrm>
            <a:off x="152400" y="1978025"/>
            <a:ext cx="11887200" cy="29019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Motors for Ballast</a:t>
            </a:r>
            <a:endParaRPr/>
          </a:p>
        </p:txBody>
      </p:sp>
      <p:pic>
        <p:nvPicPr>
          <p:cNvPr id="367" name="Google Shape;367;p39" title="ballast motors trade study final.png"/>
          <p:cNvPicPr preferRelativeResize="0"/>
          <p:nvPr/>
        </p:nvPicPr>
        <p:blipFill>
          <a:blip r:embed="rId3">
            <a:alphaModFix/>
          </a:blip>
          <a:stretch>
            <a:fillRect/>
          </a:stretch>
        </p:blipFill>
        <p:spPr>
          <a:xfrm>
            <a:off x="152400" y="2029575"/>
            <a:ext cx="11887200" cy="279883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Thruster Guard Shroud Design</a:t>
            </a:r>
            <a:endParaRPr/>
          </a:p>
        </p:txBody>
      </p:sp>
      <p:pic>
        <p:nvPicPr>
          <p:cNvPr id="373" name="Google Shape;373;p40" title="Screenshot 2025-10-26 at 11.54.48 AM.png"/>
          <p:cNvPicPr preferRelativeResize="0"/>
          <p:nvPr/>
        </p:nvPicPr>
        <p:blipFill>
          <a:blip r:embed="rId3">
            <a:alphaModFix/>
          </a:blip>
          <a:stretch>
            <a:fillRect/>
          </a:stretch>
        </p:blipFill>
        <p:spPr>
          <a:xfrm>
            <a:off x="648438" y="1690825"/>
            <a:ext cx="10895124" cy="4862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Thruster Guard Shroud Materials</a:t>
            </a:r>
            <a:endParaRPr/>
          </a:p>
        </p:txBody>
      </p:sp>
      <p:pic>
        <p:nvPicPr>
          <p:cNvPr id="379" name="Google Shape;379;p41" title="Screenshot 2025-10-26 at 11.57.14 AM.png"/>
          <p:cNvPicPr preferRelativeResize="0"/>
          <p:nvPr/>
        </p:nvPicPr>
        <p:blipFill>
          <a:blip r:embed="rId3">
            <a:alphaModFix/>
          </a:blip>
          <a:stretch>
            <a:fillRect/>
          </a:stretch>
        </p:blipFill>
        <p:spPr>
          <a:xfrm>
            <a:off x="0" y="1690825"/>
            <a:ext cx="11887201" cy="446350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Thruster Guard Mesh Design</a:t>
            </a:r>
            <a:endParaRPr/>
          </a:p>
        </p:txBody>
      </p:sp>
      <p:pic>
        <p:nvPicPr>
          <p:cNvPr id="385" name="Google Shape;385;p42" title="Screenshot 2025-10-26 at 12.01.15 PM.png"/>
          <p:cNvPicPr preferRelativeResize="0"/>
          <p:nvPr/>
        </p:nvPicPr>
        <p:blipFill>
          <a:blip r:embed="rId3">
            <a:alphaModFix/>
          </a:blip>
          <a:stretch>
            <a:fillRect/>
          </a:stretch>
        </p:blipFill>
        <p:spPr>
          <a:xfrm>
            <a:off x="127975" y="1690825"/>
            <a:ext cx="11499013" cy="48623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Thruster Guard Mesh Materials</a:t>
            </a:r>
            <a:endParaRPr/>
          </a:p>
        </p:txBody>
      </p:sp>
      <p:pic>
        <p:nvPicPr>
          <p:cNvPr id="391" name="Google Shape;391;p43" title="Screenshot 2025-10-26 at 12.02.38 PM.png"/>
          <p:cNvPicPr preferRelativeResize="0"/>
          <p:nvPr/>
        </p:nvPicPr>
        <p:blipFill>
          <a:blip r:embed="rId3">
            <a:alphaModFix/>
          </a:blip>
          <a:stretch>
            <a:fillRect/>
          </a:stretch>
        </p:blipFill>
        <p:spPr>
          <a:xfrm>
            <a:off x="152400" y="1818800"/>
            <a:ext cx="11887201" cy="430678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Summary of Thruster Guard Shroud &amp; Mesh</a:t>
            </a:r>
            <a:endParaRPr/>
          </a:p>
        </p:txBody>
      </p:sp>
      <p:graphicFrame>
        <p:nvGraphicFramePr>
          <p:cNvPr id="397" name="Google Shape;397;p44"/>
          <p:cNvGraphicFramePr/>
          <p:nvPr/>
        </p:nvGraphicFramePr>
        <p:xfrm>
          <a:off x="512875" y="1690825"/>
          <a:ext cx="3000000" cy="3000000"/>
        </p:xfrm>
        <a:graphic>
          <a:graphicData uri="http://schemas.openxmlformats.org/drawingml/2006/table">
            <a:tbl>
              <a:tblPr>
                <a:noFill/>
                <a:tableStyleId>{F306C2EC-ACBF-406C-B3A9-D708854418FF}</a:tableStyleId>
              </a:tblPr>
              <a:tblGrid>
                <a:gridCol w="3722075"/>
                <a:gridCol w="3722075"/>
                <a:gridCol w="3722075"/>
              </a:tblGrid>
              <a:tr h="737575">
                <a:tc>
                  <a:txBody>
                    <a:bodyPr/>
                    <a:lstStyle/>
                    <a:p>
                      <a:pPr indent="0" lvl="0" marL="0" rtl="0" algn="l">
                        <a:spcBef>
                          <a:spcPts val="0"/>
                        </a:spcBef>
                        <a:spcAft>
                          <a:spcPts val="0"/>
                        </a:spcAft>
                        <a:buNone/>
                      </a:pPr>
                      <a:r>
                        <a:rPr b="1" lang="en-US" sz="1600">
                          <a:solidFill>
                            <a:schemeClr val="lt1"/>
                          </a:solidFill>
                        </a:rPr>
                        <a:t>Trade Study Considerations</a:t>
                      </a:r>
                      <a:endParaRPr b="1" sz="1600">
                        <a:solidFill>
                          <a:schemeClr val="lt1"/>
                        </a:solidFill>
                      </a:endParaRPr>
                    </a:p>
                  </a:txBody>
                  <a:tcPr marT="91425" marB="91425" marR="91425" marL="91425"/>
                </a:tc>
                <a:tc>
                  <a:txBody>
                    <a:bodyPr/>
                    <a:lstStyle/>
                    <a:p>
                      <a:pPr indent="0" lvl="0" marL="0" rtl="0" algn="l">
                        <a:spcBef>
                          <a:spcPts val="0"/>
                        </a:spcBef>
                        <a:spcAft>
                          <a:spcPts val="0"/>
                        </a:spcAft>
                        <a:buNone/>
                      </a:pPr>
                      <a:r>
                        <a:rPr b="1" lang="en-US" sz="1600">
                          <a:solidFill>
                            <a:schemeClr val="lt1"/>
                          </a:solidFill>
                        </a:rPr>
                        <a:t>Chosen Research</a:t>
                      </a:r>
                      <a:endParaRPr b="1" sz="1600">
                        <a:solidFill>
                          <a:schemeClr val="lt1"/>
                        </a:solidFill>
                      </a:endParaRPr>
                    </a:p>
                  </a:txBody>
                  <a:tcPr marT="91425" marB="91425" marR="91425" marL="91425"/>
                </a:tc>
                <a:tc>
                  <a:txBody>
                    <a:bodyPr/>
                    <a:lstStyle/>
                    <a:p>
                      <a:pPr indent="0" lvl="0" marL="0" rtl="0" algn="l">
                        <a:spcBef>
                          <a:spcPts val="0"/>
                        </a:spcBef>
                        <a:spcAft>
                          <a:spcPts val="0"/>
                        </a:spcAft>
                        <a:buNone/>
                      </a:pPr>
                      <a:r>
                        <a:rPr b="1" lang="en-US" sz="1600">
                          <a:solidFill>
                            <a:schemeClr val="lt1"/>
                          </a:solidFill>
                        </a:rPr>
                        <a:t>Reason For Choosing Research</a:t>
                      </a:r>
                      <a:endParaRPr b="1" sz="1600">
                        <a:solidFill>
                          <a:schemeClr val="lt1"/>
                        </a:solidFill>
                      </a:endParaRPr>
                    </a:p>
                  </a:txBody>
                  <a:tcPr marT="91425" marB="91425" marR="91425" marL="91425"/>
                </a:tc>
              </a:tr>
              <a:tr h="737575">
                <a:tc>
                  <a:txBody>
                    <a:bodyPr/>
                    <a:lstStyle/>
                    <a:p>
                      <a:pPr indent="0" lvl="0" marL="0" rtl="0" algn="l">
                        <a:spcBef>
                          <a:spcPts val="0"/>
                        </a:spcBef>
                        <a:spcAft>
                          <a:spcPts val="0"/>
                        </a:spcAft>
                        <a:buNone/>
                      </a:pPr>
                      <a:r>
                        <a:rPr lang="en-US" sz="1600">
                          <a:solidFill>
                            <a:schemeClr val="lt1"/>
                          </a:solidFill>
                        </a:rPr>
                        <a:t>Thruster Guard Shroud (TGS) Design</a:t>
                      </a:r>
                      <a:endParaRPr sz="1600">
                        <a:solidFill>
                          <a:schemeClr val="lt1"/>
                        </a:solidFill>
                      </a:endParaRPr>
                    </a:p>
                  </a:txBody>
                  <a:tcPr marT="91425" marB="91425" marR="91425" marL="91425"/>
                </a:tc>
                <a:tc>
                  <a:txBody>
                    <a:bodyPr/>
                    <a:lstStyle/>
                    <a:p>
                      <a:pPr indent="0" lvl="0" marL="0" rtl="0" algn="l">
                        <a:spcBef>
                          <a:spcPts val="0"/>
                        </a:spcBef>
                        <a:spcAft>
                          <a:spcPts val="0"/>
                        </a:spcAft>
                        <a:buNone/>
                      </a:pPr>
                      <a:r>
                        <a:rPr lang="en-US" sz="1600">
                          <a:solidFill>
                            <a:schemeClr val="lt1"/>
                          </a:solidFill>
                        </a:rPr>
                        <a:t>Perforated and Open</a:t>
                      </a:r>
                      <a:endParaRPr sz="1600">
                        <a:solidFill>
                          <a:schemeClr val="lt1"/>
                        </a:solidFill>
                      </a:endParaRPr>
                    </a:p>
                  </a:txBody>
                  <a:tcPr marT="91425" marB="91425" marR="91425" marL="91425"/>
                </a:tc>
                <a:tc>
                  <a:txBody>
                    <a:bodyPr/>
                    <a:lstStyle/>
                    <a:p>
                      <a:pPr indent="0" lvl="0" marL="0" rtl="0" algn="l">
                        <a:spcBef>
                          <a:spcPts val="0"/>
                        </a:spcBef>
                        <a:spcAft>
                          <a:spcPts val="0"/>
                        </a:spcAft>
                        <a:buNone/>
                      </a:pPr>
                      <a:r>
                        <a:rPr lang="en-US" sz="1600">
                          <a:solidFill>
                            <a:schemeClr val="lt1"/>
                          </a:solidFill>
                        </a:rPr>
                        <a:t>Provides debris protection for propellers while allowing smooth fluid flow around the TGS.</a:t>
                      </a:r>
                      <a:endParaRPr sz="1600">
                        <a:solidFill>
                          <a:schemeClr val="lt1"/>
                        </a:solidFill>
                      </a:endParaRPr>
                    </a:p>
                  </a:txBody>
                  <a:tcPr marT="91425" marB="91425" marR="91425" marL="91425"/>
                </a:tc>
              </a:tr>
              <a:tr h="737575">
                <a:tc>
                  <a:txBody>
                    <a:bodyPr/>
                    <a:lstStyle/>
                    <a:p>
                      <a:pPr indent="0" lvl="0" marL="0" rtl="0" algn="l">
                        <a:spcBef>
                          <a:spcPts val="0"/>
                        </a:spcBef>
                        <a:spcAft>
                          <a:spcPts val="0"/>
                        </a:spcAft>
                        <a:buNone/>
                      </a:pPr>
                      <a:r>
                        <a:rPr lang="en-US" sz="1600">
                          <a:solidFill>
                            <a:schemeClr val="lt1"/>
                          </a:solidFill>
                        </a:rPr>
                        <a:t>TGS Material</a:t>
                      </a:r>
                      <a:endParaRPr sz="1600">
                        <a:solidFill>
                          <a:schemeClr val="lt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600">
                          <a:solidFill>
                            <a:schemeClr val="lt1"/>
                          </a:solidFill>
                        </a:rPr>
                        <a:t>High Density Polyethylene (HDPE)</a:t>
                      </a:r>
                      <a:endParaRPr sz="1600">
                        <a:solidFill>
                          <a:schemeClr val="lt1"/>
                        </a:solidFill>
                      </a:endParaRPr>
                    </a:p>
                  </a:txBody>
                  <a:tcPr marT="91425" marB="91425" marR="91425" marL="91425"/>
                </a:tc>
                <a:tc>
                  <a:txBody>
                    <a:bodyPr/>
                    <a:lstStyle/>
                    <a:p>
                      <a:pPr indent="0" lvl="0" marL="0" rtl="0" algn="l">
                        <a:spcBef>
                          <a:spcPts val="0"/>
                        </a:spcBef>
                        <a:spcAft>
                          <a:spcPts val="0"/>
                        </a:spcAft>
                        <a:buNone/>
                      </a:pPr>
                      <a:r>
                        <a:rPr lang="en-US" sz="1600">
                          <a:solidFill>
                            <a:schemeClr val="lt1"/>
                          </a:solidFill>
                        </a:rPr>
                        <a:t>HDPE TGS offers an ideal balance of rigidity and flexibility, providing structure while absorbing shock.</a:t>
                      </a:r>
                      <a:endParaRPr sz="1600">
                        <a:solidFill>
                          <a:schemeClr val="lt1"/>
                        </a:solidFill>
                      </a:endParaRPr>
                    </a:p>
                  </a:txBody>
                  <a:tcPr marT="91425" marB="91425" marR="91425" marL="91425"/>
                </a:tc>
              </a:tr>
              <a:tr h="737575">
                <a:tc>
                  <a:txBody>
                    <a:bodyPr/>
                    <a:lstStyle/>
                    <a:p>
                      <a:pPr indent="0" lvl="0" marL="0" rtl="0" algn="l">
                        <a:spcBef>
                          <a:spcPts val="0"/>
                        </a:spcBef>
                        <a:spcAft>
                          <a:spcPts val="0"/>
                        </a:spcAft>
                        <a:buNone/>
                      </a:pPr>
                      <a:r>
                        <a:rPr lang="en-US" sz="1600">
                          <a:solidFill>
                            <a:schemeClr val="lt1"/>
                          </a:solidFill>
                        </a:rPr>
                        <a:t>Thruster Guard Mesh (TGM) Design</a:t>
                      </a:r>
                      <a:endParaRPr sz="16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600">
                          <a:solidFill>
                            <a:schemeClr val="lt1"/>
                          </a:solidFill>
                        </a:rPr>
                        <a:t>Concentric Ring</a:t>
                      </a:r>
                      <a:endParaRPr sz="1600">
                        <a:solidFill>
                          <a:schemeClr val="lt1"/>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US" sz="1600">
                          <a:solidFill>
                            <a:schemeClr val="lt1"/>
                          </a:solidFill>
                        </a:rPr>
                        <a:t>Each mesh spacing allows uniform flow while blocking finger-sized debris from the propellers.</a:t>
                      </a:r>
                      <a:endParaRPr sz="1600">
                        <a:solidFill>
                          <a:schemeClr val="lt1"/>
                        </a:solidFill>
                      </a:endParaRPr>
                    </a:p>
                  </a:txBody>
                  <a:tcPr marT="91425" marB="91425" marR="91425" marL="91425"/>
                </a:tc>
              </a:tr>
              <a:tr h="737575">
                <a:tc>
                  <a:txBody>
                    <a:bodyPr/>
                    <a:lstStyle/>
                    <a:p>
                      <a:pPr indent="0" lvl="0" marL="0" rtl="0" algn="l">
                        <a:spcBef>
                          <a:spcPts val="0"/>
                        </a:spcBef>
                        <a:spcAft>
                          <a:spcPts val="0"/>
                        </a:spcAft>
                        <a:buNone/>
                      </a:pPr>
                      <a:r>
                        <a:rPr lang="en-US" sz="1600">
                          <a:solidFill>
                            <a:schemeClr val="lt1"/>
                          </a:solidFill>
                        </a:rPr>
                        <a:t>TGM</a:t>
                      </a:r>
                      <a:r>
                        <a:rPr lang="en-US" sz="1600">
                          <a:solidFill>
                            <a:schemeClr val="lt1"/>
                          </a:solidFill>
                        </a:rPr>
                        <a:t> Material</a:t>
                      </a:r>
                      <a:endParaRPr sz="1600">
                        <a:solidFill>
                          <a:schemeClr val="lt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600">
                          <a:solidFill>
                            <a:schemeClr val="lt1"/>
                          </a:solidFill>
                        </a:rPr>
                        <a:t>High Density Polyethylene (HDPE)</a:t>
                      </a:r>
                      <a:endParaRPr sz="1600">
                        <a:solidFill>
                          <a:schemeClr val="lt1"/>
                        </a:solidFill>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n-US" sz="1600">
                          <a:solidFill>
                            <a:schemeClr val="lt1"/>
                          </a:solidFill>
                        </a:rPr>
                        <a:t>Like the TGS, the TGM should use an HDPE base to balance rigidity and flexibility.</a:t>
                      </a:r>
                      <a:endParaRPr sz="1600">
                        <a:solidFill>
                          <a:schemeClr val="lt1"/>
                        </a:solidFill>
                      </a:endParaRPr>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5"/>
          <p:cNvSpPr txBox="1"/>
          <p:nvPr>
            <p:ph type="title"/>
          </p:nvPr>
        </p:nvSpPr>
        <p:spPr>
          <a:xfrm>
            <a:off x="4092000" y="99750"/>
            <a:ext cx="40080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Hydrofoil Type</a:t>
            </a:r>
            <a:endParaRPr/>
          </a:p>
        </p:txBody>
      </p:sp>
      <p:pic>
        <p:nvPicPr>
          <p:cNvPr id="403" name="Google Shape;403;p45"/>
          <p:cNvPicPr preferRelativeResize="0"/>
          <p:nvPr/>
        </p:nvPicPr>
        <p:blipFill>
          <a:blip r:embed="rId3">
            <a:alphaModFix/>
          </a:blip>
          <a:stretch>
            <a:fillRect/>
          </a:stretch>
        </p:blipFill>
        <p:spPr>
          <a:xfrm>
            <a:off x="-229012" y="1657625"/>
            <a:ext cx="12421024" cy="2589000"/>
          </a:xfrm>
          <a:prstGeom prst="rect">
            <a:avLst/>
          </a:prstGeom>
          <a:noFill/>
          <a:ln>
            <a:noFill/>
          </a:ln>
        </p:spPr>
      </p:pic>
      <p:pic>
        <p:nvPicPr>
          <p:cNvPr id="404" name="Google Shape;404;p45"/>
          <p:cNvPicPr preferRelativeResize="0"/>
          <p:nvPr/>
        </p:nvPicPr>
        <p:blipFill>
          <a:blip r:embed="rId4">
            <a:alphaModFix/>
          </a:blip>
          <a:stretch>
            <a:fillRect/>
          </a:stretch>
        </p:blipFill>
        <p:spPr>
          <a:xfrm>
            <a:off x="233988" y="4697550"/>
            <a:ext cx="11724025" cy="1080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6"/>
          <p:cNvSpPr txBox="1"/>
          <p:nvPr>
            <p:ph type="title"/>
          </p:nvPr>
        </p:nvSpPr>
        <p:spPr>
          <a:xfrm>
            <a:off x="3345450" y="199250"/>
            <a:ext cx="55011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Hydrofoil Schematics</a:t>
            </a:r>
            <a:endParaRPr/>
          </a:p>
        </p:txBody>
      </p:sp>
      <p:sp>
        <p:nvSpPr>
          <p:cNvPr id="410" name="Google Shape;410;p46"/>
          <p:cNvSpPr txBox="1"/>
          <p:nvPr/>
        </p:nvSpPr>
        <p:spPr>
          <a:xfrm>
            <a:off x="898775" y="6130825"/>
            <a:ext cx="2628900" cy="2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lt1"/>
                </a:solidFill>
              </a:rPr>
              <a:t>Eppler 817</a:t>
            </a:r>
            <a:endParaRPr sz="2800">
              <a:solidFill>
                <a:schemeClr val="lt1"/>
              </a:solidFill>
            </a:endParaRPr>
          </a:p>
        </p:txBody>
      </p:sp>
      <p:sp>
        <p:nvSpPr>
          <p:cNvPr id="411" name="Google Shape;411;p46"/>
          <p:cNvSpPr txBox="1"/>
          <p:nvPr/>
        </p:nvSpPr>
        <p:spPr>
          <a:xfrm>
            <a:off x="5472925" y="6212550"/>
            <a:ext cx="2628900" cy="2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lt1"/>
                </a:solidFill>
              </a:rPr>
              <a:t>YS-915</a:t>
            </a:r>
            <a:endParaRPr sz="2800">
              <a:solidFill>
                <a:schemeClr val="lt1"/>
              </a:solidFill>
            </a:endParaRPr>
          </a:p>
        </p:txBody>
      </p:sp>
      <p:pic>
        <p:nvPicPr>
          <p:cNvPr id="412" name="Google Shape;412;p46"/>
          <p:cNvPicPr preferRelativeResize="0"/>
          <p:nvPr/>
        </p:nvPicPr>
        <p:blipFill>
          <a:blip r:embed="rId3">
            <a:alphaModFix/>
          </a:blip>
          <a:stretch>
            <a:fillRect/>
          </a:stretch>
        </p:blipFill>
        <p:spPr>
          <a:xfrm>
            <a:off x="4144125" y="1308075"/>
            <a:ext cx="4110200" cy="785150"/>
          </a:xfrm>
          <a:prstGeom prst="rect">
            <a:avLst/>
          </a:prstGeom>
          <a:noFill/>
          <a:ln>
            <a:noFill/>
          </a:ln>
        </p:spPr>
      </p:pic>
      <p:pic>
        <p:nvPicPr>
          <p:cNvPr id="413" name="Google Shape;413;p46"/>
          <p:cNvPicPr preferRelativeResize="0"/>
          <p:nvPr/>
        </p:nvPicPr>
        <p:blipFill>
          <a:blip r:embed="rId4">
            <a:alphaModFix/>
          </a:blip>
          <a:stretch>
            <a:fillRect/>
          </a:stretch>
        </p:blipFill>
        <p:spPr>
          <a:xfrm>
            <a:off x="0" y="1324400"/>
            <a:ext cx="3933825" cy="752475"/>
          </a:xfrm>
          <a:prstGeom prst="rect">
            <a:avLst/>
          </a:prstGeom>
          <a:noFill/>
          <a:ln>
            <a:noFill/>
          </a:ln>
        </p:spPr>
      </p:pic>
      <p:pic>
        <p:nvPicPr>
          <p:cNvPr id="414" name="Google Shape;414;p46"/>
          <p:cNvPicPr preferRelativeResize="0"/>
          <p:nvPr/>
        </p:nvPicPr>
        <p:blipFill>
          <a:blip r:embed="rId5">
            <a:alphaModFix/>
          </a:blip>
          <a:stretch>
            <a:fillRect/>
          </a:stretch>
        </p:blipFill>
        <p:spPr>
          <a:xfrm>
            <a:off x="8312277" y="1346132"/>
            <a:ext cx="3710750" cy="709006"/>
          </a:xfrm>
          <a:prstGeom prst="rect">
            <a:avLst/>
          </a:prstGeom>
          <a:noFill/>
          <a:ln>
            <a:noFill/>
          </a:ln>
        </p:spPr>
      </p:pic>
      <p:sp>
        <p:nvSpPr>
          <p:cNvPr id="415" name="Google Shape;415;p46"/>
          <p:cNvSpPr txBox="1"/>
          <p:nvPr/>
        </p:nvSpPr>
        <p:spPr>
          <a:xfrm>
            <a:off x="9373825" y="6198475"/>
            <a:ext cx="2562300" cy="4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lt1"/>
                </a:solidFill>
              </a:rPr>
              <a:t>NACA 66</a:t>
            </a:r>
            <a:endParaRPr sz="2800">
              <a:solidFill>
                <a:schemeClr val="lt1"/>
              </a:solidFill>
            </a:endParaRPr>
          </a:p>
          <a:p>
            <a:pPr indent="0" lvl="0" marL="0" rtl="0" algn="l">
              <a:spcBef>
                <a:spcPts val="0"/>
              </a:spcBef>
              <a:spcAft>
                <a:spcPts val="0"/>
              </a:spcAft>
              <a:buNone/>
            </a:pPr>
            <a:r>
              <a:t/>
            </a:r>
            <a:endParaRPr sz="2800">
              <a:solidFill>
                <a:schemeClr val="lt1"/>
              </a:solidFill>
            </a:endParaRPr>
          </a:p>
        </p:txBody>
      </p:sp>
      <p:pic>
        <p:nvPicPr>
          <p:cNvPr id="416" name="Google Shape;416;p46"/>
          <p:cNvPicPr preferRelativeResize="0"/>
          <p:nvPr/>
        </p:nvPicPr>
        <p:blipFill>
          <a:blip r:embed="rId6">
            <a:alphaModFix/>
          </a:blip>
          <a:stretch>
            <a:fillRect/>
          </a:stretch>
        </p:blipFill>
        <p:spPr>
          <a:xfrm>
            <a:off x="8215025" y="2288238"/>
            <a:ext cx="3905250" cy="3924300"/>
          </a:xfrm>
          <a:prstGeom prst="rect">
            <a:avLst/>
          </a:prstGeom>
          <a:noFill/>
          <a:ln>
            <a:noFill/>
          </a:ln>
        </p:spPr>
      </p:pic>
      <p:pic>
        <p:nvPicPr>
          <p:cNvPr id="417" name="Google Shape;417;p46"/>
          <p:cNvPicPr preferRelativeResize="0"/>
          <p:nvPr/>
        </p:nvPicPr>
        <p:blipFill>
          <a:blip r:embed="rId7">
            <a:alphaModFix/>
          </a:blip>
          <a:stretch>
            <a:fillRect/>
          </a:stretch>
        </p:blipFill>
        <p:spPr>
          <a:xfrm>
            <a:off x="4341850" y="2384000"/>
            <a:ext cx="3714767" cy="3732800"/>
          </a:xfrm>
          <a:prstGeom prst="rect">
            <a:avLst/>
          </a:prstGeom>
          <a:noFill/>
          <a:ln>
            <a:noFill/>
          </a:ln>
        </p:spPr>
      </p:pic>
      <p:pic>
        <p:nvPicPr>
          <p:cNvPr id="418" name="Google Shape;418;p46"/>
          <p:cNvPicPr preferRelativeResize="0"/>
          <p:nvPr/>
        </p:nvPicPr>
        <p:blipFill>
          <a:blip r:embed="rId8">
            <a:alphaModFix/>
          </a:blip>
          <a:stretch>
            <a:fillRect/>
          </a:stretch>
        </p:blipFill>
        <p:spPr>
          <a:xfrm>
            <a:off x="19038" y="2307300"/>
            <a:ext cx="3895725" cy="3886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7"/>
          <p:cNvSpPr txBox="1"/>
          <p:nvPr>
            <p:ph type="title"/>
          </p:nvPr>
        </p:nvSpPr>
        <p:spPr>
          <a:xfrm>
            <a:off x="838200" y="232450"/>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Propeller Material</a:t>
            </a:r>
            <a:endParaRPr/>
          </a:p>
        </p:txBody>
      </p:sp>
      <p:pic>
        <p:nvPicPr>
          <p:cNvPr id="424" name="Google Shape;424;p47"/>
          <p:cNvPicPr preferRelativeResize="0"/>
          <p:nvPr/>
        </p:nvPicPr>
        <p:blipFill>
          <a:blip r:embed="rId3">
            <a:alphaModFix/>
          </a:blip>
          <a:stretch>
            <a:fillRect/>
          </a:stretch>
        </p:blipFill>
        <p:spPr>
          <a:xfrm>
            <a:off x="152400" y="1635925"/>
            <a:ext cx="11887202" cy="402631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Propeller Blades</a:t>
            </a:r>
            <a:endParaRPr/>
          </a:p>
        </p:txBody>
      </p:sp>
      <p:pic>
        <p:nvPicPr>
          <p:cNvPr id="430" name="Google Shape;430;p48"/>
          <p:cNvPicPr preferRelativeResize="0"/>
          <p:nvPr/>
        </p:nvPicPr>
        <p:blipFill>
          <a:blip r:embed="rId3">
            <a:alphaModFix/>
          </a:blip>
          <a:stretch>
            <a:fillRect/>
          </a:stretch>
        </p:blipFill>
        <p:spPr>
          <a:xfrm>
            <a:off x="376300" y="1768575"/>
            <a:ext cx="11525250" cy="39243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Design Parameters for Consideration</a:t>
            </a:r>
            <a:endParaRPr/>
          </a:p>
        </p:txBody>
      </p:sp>
      <p:pic>
        <p:nvPicPr>
          <p:cNvPr id="436" name="Google Shape;436;p49"/>
          <p:cNvPicPr preferRelativeResize="0"/>
          <p:nvPr/>
        </p:nvPicPr>
        <p:blipFill>
          <a:blip r:embed="rId3">
            <a:alphaModFix/>
          </a:blip>
          <a:stretch>
            <a:fillRect/>
          </a:stretch>
        </p:blipFill>
        <p:spPr>
          <a:xfrm>
            <a:off x="-12" y="1500100"/>
            <a:ext cx="12040926" cy="2378450"/>
          </a:xfrm>
          <a:prstGeom prst="rect">
            <a:avLst/>
          </a:prstGeom>
          <a:noFill/>
          <a:ln>
            <a:noFill/>
          </a:ln>
        </p:spPr>
      </p:pic>
      <p:pic>
        <p:nvPicPr>
          <p:cNvPr id="437" name="Google Shape;437;p49"/>
          <p:cNvPicPr preferRelativeResize="0"/>
          <p:nvPr/>
        </p:nvPicPr>
        <p:blipFill>
          <a:blip r:embed="rId4">
            <a:alphaModFix/>
          </a:blip>
          <a:stretch>
            <a:fillRect/>
          </a:stretch>
        </p:blipFill>
        <p:spPr>
          <a:xfrm>
            <a:off x="147225" y="4053550"/>
            <a:ext cx="5478325" cy="27391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Ballast Type</a:t>
            </a:r>
            <a:endParaRPr/>
          </a:p>
        </p:txBody>
      </p:sp>
      <p:pic>
        <p:nvPicPr>
          <p:cNvPr id="443" name="Google Shape;443;p50" title="ballast type trade study.png"/>
          <p:cNvPicPr preferRelativeResize="0"/>
          <p:nvPr/>
        </p:nvPicPr>
        <p:blipFill>
          <a:blip r:embed="rId3">
            <a:alphaModFix/>
          </a:blip>
          <a:stretch>
            <a:fillRect/>
          </a:stretch>
        </p:blipFill>
        <p:spPr>
          <a:xfrm>
            <a:off x="2063088" y="1690825"/>
            <a:ext cx="8065820" cy="48623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Ballast Material</a:t>
            </a:r>
            <a:endParaRPr/>
          </a:p>
        </p:txBody>
      </p:sp>
      <p:pic>
        <p:nvPicPr>
          <p:cNvPr id="449" name="Google Shape;449;p51" title="ballast material trade study.png"/>
          <p:cNvPicPr preferRelativeResize="0"/>
          <p:nvPr/>
        </p:nvPicPr>
        <p:blipFill>
          <a:blip r:embed="rId3">
            <a:alphaModFix/>
          </a:blip>
          <a:stretch>
            <a:fillRect/>
          </a:stretch>
        </p:blipFill>
        <p:spPr>
          <a:xfrm>
            <a:off x="2034425" y="1690825"/>
            <a:ext cx="8123162" cy="48623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Electrical Power Systems (EPS)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graphicFrame>
        <p:nvGraphicFramePr>
          <p:cNvPr id="459" name="Google Shape;459;p53"/>
          <p:cNvGraphicFramePr/>
          <p:nvPr/>
        </p:nvGraphicFramePr>
        <p:xfrm>
          <a:off x="142425" y="27675"/>
          <a:ext cx="3000000" cy="3000000"/>
        </p:xfrm>
        <a:graphic>
          <a:graphicData uri="http://schemas.openxmlformats.org/drawingml/2006/table">
            <a:tbl>
              <a:tblPr>
                <a:noFill/>
                <a:tableStyleId>{42A11744-EDD2-428C-879A-466AB4FB1455}</a:tableStyleId>
              </a:tblPr>
              <a:tblGrid>
                <a:gridCol w="2096525"/>
                <a:gridCol w="4146175"/>
                <a:gridCol w="1452325"/>
                <a:gridCol w="1651450"/>
                <a:gridCol w="1171225"/>
                <a:gridCol w="1171225"/>
              </a:tblGrid>
              <a:tr h="447675">
                <a:tc gridSpan="6">
                  <a:txBody>
                    <a:bodyPr/>
                    <a:lstStyle/>
                    <a:p>
                      <a:pPr indent="0" lvl="0" marL="0" rtl="0" algn="ctr">
                        <a:lnSpc>
                          <a:spcPct val="115000"/>
                        </a:lnSpc>
                        <a:spcBef>
                          <a:spcPts val="0"/>
                        </a:spcBef>
                        <a:spcAft>
                          <a:spcPts val="0"/>
                        </a:spcAft>
                        <a:buNone/>
                      </a:pPr>
                      <a:r>
                        <a:rPr b="1" lang="en-US" sz="1800">
                          <a:solidFill>
                            <a:schemeClr val="lt1"/>
                          </a:solidFill>
                        </a:rPr>
                        <a:t>Power Supply</a:t>
                      </a:r>
                      <a:endParaRPr b="1" sz="1800">
                        <a:solidFill>
                          <a:schemeClr val="lt1"/>
                        </a:solidFill>
                      </a:endParaRPr>
                    </a:p>
                  </a:txBody>
                  <a:tcPr marT="91425" marB="91425" marR="28575" marL="28575" anchor="ctr">
                    <a:lnL cap="flat" cmpd="sng" w="9525">
                      <a:solidFill>
                        <a:srgbClr val="0A2B3C">
                          <a:alpha val="0"/>
                        </a:srgbClr>
                      </a:solidFill>
                      <a:prstDash val="solid"/>
                      <a:round/>
                      <a:headEnd len="sm" w="sm" type="none"/>
                      <a:tailEnd len="sm" w="sm" type="none"/>
                    </a:lnL>
                    <a:lnR cap="flat" cmpd="sng" w="9525">
                      <a:solidFill>
                        <a:srgbClr val="0A2B3C">
                          <a:alpha val="0"/>
                        </a:srgbClr>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alpha val="0"/>
                        </a:srgbClr>
                      </a:solidFill>
                      <a:prstDash val="solid"/>
                      <a:round/>
                      <a:headEnd len="sm" w="sm" type="none"/>
                      <a:tailEnd len="sm" w="sm" type="none"/>
                    </a:lnB>
                  </a:tcPr>
                </a:tc>
                <a:tc hMerge="1"/>
                <a:tc hMerge="1"/>
                <a:tc hMerge="1"/>
                <a:tc hMerge="1"/>
                <a:tc hMerge="1"/>
              </a:tr>
              <a:tr h="361950">
                <a:tc>
                  <a:txBody>
                    <a:bodyPr/>
                    <a:lstStyle/>
                    <a:p>
                      <a:pPr indent="0" lvl="0" marL="0" rtl="0" algn="ctr">
                        <a:lnSpc>
                          <a:spcPct val="115000"/>
                        </a:lnSpc>
                        <a:spcBef>
                          <a:spcPts val="0"/>
                        </a:spcBef>
                        <a:spcAft>
                          <a:spcPts val="0"/>
                        </a:spcAft>
                        <a:buNone/>
                      </a:pPr>
                      <a:r>
                        <a:rPr b="1" lang="en-US" sz="1200">
                          <a:solidFill>
                            <a:schemeClr val="dk1"/>
                          </a:solidFill>
                        </a:rPr>
                        <a:t>Criteria</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Explanation</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Grade</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Weight</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a:solidFill>
                            <a:schemeClr val="dk1"/>
                          </a:solidFill>
                        </a:rPr>
                        <a:t>12 VDC</a:t>
                      </a:r>
                      <a:endParaRPr b="1">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a:solidFill>
                            <a:schemeClr val="dk1"/>
                          </a:solidFill>
                        </a:rPr>
                        <a:t>48 VDC</a:t>
                      </a:r>
                      <a:endParaRPr b="1">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r>
              <a:tr h="230675">
                <a:tc>
                  <a:txBody>
                    <a:bodyPr/>
                    <a:lstStyle/>
                    <a:p>
                      <a:pPr indent="0" lvl="0" marL="0" rtl="0" algn="ctr">
                        <a:lnSpc>
                          <a:spcPct val="115000"/>
                        </a:lnSpc>
                        <a:spcBef>
                          <a:spcPts val="0"/>
                        </a:spcBef>
                        <a:spcAft>
                          <a:spcPts val="0"/>
                        </a:spcAft>
                        <a:buNone/>
                      </a:pPr>
                      <a:r>
                        <a:rPr lang="en-US" sz="1000">
                          <a:solidFill>
                            <a:schemeClr val="dk1"/>
                          </a:solidFill>
                        </a:rPr>
                        <a:t>Tether Cable Size &amp; Weight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Smaller gauge cables can be used with higher voltage, improving maneuverability and reducing drag.</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rowSpan="9">
                  <a:txBody>
                    <a:bodyPr/>
                    <a:lstStyle/>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3 = High</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2 = Medium</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1 = Low</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0 = Fail</a:t>
                      </a:r>
                      <a:endParaRPr sz="1000">
                        <a:solidFill>
                          <a:schemeClr val="dk1"/>
                        </a:solidFill>
                        <a:latin typeface="Roboto"/>
                        <a:ea typeface="Roboto"/>
                        <a:cs typeface="Roboto"/>
                        <a:sym typeface="Roboto"/>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Power Transmission Efficiency</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Lower current at higher voltage reduces I²R losses in the tether cable. This improves efficiency and reduces power loss.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20%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Thruster Power Delivery</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Voltage vs. required thruster input voltage &amp; startup current - especially important if thrusters draw pulsed or high currents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Voltage Regulation / Stability</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Need for DC-DC converters and complexity of power distribution at the ROV end.</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Safety / Standards Compliance</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Lower voltages are safer for human handling and reduce underwater electrical hazard risk.</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Component Availability / Cost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Availability of compatible power electronics and end-use subsystems (e.g., sensors, controllers) and their cost.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Heat Dissipation (Converters)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High current results in higher local power dissipation. Lower heat is easier to manage in a sealed or underwater enclosure.</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Electromagnetic Interference (EMI)</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Higher voltages may increase EMI, affecting sensors or communication systems.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Future Scalability / Growth</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Ability to support future upgrades with higher power demand without major redesign.</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200025">
                <a:tc gridSpan="3">
                  <a:txBody>
                    <a:bodyPr/>
                    <a:lstStyle/>
                    <a:p>
                      <a:pPr indent="0" lvl="0" marL="0" rtl="0" algn="l">
                        <a:spcBef>
                          <a:spcPts val="0"/>
                        </a:spcBef>
                        <a:spcAft>
                          <a:spcPts val="0"/>
                        </a:spcAft>
                        <a:buNone/>
                      </a:pPr>
                      <a:r>
                        <a:t/>
                      </a:r>
                      <a:endParaRPr>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hMerge="1"/>
                <a:tc hMerge="1"/>
                <a:tc>
                  <a:txBody>
                    <a:bodyPr/>
                    <a:lstStyle/>
                    <a:p>
                      <a:pPr indent="0" lvl="0" marL="0" rtl="0" algn="ctr">
                        <a:lnSpc>
                          <a:spcPct val="115000"/>
                        </a:lnSpc>
                        <a:spcBef>
                          <a:spcPts val="0"/>
                        </a:spcBef>
                        <a:spcAft>
                          <a:spcPts val="0"/>
                        </a:spcAft>
                        <a:buNone/>
                      </a:pPr>
                      <a:r>
                        <a:rPr b="1" lang="en-US" sz="1000">
                          <a:solidFill>
                            <a:schemeClr val="dk1"/>
                          </a:solidFill>
                        </a:rPr>
                        <a:t>100%</a:t>
                      </a:r>
                      <a:endParaRPr b="1"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lt1"/>
                          </a:solidFill>
                        </a:rPr>
                        <a:t>58.33%</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lang="en-US" sz="1000">
                          <a:solidFill>
                            <a:schemeClr val="lt1"/>
                          </a:solidFill>
                        </a:rPr>
                        <a:t>90.00%</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34A853"/>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graphicFrame>
        <p:nvGraphicFramePr>
          <p:cNvPr id="464" name="Google Shape;464;p54"/>
          <p:cNvGraphicFramePr/>
          <p:nvPr/>
        </p:nvGraphicFramePr>
        <p:xfrm>
          <a:off x="182325" y="173450"/>
          <a:ext cx="3000000" cy="3000000"/>
        </p:xfrm>
        <a:graphic>
          <a:graphicData uri="http://schemas.openxmlformats.org/drawingml/2006/table">
            <a:tbl>
              <a:tblPr>
                <a:noFill/>
                <a:tableStyleId>{42A11744-EDD2-428C-879A-466AB4FB1455}</a:tableStyleId>
              </a:tblPr>
              <a:tblGrid>
                <a:gridCol w="1905575"/>
                <a:gridCol w="2887150"/>
                <a:gridCol w="943000"/>
                <a:gridCol w="982825"/>
                <a:gridCol w="1656775"/>
                <a:gridCol w="1656775"/>
                <a:gridCol w="1656775"/>
              </a:tblGrid>
              <a:tr h="447675">
                <a:tc gridSpan="7">
                  <a:txBody>
                    <a:bodyPr/>
                    <a:lstStyle/>
                    <a:p>
                      <a:pPr indent="0" lvl="0" marL="0" rtl="0" algn="ctr">
                        <a:lnSpc>
                          <a:spcPct val="115000"/>
                        </a:lnSpc>
                        <a:spcBef>
                          <a:spcPts val="0"/>
                        </a:spcBef>
                        <a:spcAft>
                          <a:spcPts val="0"/>
                        </a:spcAft>
                        <a:buNone/>
                      </a:pPr>
                      <a:r>
                        <a:rPr b="1" lang="en-US" sz="1800">
                          <a:solidFill>
                            <a:schemeClr val="lt1"/>
                          </a:solidFill>
                        </a:rPr>
                        <a:t>Connectors</a:t>
                      </a:r>
                      <a:endParaRPr b="1" sz="1800">
                        <a:solidFill>
                          <a:schemeClr val="lt1"/>
                        </a:solidFill>
                      </a:endParaRPr>
                    </a:p>
                  </a:txBody>
                  <a:tcPr marT="91425" marB="91425" marR="28575" marL="28575" anchor="ctr">
                    <a:lnL cap="flat" cmpd="sng" w="9525">
                      <a:solidFill>
                        <a:srgbClr val="0A2B3C">
                          <a:alpha val="0"/>
                        </a:srgbClr>
                      </a:solidFill>
                      <a:prstDash val="solid"/>
                      <a:round/>
                      <a:headEnd len="sm" w="sm" type="none"/>
                      <a:tailEnd len="sm" w="sm" type="none"/>
                    </a:lnL>
                    <a:lnR cap="flat" cmpd="sng" w="9525">
                      <a:solidFill>
                        <a:srgbClr val="0A2B3C">
                          <a:alpha val="0"/>
                        </a:srgbClr>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alpha val="0"/>
                        </a:srgbClr>
                      </a:solidFill>
                      <a:prstDash val="solid"/>
                      <a:round/>
                      <a:headEnd len="sm" w="sm" type="none"/>
                      <a:tailEnd len="sm" w="sm" type="none"/>
                    </a:lnB>
                  </a:tcPr>
                </a:tc>
                <a:tc hMerge="1"/>
                <a:tc hMerge="1"/>
                <a:tc hMerge="1"/>
                <a:tc hMerge="1"/>
                <a:tc hMerge="1"/>
                <a:tc hMerge="1"/>
              </a:tr>
              <a:tr h="361950">
                <a:tc>
                  <a:txBody>
                    <a:bodyPr/>
                    <a:lstStyle/>
                    <a:p>
                      <a:pPr indent="0" lvl="0" marL="0" rtl="0" algn="ctr">
                        <a:lnSpc>
                          <a:spcPct val="115000"/>
                        </a:lnSpc>
                        <a:spcBef>
                          <a:spcPts val="0"/>
                        </a:spcBef>
                        <a:spcAft>
                          <a:spcPts val="0"/>
                        </a:spcAft>
                        <a:buNone/>
                      </a:pPr>
                      <a:r>
                        <a:rPr b="1" lang="en-US" sz="1200">
                          <a:solidFill>
                            <a:schemeClr val="dk1"/>
                          </a:solidFill>
                        </a:rPr>
                        <a:t>Criteria</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Explanation</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Grade</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Weight</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SubConn Micro Circular</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Blue Robotics WLPs</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Cable Glands (Nickel-Plated Brass)</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r>
              <a:tr h="230675">
                <a:tc>
                  <a:txBody>
                    <a:bodyPr/>
                    <a:lstStyle/>
                    <a:p>
                      <a:pPr indent="0" lvl="0" marL="0" rtl="0" algn="ctr">
                        <a:spcBef>
                          <a:spcPts val="0"/>
                        </a:spcBef>
                        <a:spcAft>
                          <a:spcPts val="0"/>
                        </a:spcAft>
                        <a:buNone/>
                      </a:pPr>
                      <a:r>
                        <a:rPr lang="en-US" sz="1000"/>
                        <a:t>Waterproof Reliability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Most critical criteria; failure is catastrophic for the competition.</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rowSpan="8">
                  <a:txBody>
                    <a:bodyPr/>
                    <a:lstStyle/>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5</a:t>
                      </a:r>
                      <a:r>
                        <a:rPr lang="en-US" sz="1000">
                          <a:solidFill>
                            <a:schemeClr val="dk1"/>
                          </a:solidFill>
                          <a:latin typeface="Roboto"/>
                          <a:ea typeface="Roboto"/>
                          <a:cs typeface="Roboto"/>
                          <a:sym typeface="Roboto"/>
                        </a:rPr>
                        <a:t> = High</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3 = Medium</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1 = Low</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0 = Fail</a:t>
                      </a:r>
                      <a:endParaRPr sz="1000">
                        <a:solidFill>
                          <a:schemeClr val="dk1"/>
                        </a:solidFill>
                        <a:latin typeface="Roboto"/>
                        <a:ea typeface="Roboto"/>
                        <a:cs typeface="Roboto"/>
                        <a:sym typeface="Roboto"/>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22</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Mechanical Durability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Must withstand the harsh physical environment (pressure, impacts) to prevent seal failure.</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16</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Safety &amp; Standards</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Ensures electrical safety and adherence to industry standards for reliability.</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16%</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Current/Voltage Capacity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 fundamental design requirement to meet the system's electrical load.</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Maintenance / Reusability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Lowers long-term operational cost and complexity for repairs and upgrades.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None/>
                      </a:pPr>
                      <a:r>
                        <a:rPr lang="en-US" sz="1000">
                          <a:solidFill>
                            <a:schemeClr val="dk1"/>
                          </a:solidFill>
                        </a:rPr>
                        <a:t>Ease of Use</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 secondary convenience for us during handling and field operations.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8</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408125">
                <a:tc>
                  <a:txBody>
                    <a:bodyPr/>
                    <a:lstStyle/>
                    <a:p>
                      <a:pPr indent="0" lvl="0" marL="0" rtl="0" algn="ctr">
                        <a:spcBef>
                          <a:spcPts val="0"/>
                        </a:spcBef>
                        <a:spcAft>
                          <a:spcPts val="0"/>
                        </a:spcAft>
                        <a:buNone/>
                      </a:pPr>
                      <a:r>
                        <a:rPr lang="en-US" sz="1000">
                          <a:solidFill>
                            <a:schemeClr val="dk1"/>
                          </a:solidFill>
                        </a:rPr>
                        <a:t>Ease of Integration</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A one-time effort for the initial build; less impact on long-term operation.</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8</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spcBef>
                          <a:spcPts val="0"/>
                        </a:spcBef>
                        <a:spcAft>
                          <a:spcPts val="0"/>
                        </a:spcAft>
                        <a:buClr>
                          <a:schemeClr val="dk1"/>
                        </a:buClr>
                        <a:buSzPts val="1100"/>
                        <a:buFont typeface="Arial"/>
                        <a:buNone/>
                      </a:pPr>
                      <a:r>
                        <a:rPr lang="en-US" sz="1000">
                          <a:solidFill>
                            <a:schemeClr val="dk1"/>
                          </a:solidFill>
                        </a:rPr>
                        <a:t>Cost &amp; Availability</a:t>
                      </a:r>
                      <a:endParaRPr sz="1000"/>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Lowest priority; performance is valued more than initial cost (this section is the most iffy because idk how much of our budget is going to be used by other things)</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6</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200025">
                <a:tc gridSpan="3">
                  <a:txBody>
                    <a:bodyPr/>
                    <a:lstStyle/>
                    <a:p>
                      <a:pPr indent="0" lvl="0" marL="0" rtl="0" algn="l">
                        <a:spcBef>
                          <a:spcPts val="0"/>
                        </a:spcBef>
                        <a:spcAft>
                          <a:spcPts val="0"/>
                        </a:spcAft>
                        <a:buNone/>
                      </a:pPr>
                      <a:r>
                        <a:t/>
                      </a:r>
                      <a:endParaRPr>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hMerge="1"/>
                <a:tc hMerge="1"/>
                <a:tc>
                  <a:txBody>
                    <a:bodyPr/>
                    <a:lstStyle/>
                    <a:p>
                      <a:pPr indent="0" lvl="0" marL="0" rtl="0" algn="ctr">
                        <a:lnSpc>
                          <a:spcPct val="115000"/>
                        </a:lnSpc>
                        <a:spcBef>
                          <a:spcPts val="0"/>
                        </a:spcBef>
                        <a:spcAft>
                          <a:spcPts val="0"/>
                        </a:spcAft>
                        <a:buNone/>
                      </a:pPr>
                      <a:r>
                        <a:rPr b="1" lang="en-US" sz="1000">
                          <a:solidFill>
                            <a:schemeClr val="dk1"/>
                          </a:solidFill>
                        </a:rPr>
                        <a:t>100%</a:t>
                      </a:r>
                      <a:endParaRPr b="1"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lt1"/>
                          </a:solidFill>
                        </a:rPr>
                        <a:t>92.4</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34A853"/>
                    </a:solidFill>
                  </a:tcPr>
                </a:tc>
                <a:tc>
                  <a:txBody>
                    <a:bodyPr/>
                    <a:lstStyle/>
                    <a:p>
                      <a:pPr indent="0" lvl="0" marL="0" rtl="0" algn="ctr">
                        <a:lnSpc>
                          <a:spcPct val="115000"/>
                        </a:lnSpc>
                        <a:spcBef>
                          <a:spcPts val="0"/>
                        </a:spcBef>
                        <a:spcAft>
                          <a:spcPts val="0"/>
                        </a:spcAft>
                        <a:buNone/>
                      </a:pPr>
                      <a:r>
                        <a:rPr lang="en-US" sz="1000">
                          <a:solidFill>
                            <a:schemeClr val="lt1"/>
                          </a:solidFill>
                        </a:rPr>
                        <a:t>83.2</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lang="en-US" sz="1000">
                          <a:solidFill>
                            <a:schemeClr val="lt1"/>
                          </a:solidFill>
                        </a:rPr>
                        <a:t>74%</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graphicFrame>
        <p:nvGraphicFramePr>
          <p:cNvPr id="469" name="Google Shape;469;p55"/>
          <p:cNvGraphicFramePr/>
          <p:nvPr/>
        </p:nvGraphicFramePr>
        <p:xfrm>
          <a:off x="571525" y="1097963"/>
          <a:ext cx="3000000" cy="3000000"/>
        </p:xfrm>
        <a:graphic>
          <a:graphicData uri="http://schemas.openxmlformats.org/drawingml/2006/table">
            <a:tbl>
              <a:tblPr>
                <a:noFill/>
                <a:tableStyleId>{42A11744-EDD2-428C-879A-466AB4FB1455}</a:tableStyleId>
              </a:tblPr>
              <a:tblGrid>
                <a:gridCol w="2153300"/>
                <a:gridCol w="1003175"/>
                <a:gridCol w="2022675"/>
                <a:gridCol w="1395425"/>
                <a:gridCol w="1240075"/>
                <a:gridCol w="997100"/>
                <a:gridCol w="1164625"/>
                <a:gridCol w="1072550"/>
              </a:tblGrid>
              <a:tr h="657725">
                <a:tc gridSpan="8">
                  <a:txBody>
                    <a:bodyPr/>
                    <a:lstStyle/>
                    <a:p>
                      <a:pPr indent="0" lvl="0" marL="0" rtl="0" algn="ctr">
                        <a:spcBef>
                          <a:spcPts val="0"/>
                        </a:spcBef>
                        <a:spcAft>
                          <a:spcPts val="0"/>
                        </a:spcAft>
                        <a:buNone/>
                      </a:pPr>
                      <a:r>
                        <a:rPr b="1" lang="en-US" sz="3000">
                          <a:solidFill>
                            <a:schemeClr val="lt1"/>
                          </a:solidFill>
                        </a:rPr>
                        <a:t>Tether Type/Size</a:t>
                      </a:r>
                      <a:endParaRPr b="1" sz="3000">
                        <a:solidFill>
                          <a:schemeClr val="lt1"/>
                        </a:solidFill>
                      </a:endParaRPr>
                    </a:p>
                  </a:txBody>
                  <a:tcPr marT="19050" marB="19050" marR="28575" marL="28575" anchor="ctr">
                    <a:lnL cap="flat" cmpd="sng" w="9525">
                      <a:solidFill>
                        <a:srgbClr val="CCCCCC">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hMerge="1"/>
                <a:tc hMerge="1"/>
                <a:tc hMerge="1"/>
                <a:tc hMerge="1"/>
                <a:tc hMerge="1"/>
                <a:tc hMerge="1"/>
              </a:tr>
              <a:tr h="987400">
                <a:tc>
                  <a:txBody>
                    <a:bodyPr/>
                    <a:lstStyle/>
                    <a:p>
                      <a:pPr indent="0" lvl="0" marL="0" rtl="0" algn="ctr">
                        <a:spcBef>
                          <a:spcPts val="0"/>
                        </a:spcBef>
                        <a:spcAft>
                          <a:spcPts val="0"/>
                        </a:spcAft>
                        <a:buNone/>
                      </a:pPr>
                      <a:r>
                        <a:rPr b="1" lang="en-US" sz="1800"/>
                        <a:t>Category</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Weight</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Criteria</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High/Low</a:t>
                      </a:r>
                      <a:endParaRPr b="1" sz="1800"/>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gridSpan="2">
                  <a:txBody>
                    <a:bodyPr/>
                    <a:lstStyle/>
                    <a:p>
                      <a:pPr indent="0" lvl="0" marL="0" rtl="0" algn="ctr">
                        <a:lnSpc>
                          <a:spcPct val="115000"/>
                        </a:lnSpc>
                        <a:spcBef>
                          <a:spcPts val="0"/>
                        </a:spcBef>
                        <a:spcAft>
                          <a:spcPts val="0"/>
                        </a:spcAft>
                        <a:buNone/>
                      </a:pPr>
                      <a:r>
                        <a:rPr b="1" lang="en-US" sz="1800"/>
                        <a:t>Twisted Pair / Electrical Tether</a:t>
                      </a:r>
                      <a:endParaRPr b="1" sz="1800"/>
                    </a:p>
                  </a:txBody>
                  <a:tcPr marT="19050" marB="19050" marR="28575" marL="28575" anchor="ctr">
                    <a:lnL cap="flat" cmpd="sng" w="19050">
                      <a:solidFill>
                        <a:srgbClr val="061C28"/>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hMerge="1"/>
                <a:tc gridSpan="2">
                  <a:txBody>
                    <a:bodyPr/>
                    <a:lstStyle/>
                    <a:p>
                      <a:pPr indent="0" lvl="0" marL="0" rtl="0" algn="ctr">
                        <a:lnSpc>
                          <a:spcPct val="115000"/>
                        </a:lnSpc>
                        <a:spcBef>
                          <a:spcPts val="0"/>
                        </a:spcBef>
                        <a:spcAft>
                          <a:spcPts val="0"/>
                        </a:spcAft>
                        <a:buNone/>
                      </a:pPr>
                      <a:r>
                        <a:rPr b="1" lang="en-US" sz="1800"/>
                        <a:t>Fibre Optic</a:t>
                      </a:r>
                      <a:endParaRPr b="1" sz="1800"/>
                    </a:p>
                  </a:txBody>
                  <a:tcPr marT="19050" marB="19050" marR="28575" marL="28575" anchor="ctr">
                    <a:lnL cap="flat" cmpd="sng" w="19050">
                      <a:solidFill>
                        <a:srgbClr val="061C28"/>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hMerge="1"/>
              </a:tr>
              <a:tr h="866275">
                <a:tc>
                  <a:txBody>
                    <a:bodyPr/>
                    <a:lstStyle/>
                    <a:p>
                      <a:pPr indent="0" lvl="0" marL="0" rtl="0" algn="ctr">
                        <a:lnSpc>
                          <a:spcPct val="115000"/>
                        </a:lnSpc>
                        <a:spcBef>
                          <a:spcPts val="0"/>
                        </a:spcBef>
                        <a:spcAft>
                          <a:spcPts val="0"/>
                        </a:spcAft>
                        <a:buNone/>
                      </a:pPr>
                      <a:r>
                        <a:rPr lang="en-US" sz="1600">
                          <a:solidFill>
                            <a:schemeClr val="dk1"/>
                          </a:solidFill>
                        </a:rPr>
                        <a:t>Cost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30%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Cost in USD per meter</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FALSE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260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30.00%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279</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866275">
                <a:tc>
                  <a:txBody>
                    <a:bodyPr/>
                    <a:lstStyle/>
                    <a:p>
                      <a:pPr indent="0" lvl="0" marL="0" rtl="0" algn="ctr">
                        <a:lnSpc>
                          <a:spcPct val="115000"/>
                        </a:lnSpc>
                        <a:spcBef>
                          <a:spcPts val="0"/>
                        </a:spcBef>
                        <a:spcAft>
                          <a:spcPts val="0"/>
                        </a:spcAft>
                        <a:buNone/>
                      </a:pPr>
                      <a:r>
                        <a:rPr lang="en-US" sz="1600">
                          <a:solidFill>
                            <a:schemeClr val="dk1"/>
                          </a:solidFill>
                        </a:rPr>
                        <a:t>Data Transmission Rate/Bandwidth</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50%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In Kbps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TRUE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100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800000000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50.00%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866275">
                <a:tc>
                  <a:txBody>
                    <a:bodyPr/>
                    <a:lstStyle/>
                    <a:p>
                      <a:pPr indent="0" lvl="0" marL="0" rtl="0" algn="ctr">
                        <a:lnSpc>
                          <a:spcPct val="115000"/>
                        </a:lnSpc>
                        <a:spcBef>
                          <a:spcPts val="0"/>
                        </a:spcBef>
                        <a:spcAft>
                          <a:spcPts val="0"/>
                        </a:spcAft>
                        <a:buNone/>
                      </a:pPr>
                      <a:r>
                        <a:rPr lang="en-US" sz="1600">
                          <a:solidFill>
                            <a:schemeClr val="dk1"/>
                          </a:solidFill>
                        </a:rPr>
                        <a:t>Strength/Durability</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Measured in tensile strength in newtons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TRUE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1520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1500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19.74%</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18125">
                <a:tc gridSpan="4">
                  <a:txBody>
                    <a:bodyPr/>
                    <a:lstStyle/>
                    <a:p>
                      <a:pPr indent="0" lvl="0" marL="0" rtl="0" algn="ctr">
                        <a:lnSpc>
                          <a:spcPct val="115000"/>
                        </a:lnSpc>
                        <a:spcBef>
                          <a:spcPts val="0"/>
                        </a:spcBef>
                        <a:spcAft>
                          <a:spcPts val="0"/>
                        </a:spcAft>
                        <a:buNone/>
                      </a:pPr>
                      <a:r>
                        <a:rPr b="1" lang="en-US" sz="1600">
                          <a:solidFill>
                            <a:schemeClr val="dk1"/>
                          </a:solidFill>
                        </a:rPr>
                        <a:t>Totals</a:t>
                      </a:r>
                      <a:endParaRPr b="1"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c>
                  <a:txBody>
                    <a:bodyPr/>
                    <a:lstStyle/>
                    <a:p>
                      <a:pPr indent="0" lvl="0" marL="0" rtl="0" algn="l">
                        <a:spcBef>
                          <a:spcPts val="0"/>
                        </a:spcBef>
                        <a:spcAft>
                          <a:spcPts val="0"/>
                        </a:spcAft>
                        <a:buNone/>
                      </a:pPr>
                      <a:r>
                        <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lt1"/>
                          </a:solidFill>
                        </a:rPr>
                        <a:t>50.00%</a:t>
                      </a:r>
                      <a:endParaRPr sz="1600">
                        <a:solidFill>
                          <a:schemeClr val="lt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lt1"/>
                          </a:solidFill>
                        </a:rPr>
                        <a:t>69.74%</a:t>
                      </a:r>
                      <a:endParaRPr sz="1600">
                        <a:solidFill>
                          <a:schemeClr val="lt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4A853"/>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graphicFrame>
        <p:nvGraphicFramePr>
          <p:cNvPr id="474" name="Google Shape;474;p56"/>
          <p:cNvGraphicFramePr/>
          <p:nvPr/>
        </p:nvGraphicFramePr>
        <p:xfrm>
          <a:off x="251563" y="429400"/>
          <a:ext cx="3000000" cy="3000000"/>
        </p:xfrm>
        <a:graphic>
          <a:graphicData uri="http://schemas.openxmlformats.org/drawingml/2006/table">
            <a:tbl>
              <a:tblPr>
                <a:noFill/>
                <a:tableStyleId>{42A11744-EDD2-428C-879A-466AB4FB1455}</a:tableStyleId>
              </a:tblPr>
              <a:tblGrid>
                <a:gridCol w="1905575"/>
                <a:gridCol w="2887150"/>
                <a:gridCol w="943000"/>
                <a:gridCol w="982825"/>
                <a:gridCol w="1656775"/>
                <a:gridCol w="1656775"/>
                <a:gridCol w="1656775"/>
              </a:tblGrid>
              <a:tr h="447675">
                <a:tc gridSpan="7">
                  <a:txBody>
                    <a:bodyPr/>
                    <a:lstStyle/>
                    <a:p>
                      <a:pPr indent="0" lvl="0" marL="0" rtl="0" algn="ctr">
                        <a:lnSpc>
                          <a:spcPct val="115000"/>
                        </a:lnSpc>
                        <a:spcBef>
                          <a:spcPts val="0"/>
                        </a:spcBef>
                        <a:spcAft>
                          <a:spcPts val="0"/>
                        </a:spcAft>
                        <a:buNone/>
                      </a:pPr>
                      <a:r>
                        <a:rPr b="1" lang="en-US" sz="1800">
                          <a:solidFill>
                            <a:schemeClr val="lt1"/>
                          </a:solidFill>
                        </a:rPr>
                        <a:t>Onboard Architecture</a:t>
                      </a:r>
                      <a:endParaRPr b="1" sz="1800">
                        <a:solidFill>
                          <a:schemeClr val="lt1"/>
                        </a:solidFill>
                      </a:endParaRPr>
                    </a:p>
                  </a:txBody>
                  <a:tcPr marT="91425" marB="91425" marR="28575" marL="28575" anchor="ctr">
                    <a:lnL cap="flat" cmpd="sng" w="9525">
                      <a:solidFill>
                        <a:srgbClr val="0A2B3C">
                          <a:alpha val="0"/>
                        </a:srgbClr>
                      </a:solidFill>
                      <a:prstDash val="solid"/>
                      <a:round/>
                      <a:headEnd len="sm" w="sm" type="none"/>
                      <a:tailEnd len="sm" w="sm" type="none"/>
                    </a:lnL>
                    <a:lnR cap="flat" cmpd="sng" w="9525">
                      <a:solidFill>
                        <a:srgbClr val="0A2B3C">
                          <a:alpha val="0"/>
                        </a:srgbClr>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alpha val="0"/>
                        </a:srgbClr>
                      </a:solidFill>
                      <a:prstDash val="solid"/>
                      <a:round/>
                      <a:headEnd len="sm" w="sm" type="none"/>
                      <a:tailEnd len="sm" w="sm" type="none"/>
                    </a:lnB>
                  </a:tcPr>
                </a:tc>
                <a:tc hMerge="1"/>
                <a:tc hMerge="1"/>
                <a:tc hMerge="1"/>
                <a:tc hMerge="1"/>
                <a:tc hMerge="1"/>
                <a:tc hMerge="1"/>
              </a:tr>
              <a:tr h="361950">
                <a:tc>
                  <a:txBody>
                    <a:bodyPr/>
                    <a:lstStyle/>
                    <a:p>
                      <a:pPr indent="0" lvl="0" marL="0" rtl="0" algn="ctr">
                        <a:lnSpc>
                          <a:spcPct val="115000"/>
                        </a:lnSpc>
                        <a:spcBef>
                          <a:spcPts val="0"/>
                        </a:spcBef>
                        <a:spcAft>
                          <a:spcPts val="0"/>
                        </a:spcAft>
                        <a:buNone/>
                      </a:pPr>
                      <a:r>
                        <a:rPr b="1" lang="en-US" sz="1200">
                          <a:solidFill>
                            <a:schemeClr val="dk1"/>
                          </a:solidFill>
                        </a:rPr>
                        <a:t>Criteria</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Explanation</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Grade</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Weight</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Distributed Local DC-DC Conversion</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Dual-Voltage Bus</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200">
                          <a:solidFill>
                            <a:schemeClr val="dk1"/>
                          </a:solidFill>
                        </a:rPr>
                        <a:t>Single-Bus Centralized DC</a:t>
                      </a:r>
                      <a:endParaRPr b="1" sz="12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alpha val="0"/>
                        </a:srgbClr>
                      </a:solidFill>
                      <a:prstDash val="solid"/>
                      <a:round/>
                      <a:headEnd len="sm" w="sm" type="none"/>
                      <a:tailEnd len="sm" w="sm" type="none"/>
                    </a:lnT>
                    <a:lnB cap="flat" cmpd="sng" w="9525">
                      <a:solidFill>
                        <a:srgbClr val="0A2B3C"/>
                      </a:solidFill>
                      <a:prstDash val="solid"/>
                      <a:round/>
                      <a:headEnd len="sm" w="sm" type="none"/>
                      <a:tailEnd len="sm" w="sm" type="none"/>
                    </a:lnB>
                    <a:solidFill>
                      <a:schemeClr val="accent3"/>
                    </a:solidFill>
                  </a:tcPr>
                </a:tc>
              </a:tr>
              <a:tr h="230675">
                <a:tc>
                  <a:txBody>
                    <a:bodyPr/>
                    <a:lstStyle/>
                    <a:p>
                      <a:pPr indent="0" lvl="0" marL="0" rtl="0" algn="ctr">
                        <a:lnSpc>
                          <a:spcPct val="115000"/>
                        </a:lnSpc>
                        <a:spcBef>
                          <a:spcPts val="0"/>
                        </a:spcBef>
                        <a:spcAft>
                          <a:spcPts val="0"/>
                        </a:spcAft>
                        <a:buNone/>
                      </a:pPr>
                      <a:r>
                        <a:rPr lang="en-US" sz="1000">
                          <a:solidFill>
                            <a:schemeClr val="dk1"/>
                          </a:solidFill>
                        </a:rPr>
                        <a:t>Electrical Efficiency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Reduces resistive losses and optimizes power transfer for long tether systems.</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rowSpan="8">
                  <a:txBody>
                    <a:bodyPr/>
                    <a:lstStyle/>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5 = High</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3 = Medium</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1 = Low</a:t>
                      </a:r>
                      <a:endParaRPr sz="10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US" sz="1000">
                          <a:solidFill>
                            <a:schemeClr val="dk1"/>
                          </a:solidFill>
                          <a:latin typeface="Roboto"/>
                          <a:ea typeface="Roboto"/>
                          <a:cs typeface="Roboto"/>
                          <a:sym typeface="Roboto"/>
                        </a:rPr>
                        <a:t>0 = Fail</a:t>
                      </a:r>
                      <a:endParaRPr sz="1000">
                        <a:solidFill>
                          <a:schemeClr val="dk1"/>
                        </a:solidFill>
                        <a:latin typeface="Roboto"/>
                        <a:ea typeface="Roboto"/>
                        <a:cs typeface="Roboto"/>
                        <a:sym typeface="Roboto"/>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18</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Safety &amp; Fault Tolerance</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Ensures system protection from faults and protects divers and electronics.</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18%</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Modularity / Scalability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Allows expansion, subsystem replacement, or upgrades easily.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Maintenance / Serviceability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Simplifies troubleshooting and long-term upkeep.</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Weight &amp; Space Efficiency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Reduces housing footprint and helps achieve neutral buoyancy.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Cost &amp; Complexity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Balances affordability and simplicity of implementation.</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2</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408125">
                <a:tc>
                  <a:txBody>
                    <a:bodyPr/>
                    <a:lstStyle/>
                    <a:p>
                      <a:pPr indent="0" lvl="0" marL="0" rtl="0" algn="ctr">
                        <a:lnSpc>
                          <a:spcPct val="115000"/>
                        </a:lnSpc>
                        <a:spcBef>
                          <a:spcPts val="0"/>
                        </a:spcBef>
                        <a:spcAft>
                          <a:spcPts val="0"/>
                        </a:spcAft>
                        <a:buNone/>
                      </a:pPr>
                      <a:r>
                        <a:rPr lang="en-US" sz="1000">
                          <a:solidFill>
                            <a:schemeClr val="dk1"/>
                          </a:solidFill>
                        </a:rPr>
                        <a:t>Ease of Integration</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Simplifies wiring, layout, and assembly during manufacturing.</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10</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619125">
                <a:tc>
                  <a:txBody>
                    <a:bodyPr/>
                    <a:lstStyle/>
                    <a:p>
                      <a:pPr indent="0" lvl="0" marL="0" rtl="0" algn="ctr">
                        <a:lnSpc>
                          <a:spcPct val="115000"/>
                        </a:lnSpc>
                        <a:spcBef>
                          <a:spcPts val="0"/>
                        </a:spcBef>
                        <a:spcAft>
                          <a:spcPts val="0"/>
                        </a:spcAft>
                        <a:buNone/>
                      </a:pPr>
                      <a:r>
                        <a:rPr lang="en-US" sz="1000">
                          <a:solidFill>
                            <a:schemeClr val="dk1"/>
                          </a:solidFill>
                        </a:rPr>
                        <a:t>Standards / Reliability</a:t>
                      </a:r>
                      <a:endParaRPr sz="1000">
                        <a:solidFill>
                          <a:schemeClr val="dk1"/>
                        </a:solidFill>
                      </a:endParaRPr>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t>Adheres to marine electrical standards and proven reliability.</a:t>
                      </a:r>
                      <a:endParaRPr sz="1000"/>
                    </a:p>
                  </a:txBody>
                  <a:tcPr marT="19050" marB="19050" marR="76200" marL="76200"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vMerge="1"/>
                <a:tc>
                  <a:txBody>
                    <a:bodyPr/>
                    <a:lstStyle/>
                    <a:p>
                      <a:pPr indent="0" lvl="0" marL="0" rtl="0" algn="ctr">
                        <a:lnSpc>
                          <a:spcPct val="115000"/>
                        </a:lnSpc>
                        <a:spcBef>
                          <a:spcPts val="0"/>
                        </a:spcBef>
                        <a:spcAft>
                          <a:spcPts val="0"/>
                        </a:spcAft>
                        <a:buNone/>
                      </a:pPr>
                      <a:r>
                        <a:rPr lang="en-US" sz="1000">
                          <a:solidFill>
                            <a:schemeClr val="dk1"/>
                          </a:solidFill>
                        </a:rPr>
                        <a:t>8</a:t>
                      </a:r>
                      <a:r>
                        <a:rPr lang="en-US" sz="1000">
                          <a:solidFill>
                            <a:schemeClr val="dk1"/>
                          </a:solidFill>
                        </a:rPr>
                        <a:t>%</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5</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4</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dk1"/>
                          </a:solidFill>
                        </a:rPr>
                        <a:t>3</a:t>
                      </a:r>
                      <a:endParaRPr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r>
              <a:tr h="200025">
                <a:tc gridSpan="3">
                  <a:txBody>
                    <a:bodyPr/>
                    <a:lstStyle/>
                    <a:p>
                      <a:pPr indent="0" lvl="0" marL="0" rtl="0" algn="l">
                        <a:spcBef>
                          <a:spcPts val="0"/>
                        </a:spcBef>
                        <a:spcAft>
                          <a:spcPts val="0"/>
                        </a:spcAft>
                        <a:buNone/>
                      </a:pPr>
                      <a:r>
                        <a:t/>
                      </a:r>
                      <a:endParaRPr>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hMerge="1"/>
                <a:tc hMerge="1"/>
                <a:tc>
                  <a:txBody>
                    <a:bodyPr/>
                    <a:lstStyle/>
                    <a:p>
                      <a:pPr indent="0" lvl="0" marL="0" rtl="0" algn="ctr">
                        <a:lnSpc>
                          <a:spcPct val="115000"/>
                        </a:lnSpc>
                        <a:spcBef>
                          <a:spcPts val="0"/>
                        </a:spcBef>
                        <a:spcAft>
                          <a:spcPts val="0"/>
                        </a:spcAft>
                        <a:buNone/>
                      </a:pPr>
                      <a:r>
                        <a:rPr b="1" lang="en-US" sz="1000">
                          <a:solidFill>
                            <a:schemeClr val="dk1"/>
                          </a:solidFill>
                        </a:rPr>
                        <a:t>100%</a:t>
                      </a:r>
                      <a:endParaRPr b="1" sz="1000">
                        <a:solidFill>
                          <a:schemeClr val="dk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000">
                          <a:solidFill>
                            <a:schemeClr val="lt1"/>
                          </a:solidFill>
                        </a:rPr>
                        <a:t>81.2</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34A853"/>
                    </a:solidFill>
                  </a:tcPr>
                </a:tc>
                <a:tc>
                  <a:txBody>
                    <a:bodyPr/>
                    <a:lstStyle/>
                    <a:p>
                      <a:pPr indent="0" lvl="0" marL="0" rtl="0" algn="ctr">
                        <a:lnSpc>
                          <a:spcPct val="115000"/>
                        </a:lnSpc>
                        <a:spcBef>
                          <a:spcPts val="0"/>
                        </a:spcBef>
                        <a:spcAft>
                          <a:spcPts val="0"/>
                        </a:spcAft>
                        <a:buNone/>
                      </a:pPr>
                      <a:r>
                        <a:rPr lang="en-US" sz="1000">
                          <a:solidFill>
                            <a:schemeClr val="lt1"/>
                          </a:solidFill>
                        </a:rPr>
                        <a:t>73.6</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lang="en-US" sz="1000">
                          <a:solidFill>
                            <a:schemeClr val="lt1"/>
                          </a:solidFill>
                        </a:rPr>
                        <a:t>69.6</a:t>
                      </a:r>
                      <a:r>
                        <a:rPr lang="en-US" sz="1000">
                          <a:solidFill>
                            <a:schemeClr val="lt1"/>
                          </a:solidFill>
                        </a:rPr>
                        <a:t>%</a:t>
                      </a:r>
                      <a:endParaRPr sz="1000">
                        <a:solidFill>
                          <a:schemeClr val="lt1"/>
                        </a:solidFill>
                      </a:endParaRPr>
                    </a:p>
                  </a:txBody>
                  <a:tcPr marT="91425" marB="91425" marR="28575" marL="28575" anchor="ctr">
                    <a:lnL cap="flat" cmpd="sng" w="9525">
                      <a:solidFill>
                        <a:srgbClr val="0A2B3C"/>
                      </a:solidFill>
                      <a:prstDash val="solid"/>
                      <a:round/>
                      <a:headEnd len="sm" w="sm" type="none"/>
                      <a:tailEnd len="sm" w="sm" type="none"/>
                    </a:lnL>
                    <a:lnR cap="flat" cmpd="sng" w="9525">
                      <a:solidFill>
                        <a:srgbClr val="0A2B3C"/>
                      </a:solidFill>
                      <a:prstDash val="solid"/>
                      <a:round/>
                      <a:headEnd len="sm" w="sm" type="none"/>
                      <a:tailEnd len="sm" w="sm" type="none"/>
                    </a:lnR>
                    <a:lnT cap="flat" cmpd="sng" w="9525">
                      <a:solidFill>
                        <a:srgbClr val="0A2B3C"/>
                      </a:solidFill>
                      <a:prstDash val="solid"/>
                      <a:round/>
                      <a:headEnd len="sm" w="sm" type="none"/>
                      <a:tailEnd len="sm" w="sm" type="none"/>
                    </a:lnT>
                    <a:lnB cap="flat" cmpd="sng" w="9525">
                      <a:solidFill>
                        <a:srgbClr val="0A2B3C"/>
                      </a:solidFill>
                      <a:prstDash val="solid"/>
                      <a:round/>
                      <a:headEnd len="sm" w="sm" type="none"/>
                      <a:tailEnd len="sm" w="sm" type="none"/>
                    </a:lnB>
                    <a:solidFill>
                      <a:srgbClr val="FF0000"/>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graphicFrame>
        <p:nvGraphicFramePr>
          <p:cNvPr id="479" name="Google Shape;479;p57"/>
          <p:cNvGraphicFramePr/>
          <p:nvPr/>
        </p:nvGraphicFramePr>
        <p:xfrm>
          <a:off x="571538" y="633388"/>
          <a:ext cx="3000000" cy="3000000"/>
        </p:xfrm>
        <a:graphic>
          <a:graphicData uri="http://schemas.openxmlformats.org/drawingml/2006/table">
            <a:tbl>
              <a:tblPr>
                <a:noFill/>
                <a:tableStyleId>{42A11744-EDD2-428C-879A-466AB4FB1455}</a:tableStyleId>
              </a:tblPr>
              <a:tblGrid>
                <a:gridCol w="2153300"/>
                <a:gridCol w="1003175"/>
                <a:gridCol w="2022675"/>
                <a:gridCol w="1395425"/>
                <a:gridCol w="1240075"/>
                <a:gridCol w="997100"/>
                <a:gridCol w="1164625"/>
                <a:gridCol w="1072550"/>
              </a:tblGrid>
              <a:tr h="756675">
                <a:tc gridSpan="8">
                  <a:txBody>
                    <a:bodyPr/>
                    <a:lstStyle/>
                    <a:p>
                      <a:pPr indent="0" lvl="0" marL="0" rtl="0" algn="ctr">
                        <a:spcBef>
                          <a:spcPts val="0"/>
                        </a:spcBef>
                        <a:spcAft>
                          <a:spcPts val="0"/>
                        </a:spcAft>
                        <a:buNone/>
                      </a:pPr>
                      <a:r>
                        <a:rPr b="1" lang="en-US" sz="3000">
                          <a:solidFill>
                            <a:schemeClr val="lt1"/>
                          </a:solidFill>
                        </a:rPr>
                        <a:t>Wire Color Scheme</a:t>
                      </a:r>
                      <a:endParaRPr b="1" sz="3000">
                        <a:solidFill>
                          <a:schemeClr val="lt1"/>
                        </a:solidFill>
                      </a:endParaRPr>
                    </a:p>
                  </a:txBody>
                  <a:tcPr marT="19050" marB="19050" marR="28575" marL="28575" anchor="ctr">
                    <a:lnL cap="flat" cmpd="sng" w="9525">
                      <a:solidFill>
                        <a:srgbClr val="CCCCCC">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19050">
                      <a:solidFill>
                        <a:schemeClr val="dk2"/>
                      </a:solidFill>
                      <a:prstDash val="solid"/>
                      <a:round/>
                      <a:headEnd len="sm" w="sm" type="none"/>
                      <a:tailEnd len="sm" w="sm" type="none"/>
                    </a:lnB>
                  </a:tcPr>
                </a:tc>
                <a:tc hMerge="1"/>
                <a:tc hMerge="1"/>
                <a:tc hMerge="1"/>
                <a:tc hMerge="1"/>
                <a:tc hMerge="1"/>
                <a:tc hMerge="1"/>
                <a:tc hMerge="1"/>
              </a:tr>
              <a:tr h="987400">
                <a:tc>
                  <a:txBody>
                    <a:bodyPr/>
                    <a:lstStyle/>
                    <a:p>
                      <a:pPr indent="0" lvl="0" marL="0" rtl="0" algn="ctr">
                        <a:spcBef>
                          <a:spcPts val="0"/>
                        </a:spcBef>
                        <a:spcAft>
                          <a:spcPts val="0"/>
                        </a:spcAft>
                        <a:buNone/>
                      </a:pPr>
                      <a:r>
                        <a:rPr b="1" lang="en-US" sz="1800"/>
                        <a:t>Category</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Weight</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Criteria</a:t>
                      </a:r>
                      <a:endParaRPr b="1" sz="1800"/>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a:txBody>
                    <a:bodyPr/>
                    <a:lstStyle/>
                    <a:p>
                      <a:pPr indent="0" lvl="0" marL="0" rtl="0" algn="ctr">
                        <a:lnSpc>
                          <a:spcPct val="115000"/>
                        </a:lnSpc>
                        <a:spcBef>
                          <a:spcPts val="0"/>
                        </a:spcBef>
                        <a:spcAft>
                          <a:spcPts val="0"/>
                        </a:spcAft>
                        <a:buNone/>
                      </a:pPr>
                      <a:r>
                        <a:rPr b="1" lang="en-US" sz="1800"/>
                        <a:t>High/Low</a:t>
                      </a:r>
                      <a:endParaRPr b="1" sz="1800"/>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gridSpan="2">
                  <a:txBody>
                    <a:bodyPr/>
                    <a:lstStyle/>
                    <a:p>
                      <a:pPr indent="0" lvl="0" marL="0" rtl="0" algn="ctr">
                        <a:lnSpc>
                          <a:spcPct val="115000"/>
                        </a:lnSpc>
                        <a:spcBef>
                          <a:spcPts val="0"/>
                        </a:spcBef>
                        <a:spcAft>
                          <a:spcPts val="0"/>
                        </a:spcAft>
                        <a:buNone/>
                      </a:pPr>
                      <a:r>
                        <a:rPr b="1" lang="en-US" sz="1800"/>
                        <a:t>US IEC 60446 AC/DC Codes</a:t>
                      </a:r>
                      <a:endParaRPr b="1" sz="1800"/>
                    </a:p>
                  </a:txBody>
                  <a:tcPr marT="19050" marB="19050" marR="28575" marL="28575" anchor="ctr">
                    <a:lnL cap="flat" cmpd="sng" w="19050">
                      <a:solidFill>
                        <a:srgbClr val="061C28"/>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hMerge="1"/>
                <a:tc gridSpan="2">
                  <a:txBody>
                    <a:bodyPr/>
                    <a:lstStyle/>
                    <a:p>
                      <a:pPr indent="0" lvl="0" marL="0" rtl="0" algn="ctr">
                        <a:lnSpc>
                          <a:spcPct val="115000"/>
                        </a:lnSpc>
                        <a:spcBef>
                          <a:spcPts val="0"/>
                        </a:spcBef>
                        <a:spcAft>
                          <a:spcPts val="0"/>
                        </a:spcAft>
                        <a:buNone/>
                      </a:pPr>
                      <a:r>
                        <a:rPr b="1" lang="en-US" sz="1800"/>
                        <a:t>ABYC E-11</a:t>
                      </a:r>
                      <a:endParaRPr b="1" sz="1800"/>
                    </a:p>
                  </a:txBody>
                  <a:tcPr marT="19050" marB="19050" marR="28575" marL="28575" anchor="ctr">
                    <a:lnL cap="flat" cmpd="sng" w="19050">
                      <a:solidFill>
                        <a:srgbClr val="061C28"/>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rgbClr val="061C28"/>
                      </a:solidFill>
                      <a:prstDash val="solid"/>
                      <a:round/>
                      <a:headEnd len="sm" w="sm" type="none"/>
                      <a:tailEnd len="sm" w="sm" type="none"/>
                    </a:lnB>
                    <a:solidFill>
                      <a:schemeClr val="accent3"/>
                    </a:solidFill>
                  </a:tcPr>
                </a:tc>
                <a:tc hMerge="1"/>
              </a:tr>
              <a:tr h="1143000">
                <a:tc>
                  <a:txBody>
                    <a:bodyPr/>
                    <a:lstStyle/>
                    <a:p>
                      <a:pPr indent="0" lvl="0" marL="0" rtl="0" algn="ctr">
                        <a:lnSpc>
                          <a:spcPct val="115000"/>
                        </a:lnSpc>
                        <a:spcBef>
                          <a:spcPts val="0"/>
                        </a:spcBef>
                        <a:spcAft>
                          <a:spcPts val="0"/>
                        </a:spcAft>
                        <a:buNone/>
                      </a:pPr>
                      <a:r>
                        <a:rPr lang="en-US" sz="1600">
                          <a:solidFill>
                            <a:schemeClr val="dk1"/>
                          </a:solidFill>
                        </a:rPr>
                        <a:t>Simplicity</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a:t>
                      </a:r>
                      <a:r>
                        <a:rPr lang="en-US" sz="1600">
                          <a:solidFill>
                            <a:schemeClr val="dk1"/>
                          </a:solidFill>
                        </a:rPr>
                        <a:t>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Number of required colors/rules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FALSE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6</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10.77</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13</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0.00%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rgbClr val="061C28"/>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143000">
                <a:tc>
                  <a:txBody>
                    <a:bodyPr/>
                    <a:lstStyle/>
                    <a:p>
                      <a:pPr indent="0" lvl="0" marL="0" rtl="0" algn="ctr">
                        <a:lnSpc>
                          <a:spcPct val="115000"/>
                        </a:lnSpc>
                        <a:spcBef>
                          <a:spcPts val="0"/>
                        </a:spcBef>
                        <a:spcAft>
                          <a:spcPts val="0"/>
                        </a:spcAft>
                        <a:buNone/>
                      </a:pPr>
                      <a:r>
                        <a:rPr lang="en-US" sz="1600">
                          <a:solidFill>
                            <a:schemeClr val="dk1"/>
                          </a:solidFill>
                        </a:rPr>
                        <a:t>Ease of Debugging</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6</a:t>
                      </a:r>
                      <a:r>
                        <a:rPr lang="en-US" sz="1600">
                          <a:solidFill>
                            <a:schemeClr val="dk1"/>
                          </a:solidFill>
                        </a:rPr>
                        <a:t>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Difficult to measure, based on number of useful colors/subsystems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TRUE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6</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40.00</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9</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60.00</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143000">
                <a:tc>
                  <a:txBody>
                    <a:bodyPr/>
                    <a:lstStyle/>
                    <a:p>
                      <a:pPr indent="0" lvl="0" marL="0" rtl="0" algn="ctr">
                        <a:lnSpc>
                          <a:spcPct val="115000"/>
                        </a:lnSpc>
                        <a:spcBef>
                          <a:spcPts val="0"/>
                        </a:spcBef>
                        <a:spcAft>
                          <a:spcPts val="0"/>
                        </a:spcAft>
                        <a:buNone/>
                      </a:pPr>
                      <a:r>
                        <a:rPr lang="en-US" sz="1600">
                          <a:solidFill>
                            <a:schemeClr val="dk1"/>
                          </a:solidFill>
                        </a:rPr>
                        <a:t>Standardized Colors</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20%</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Use of the coloring scheme, popularity in ROV industry by percent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TRUE</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99</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20.00</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90</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dk1"/>
                          </a:solidFill>
                        </a:rPr>
                        <a:t>18.18</a:t>
                      </a:r>
                      <a:r>
                        <a:rPr lang="en-US" sz="1600">
                          <a:solidFill>
                            <a:schemeClr val="dk1"/>
                          </a:solidFill>
                        </a:rPr>
                        <a:t>%</a:t>
                      </a:r>
                      <a:endParaRPr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18125">
                <a:tc gridSpan="4">
                  <a:txBody>
                    <a:bodyPr/>
                    <a:lstStyle/>
                    <a:p>
                      <a:pPr indent="0" lvl="0" marL="0" rtl="0" algn="ctr">
                        <a:lnSpc>
                          <a:spcPct val="115000"/>
                        </a:lnSpc>
                        <a:spcBef>
                          <a:spcPts val="0"/>
                        </a:spcBef>
                        <a:spcAft>
                          <a:spcPts val="0"/>
                        </a:spcAft>
                        <a:buNone/>
                      </a:pPr>
                      <a:r>
                        <a:rPr b="1" lang="en-US" sz="1600">
                          <a:solidFill>
                            <a:schemeClr val="dk1"/>
                          </a:solidFill>
                        </a:rPr>
                        <a:t>Totals</a:t>
                      </a:r>
                      <a:endParaRPr b="1" sz="1600">
                        <a:solidFill>
                          <a:schemeClr val="dk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c>
                  <a:txBody>
                    <a:bodyPr/>
                    <a:lstStyle/>
                    <a:p>
                      <a:pPr indent="0" lvl="0" marL="0" rtl="0" algn="l">
                        <a:spcBef>
                          <a:spcPts val="0"/>
                        </a:spcBef>
                        <a:spcAft>
                          <a:spcPts val="0"/>
                        </a:spcAft>
                        <a:buNone/>
                      </a:pPr>
                      <a:r>
                        <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lt1"/>
                          </a:solidFill>
                        </a:rPr>
                        <a:t>70.77</a:t>
                      </a:r>
                      <a:r>
                        <a:rPr lang="en-US" sz="1600">
                          <a:solidFill>
                            <a:schemeClr val="lt1"/>
                          </a:solidFill>
                        </a:rPr>
                        <a:t>%</a:t>
                      </a:r>
                      <a:endParaRPr sz="1600">
                        <a:solidFill>
                          <a:schemeClr val="lt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061C28"/>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0000"/>
                    </a:solidFill>
                  </a:tcPr>
                </a:tc>
                <a:tc>
                  <a:txBody>
                    <a:bodyPr/>
                    <a:lstStyle/>
                    <a:p>
                      <a:pPr indent="0" lvl="0" marL="0" rtl="0" algn="l">
                        <a:spcBef>
                          <a:spcPts val="0"/>
                        </a:spcBef>
                        <a:spcAft>
                          <a:spcPts val="0"/>
                        </a:spcAft>
                        <a:buNone/>
                      </a:pPr>
                      <a:r>
                        <a:t/>
                      </a:r>
                      <a:endParaRPr sz="1600">
                        <a:solidFill>
                          <a:schemeClr val="dk1"/>
                        </a:solidFill>
                      </a:endParaRPr>
                    </a:p>
                  </a:txBody>
                  <a:tcPr marT="19050" marB="19050" marR="28575" marL="28575" anchor="ctr">
                    <a:lnL cap="flat" cmpd="sng" w="19050">
                      <a:solidFill>
                        <a:srgbClr val="061C28"/>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lang="en-US" sz="1600">
                          <a:solidFill>
                            <a:schemeClr val="lt1"/>
                          </a:solidFill>
                        </a:rPr>
                        <a:t>78.18</a:t>
                      </a:r>
                      <a:r>
                        <a:rPr lang="en-US" sz="1600">
                          <a:solidFill>
                            <a:schemeClr val="lt1"/>
                          </a:solidFill>
                        </a:rPr>
                        <a:t>%</a:t>
                      </a:r>
                      <a:endParaRPr sz="1600">
                        <a:solidFill>
                          <a:schemeClr val="lt1"/>
                        </a:solidFill>
                      </a:endParaRPr>
                    </a:p>
                  </a:txBody>
                  <a:tcPr marT="19050" marB="19050" marR="28575" marL="28575" anchor="ctr">
                    <a:lnL cap="flat" cmpd="sng" w="9525">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34A853"/>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TT_Palet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