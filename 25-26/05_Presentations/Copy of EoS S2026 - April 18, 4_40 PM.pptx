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Balthazar"/>
      <p:regular r:id="rId57"/>
    </p:embeddedFont>
    <p:embeddedFont>
      <p:font typeface="Oswald"/>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7429CB-9F42-4AAD-9DD0-7BAEA2768FF5}">
  <a:tblStyle styleId="{987429CB-9F42-4AAD-9DD0-7BAEA2768FF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Balthazar-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Oswald-bold.fntdata"/><Relationship Id="rId14" Type="http://schemas.openxmlformats.org/officeDocument/2006/relationships/slide" Target="slides/slide8.xml"/><Relationship Id="rId58" Type="http://schemas.openxmlformats.org/officeDocument/2006/relationships/font" Target="fonts/Oswald-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853b90fb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853b90fb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2853b90fb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2853b90fb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cbaf4a7c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cbaf4a7c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2fa930c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2fa930c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Primary objective number 4 is not required task to show in the video demonstration, however, it should still be a primary objective since it is a assigned task for worlds!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660a27fb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660a27fb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MATE ROV provided us 4 different tasks. Some of them will take place in different </a:t>
            </a:r>
            <a:r>
              <a:rPr lang="en"/>
              <a:t>environments</a:t>
            </a:r>
            <a:r>
              <a:rPr lang="en"/>
              <a:t> which will be specified in the name that we give the tasks. </a:t>
            </a:r>
            <a:endParaRPr/>
          </a:p>
          <a:p>
            <a:pPr indent="0" lvl="0" marL="0" rtl="0" algn="l">
              <a:spcBef>
                <a:spcPts val="0"/>
              </a:spcBef>
              <a:spcAft>
                <a:spcPts val="0"/>
              </a:spcAft>
              <a:buNone/>
            </a:pPr>
            <a:r>
              <a:rPr lang="en"/>
              <a:t>We call Task 1 Coral Garden in Flume Tank. </a:t>
            </a:r>
            <a:endParaRPr/>
          </a:p>
          <a:p>
            <a:pPr indent="0" lvl="0" marL="0" rtl="0" algn="l">
              <a:spcBef>
                <a:spcPts val="0"/>
              </a:spcBef>
              <a:spcAft>
                <a:spcPts val="0"/>
              </a:spcAft>
              <a:buNone/>
            </a:pPr>
            <a:r>
              <a:rPr lang="en"/>
              <a:t>In Phase 1, the ROV descends to the coral garden  </a:t>
            </a:r>
            <a:r>
              <a:rPr lang="en"/>
              <a:t>while</a:t>
            </a:r>
            <a:r>
              <a:rPr lang="en"/>
              <a:t> team Oceanus confirms camera visibility and establishes awareness of the ROV’s location.</a:t>
            </a:r>
            <a:endParaRPr/>
          </a:p>
          <a:p>
            <a:pPr indent="0" lvl="0" marL="0" rtl="0" algn="l">
              <a:spcBef>
                <a:spcPts val="0"/>
              </a:spcBef>
              <a:spcAft>
                <a:spcPts val="0"/>
              </a:spcAft>
              <a:buNone/>
            </a:pPr>
            <a:r>
              <a:rPr lang="en"/>
              <a:t>In Phase 2, the ROV maintains position over the coral garden under a current, this while creating a video of the site. The ROV must be able to maintain stable motion and collect video of the coral garden without the visibility of the red pipes. </a:t>
            </a:r>
            <a:endParaRPr/>
          </a:p>
          <a:p>
            <a:pPr indent="0" lvl="0" marL="0" rtl="0" algn="l">
              <a:spcBef>
                <a:spcPts val="0"/>
              </a:spcBef>
              <a:spcAft>
                <a:spcPts val="0"/>
              </a:spcAft>
              <a:buNone/>
            </a:pPr>
            <a:r>
              <a:rPr lang="en"/>
              <a:t>If the video shows these red pipes or is unable to show the blue pipes, it will invalidate that attemp.</a:t>
            </a:r>
            <a:endParaRPr/>
          </a:p>
          <a:p>
            <a:pPr indent="0" lvl="0" marL="0" rtl="0" algn="l">
              <a:spcBef>
                <a:spcPts val="0"/>
              </a:spcBef>
              <a:spcAft>
                <a:spcPts val="0"/>
              </a:spcAft>
              <a:buNone/>
            </a:pPr>
            <a:r>
              <a:rPr lang="en"/>
              <a:t>In Phase 3, Our approach will be autonomous photogrammetry, where the ROV surveys around the garden to collect images and create a scaled 3D model of the coral garden.</a:t>
            </a:r>
            <a:endParaRPr/>
          </a:p>
          <a:p>
            <a:pPr indent="0" lvl="0" marL="0" rtl="0" algn="l">
              <a:spcBef>
                <a:spcPts val="0"/>
              </a:spcBef>
              <a:spcAft>
                <a:spcPts val="0"/>
              </a:spcAft>
              <a:buNone/>
            </a:pPr>
            <a:r>
              <a:rPr lang="en"/>
              <a:t>If we are unable to make a rotable 3D model, we won’t get any points </a:t>
            </a:r>
            <a:endParaRPr/>
          </a:p>
          <a:p>
            <a:pPr indent="0" lvl="0" marL="0" rtl="0" algn="l">
              <a:spcBef>
                <a:spcPts val="0"/>
              </a:spcBef>
              <a:spcAft>
                <a:spcPts val="0"/>
              </a:spcAft>
              <a:buNone/>
            </a:pPr>
            <a:r>
              <a:rPr lang="en"/>
              <a:t>In phase 4, the ROV does biological sampling. We are tasked to collect two of each of the species by the substrate only within the garden without damaging the coral.</a:t>
            </a:r>
            <a:endParaRPr/>
          </a:p>
          <a:p>
            <a:pPr indent="0" lvl="0" marL="0" rtl="0" algn="l">
              <a:spcBef>
                <a:spcPts val="0"/>
              </a:spcBef>
              <a:spcAft>
                <a:spcPts val="0"/>
              </a:spcAft>
              <a:buNone/>
            </a:pPr>
            <a:r>
              <a:rPr lang="en"/>
              <a:t>If we collect these species not by the substrate, we will get half the points for them.</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660a27f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660a27f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2 is called Threat Mitigation &amp; Recovery, Phase 1 and 2 will take place in the flume tank while phases 3 to 5 will take place in the Basin tank.</a:t>
            </a:r>
            <a:endParaRPr/>
          </a:p>
          <a:p>
            <a:pPr indent="0" lvl="0" marL="0" rtl="0" algn="l">
              <a:spcBef>
                <a:spcPts val="0"/>
              </a:spcBef>
              <a:spcAft>
                <a:spcPts val="0"/>
              </a:spcAft>
              <a:buNone/>
            </a:pPr>
            <a:r>
              <a:rPr lang="en"/>
              <a:t>In Phase 1, the ROV will determine the number of invasive European green cards within the sample area. This through image recognition. </a:t>
            </a:r>
            <a:endParaRPr/>
          </a:p>
          <a:p>
            <a:pPr indent="0" lvl="0" marL="0" rtl="0" algn="l">
              <a:spcBef>
                <a:spcPts val="0"/>
              </a:spcBef>
              <a:spcAft>
                <a:spcPts val="0"/>
              </a:spcAft>
              <a:buNone/>
            </a:pPr>
            <a:r>
              <a:rPr lang="en"/>
              <a:t>Only one attempt is allowed for this phase.</a:t>
            </a:r>
            <a:endParaRPr/>
          </a:p>
          <a:p>
            <a:pPr indent="0" lvl="0" marL="0" rtl="0" algn="l">
              <a:spcBef>
                <a:spcPts val="0"/>
              </a:spcBef>
              <a:spcAft>
                <a:spcPts val="0"/>
              </a:spcAft>
              <a:buNone/>
            </a:pPr>
            <a:r>
              <a:rPr lang="en"/>
              <a:t>Incorrect count of crabs will result in zero points</a:t>
            </a:r>
            <a:endParaRPr/>
          </a:p>
          <a:p>
            <a:pPr indent="0" lvl="0" marL="0" rtl="0" algn="l">
              <a:spcBef>
                <a:spcPts val="0"/>
              </a:spcBef>
              <a:spcAft>
                <a:spcPts val="0"/>
              </a:spcAft>
              <a:buNone/>
            </a:pPr>
            <a:r>
              <a:rPr lang="en"/>
              <a:t>Once the count is done, the data will be uploaded to the Invasive Species Form</a:t>
            </a:r>
            <a:endParaRPr/>
          </a:p>
          <a:p>
            <a:pPr indent="0" lvl="0" marL="0" rtl="0" algn="l">
              <a:spcBef>
                <a:spcPts val="0"/>
              </a:spcBef>
              <a:spcAft>
                <a:spcPts val="0"/>
              </a:spcAft>
              <a:buNone/>
            </a:pPr>
            <a:r>
              <a:rPr lang="en"/>
              <a:t>In phase 2, the ROV will survey an iceberg at 5 </a:t>
            </a:r>
            <a:r>
              <a:rPr lang="en"/>
              <a:t>different</a:t>
            </a:r>
            <a:r>
              <a:rPr lang="en"/>
              <a:t> locations to measure the its keel depth. By using the icebergs location and keel depth, we will determine the threat level of this iceberg. </a:t>
            </a:r>
            <a:endParaRPr/>
          </a:p>
          <a:p>
            <a:pPr indent="0" lvl="0" marL="0" rtl="0" algn="l">
              <a:spcBef>
                <a:spcPts val="0"/>
              </a:spcBef>
              <a:spcAft>
                <a:spcPts val="0"/>
              </a:spcAft>
              <a:buNone/>
            </a:pPr>
            <a:r>
              <a:rPr lang="en"/>
              <a:t>ROV can survey less than 5 different locations but that will result in less points.</a:t>
            </a:r>
            <a:endParaRPr/>
          </a:p>
          <a:p>
            <a:pPr indent="0" lvl="0" marL="0" rtl="0" algn="l">
              <a:spcBef>
                <a:spcPts val="0"/>
              </a:spcBef>
              <a:spcAft>
                <a:spcPts val="0"/>
              </a:spcAft>
              <a:buNone/>
            </a:pPr>
            <a:r>
              <a:rPr lang="en"/>
              <a:t>In Phase 3, the ROV will simulate an acoustic release </a:t>
            </a:r>
            <a:r>
              <a:rPr lang="en">
                <a:solidFill>
                  <a:schemeClr val="dk1"/>
                </a:solidFill>
              </a:rPr>
              <a:t>of whale fishing gear </a:t>
            </a:r>
            <a:r>
              <a:rPr lang="en"/>
              <a:t>by turning a handle as seen in the image. Once the gear is released, the lobster pot will be recovered by the ROV and </a:t>
            </a:r>
            <a:r>
              <a:rPr lang="en"/>
              <a:t>returned</a:t>
            </a:r>
            <a:r>
              <a:rPr lang="en"/>
              <a:t> to the surface at the side of the pool. </a:t>
            </a:r>
            <a:endParaRPr/>
          </a:p>
          <a:p>
            <a:pPr indent="0" lvl="0" marL="0" rtl="0" algn="l">
              <a:spcBef>
                <a:spcPts val="0"/>
              </a:spcBef>
              <a:spcAft>
                <a:spcPts val="0"/>
              </a:spcAft>
              <a:buNone/>
            </a:pPr>
            <a:r>
              <a:rPr lang="en"/>
              <a:t>The acoustic release must be done before the lobster pot or we wont get any points for this acoustic release.</a:t>
            </a:r>
            <a:endParaRPr/>
          </a:p>
          <a:p>
            <a:pPr indent="0" lvl="0" marL="0" rtl="0" algn="l">
              <a:spcBef>
                <a:spcPts val="0"/>
              </a:spcBef>
              <a:spcAft>
                <a:spcPts val="0"/>
              </a:spcAft>
              <a:buNone/>
            </a:pPr>
            <a:r>
              <a:rPr lang="en"/>
              <a:t>In phase 4, the ROV will attach a recovery line to the </a:t>
            </a:r>
            <a:r>
              <a:rPr lang="en"/>
              <a:t>buoy</a:t>
            </a:r>
            <a:r>
              <a:rPr lang="en"/>
              <a:t> anchor and </a:t>
            </a:r>
            <a:r>
              <a:rPr lang="en"/>
              <a:t>return the line to the surface. </a:t>
            </a:r>
            <a:endParaRPr/>
          </a:p>
          <a:p>
            <a:pPr indent="0" lvl="0" marL="0" rtl="0" algn="l">
              <a:spcBef>
                <a:spcPts val="0"/>
              </a:spcBef>
              <a:spcAft>
                <a:spcPts val="0"/>
              </a:spcAft>
              <a:buNone/>
            </a:pPr>
            <a:r>
              <a:rPr lang="en"/>
              <a:t>Reattempts for this task is permitted.</a:t>
            </a:r>
            <a:endParaRPr/>
          </a:p>
          <a:p>
            <a:pPr indent="0" lvl="0" marL="0" rtl="0" algn="l">
              <a:spcBef>
                <a:spcPts val="0"/>
              </a:spcBef>
              <a:spcAft>
                <a:spcPts val="0"/>
              </a:spcAft>
              <a:buNone/>
            </a:pPr>
            <a:r>
              <a:rPr lang="en"/>
              <a:t>In phase 5, the ROV will recover the old eDNA biosensor to the surface. Its data will be analized to derminte the frequency of detected organisms. Then the ROV will install a new sensor. Finally the ROV will rotate the inner plastic sheet of the observatory camera, motion required to clean this camera.</a:t>
            </a:r>
            <a:endParaRPr/>
          </a:p>
          <a:p>
            <a:pPr indent="0" lvl="0" marL="0" rtl="0" algn="l">
              <a:spcBef>
                <a:spcPts val="0"/>
              </a:spcBef>
              <a:spcAft>
                <a:spcPts val="0"/>
              </a:spcAft>
              <a:buNone/>
            </a:pPr>
            <a:r>
              <a:rPr lang="en"/>
              <a:t>Reattempts are allowed for this phase. Sensor tipping or leaving the area will reduce our score.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660a27fb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660a27fb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3 is called Powering an Oil Platform in the Basin Tank. </a:t>
            </a:r>
            <a:endParaRPr/>
          </a:p>
          <a:p>
            <a:pPr indent="0" lvl="0" marL="0" rtl="0" algn="l">
              <a:spcBef>
                <a:spcPts val="0"/>
              </a:spcBef>
              <a:spcAft>
                <a:spcPts val="0"/>
              </a:spcAft>
              <a:buNone/>
            </a:pPr>
            <a:r>
              <a:rPr lang="en"/>
              <a:t>In Phase 1, the ROV will deploy a bubble curtain </a:t>
            </a:r>
            <a:r>
              <a:rPr lang="en"/>
              <a:t>around</a:t>
            </a:r>
            <a:r>
              <a:rPr lang="en"/>
              <a:t> the micropile location. To succeed, the ROV must not have contact with the micropile location.</a:t>
            </a:r>
            <a:endParaRPr/>
          </a:p>
          <a:p>
            <a:pPr indent="0" lvl="0" marL="0" rtl="0" algn="l">
              <a:spcBef>
                <a:spcPts val="0"/>
              </a:spcBef>
              <a:spcAft>
                <a:spcPts val="0"/>
              </a:spcAft>
              <a:buNone/>
            </a:pPr>
            <a:r>
              <a:rPr lang="en"/>
              <a:t>In Phase 2, the ROV will provide visual guidance to team Oceanus to manually lower the micropile and install it. Once again, the ROV cannot be in contact with the micropile. Once the micropile is installed, the ROV will remove the pin that connect the micropile to the string.</a:t>
            </a:r>
            <a:endParaRPr/>
          </a:p>
          <a:p>
            <a:pPr indent="0" lvl="0" marL="0" rtl="0" algn="l">
              <a:spcBef>
                <a:spcPts val="0"/>
              </a:spcBef>
              <a:spcAft>
                <a:spcPts val="0"/>
              </a:spcAft>
              <a:buNone/>
            </a:pPr>
            <a:r>
              <a:rPr lang="en"/>
              <a:t>In Phase 3, the ROV will route the cable of the wind farm along the floor. The cable must be laid through a waypoint near the micropile.</a:t>
            </a:r>
            <a:endParaRPr/>
          </a:p>
          <a:p>
            <a:pPr indent="0" lvl="0" marL="0" rtl="0" algn="l">
              <a:spcBef>
                <a:spcPts val="0"/>
              </a:spcBef>
              <a:spcAft>
                <a:spcPts val="0"/>
              </a:spcAft>
              <a:buNone/>
            </a:pPr>
            <a:r>
              <a:rPr lang="en"/>
              <a:t>In Phase 4, the ROV will remove the protective cover from the oil platform port and install the power connector.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660a27fb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660a27fb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4 is called Floats under icea, which will take place in an ice tank. </a:t>
            </a:r>
            <a:endParaRPr/>
          </a:p>
          <a:p>
            <a:pPr indent="0" lvl="0" marL="0" rtl="0" algn="l">
              <a:spcBef>
                <a:spcPts val="0"/>
              </a:spcBef>
              <a:spcAft>
                <a:spcPts val="0"/>
              </a:spcAft>
              <a:buNone/>
            </a:pPr>
            <a:r>
              <a:rPr lang="en"/>
              <a:t>In phase 1, the float must establish communication with the station before entering the water. The float will transmit an initial data packet.</a:t>
            </a:r>
            <a:endParaRPr/>
          </a:p>
          <a:p>
            <a:pPr indent="0" lvl="0" marL="0" rtl="0" algn="l">
              <a:spcBef>
                <a:spcPts val="0"/>
              </a:spcBef>
              <a:spcAft>
                <a:spcPts val="0"/>
              </a:spcAft>
              <a:buNone/>
            </a:pPr>
            <a:r>
              <a:rPr lang="en"/>
              <a:t>In phase 2, the first vertical profile will take place. The float will autonomously descend to a target depth of 2.5 meters and hold its depth for 30 seconds while collecting data. Then the float wil ascend to 40 cm below ice and hold for 30 seconds. In order to be done with this phase, the float must have collected 7 data packets. </a:t>
            </a:r>
            <a:endParaRPr/>
          </a:p>
          <a:p>
            <a:pPr indent="0" lvl="0" marL="0" rtl="0" algn="l">
              <a:spcBef>
                <a:spcPts val="0"/>
              </a:spcBef>
              <a:spcAft>
                <a:spcPts val="0"/>
              </a:spcAft>
              <a:buNone/>
            </a:pPr>
            <a:r>
              <a:rPr lang="en"/>
              <a:t>In phase 3, the second vertical </a:t>
            </a:r>
            <a:r>
              <a:rPr lang="en"/>
              <a:t>profile</a:t>
            </a:r>
            <a:r>
              <a:rPr lang="en"/>
              <a:t> will take place. The float will again descend, hold its depth, ascend and hold again. This while collecting data. In order to be done with this phase, the float must collect 7 data packets. </a:t>
            </a:r>
            <a:endParaRPr/>
          </a:p>
          <a:p>
            <a:pPr indent="0" lvl="0" marL="0" rtl="0" algn="l">
              <a:spcBef>
                <a:spcPts val="0"/>
              </a:spcBef>
              <a:spcAft>
                <a:spcPts val="0"/>
              </a:spcAft>
              <a:buNone/>
            </a:pPr>
            <a:r>
              <a:rPr lang="en"/>
              <a:t>In phase 4, the float is recovered from the water by a ROV operated by the competition. The data from the float will get transmitted to the receiver.</a:t>
            </a:r>
            <a:endParaRPr/>
          </a:p>
          <a:p>
            <a:pPr indent="0" lvl="0" marL="0" rtl="0" algn="l">
              <a:spcBef>
                <a:spcPts val="0"/>
              </a:spcBef>
              <a:spcAft>
                <a:spcPts val="0"/>
              </a:spcAft>
              <a:buNone/>
            </a:pPr>
            <a:r>
              <a:rPr lang="en"/>
              <a:t>In phase 5, the float will transit its data to the mission station to create a depth over time graph.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28583a7d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28583a7d9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cbaf4a7cb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cbaf4a7cb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notes: </a:t>
            </a:r>
            <a:endParaRPr/>
          </a:p>
          <a:p>
            <a:pPr indent="0" lvl="0" marL="0" rtl="0" algn="l">
              <a:spcBef>
                <a:spcPts val="0"/>
              </a:spcBef>
              <a:spcAft>
                <a:spcPts val="0"/>
              </a:spcAft>
              <a:buNone/>
            </a:pPr>
            <a:r>
              <a:rPr lang="en"/>
              <a:t>The chassis is built around a modular frame made from PETG. The electronics enclosure is 300 mm, made out of aluminum, equipped with o-ring flanges and end caps to create a waterproof container. The frame is composed of three rings, which are each separated into two half rings, which are fastened together at two tabs. This was to consider </a:t>
            </a:r>
            <a:r>
              <a:rPr lang="en"/>
              <a:t>accessibility</a:t>
            </a:r>
            <a:r>
              <a:rPr lang="en"/>
              <a:t> to the electronics enclosure (half rings) while still focusing forces towards the core cylinder of the ROV. The front of the ROV has an extension for the manipulator’s hinge, which is to prevent the arm from making contact with the ROV. The front and back interfaces are filleted at the leading edges to reduce drag, and have an open structure to reduce wake strength. The side frames however, do not include holes to make for more predictable shedding over cavity vortices.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d75ea15c3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d75ea15c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notes: </a:t>
            </a:r>
            <a:endParaRPr/>
          </a:p>
          <a:p>
            <a:pPr indent="0" lvl="0" marL="0" rtl="0" algn="l">
              <a:spcBef>
                <a:spcPts val="0"/>
              </a:spcBef>
              <a:spcAft>
                <a:spcPts val="0"/>
              </a:spcAft>
              <a:buNone/>
            </a:pPr>
            <a:r>
              <a:rPr lang="en"/>
              <a:t>Hinge will be able to rotate 90 degrees upward and 180 degrees downwards in order to be able to lift certain objects out of the pool and to be able to </a:t>
            </a:r>
            <a:r>
              <a:rPr lang="en"/>
              <a:t>accommodate</a:t>
            </a:r>
            <a:r>
              <a:rPr lang="en"/>
              <a:t> for one of the tasks. Reinforcement will be placed on the hinge alongside a hardstop and a program to stop the gears from overworking. However, this </a:t>
            </a:r>
            <a:r>
              <a:rPr lang="en"/>
              <a:t>mechanism</a:t>
            </a:r>
            <a:r>
              <a:rPr lang="en"/>
              <a:t> is not as worrying as it would be above water due to water relieving some of that strain. Handling would just have to be very careful and </a:t>
            </a:r>
            <a:r>
              <a:rPr lang="en"/>
              <a:t>mindful</a:t>
            </a:r>
            <a:r>
              <a:rPr lang="en"/>
              <a:t> that above water. Additionally, the claw has two different </a:t>
            </a:r>
            <a:r>
              <a:rPr lang="en"/>
              <a:t>holes, one to account for the PPC pipe structures and the other to grab a pin (with the small hole being farther out so it is easier for the driver to grab it. The interior would be made out of a specific rubber that is made for underwater handling (Neoprene or EDTM). Wrist joint would be able to allow the front half of the mechanism to go side to side. Some parts of the mechanism will be 3d printed and other parts made during manufacturing.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cbaf4a7c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cbaf4a7c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was selected as the primary structural material for the ROV due to its manufacturability and repairability. PETG passes all the environmental screening with corrosion resistance, minimum temperature, and with its quick manufacturability it allows for great iterative development and prototyping at a low cost.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Integration and System Compatibility</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frame must contain at least 1 point of attachment for each required accessory.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have 5 independently removable subsystems.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has very straightforward integration with easily manufacturable (3D printing) embedded channels and mounting bosses, which reduces part count and fastener complexity. It is also easily threadable, no galvanic corrosion, and bonding which allows for thrusters, the enclosure, and floatation elements,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Safety</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use 0 conductive materials near open electronics.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use 0 toxic materials for all surfaces handled by team members.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materials must be skin-safe for all surfaces handled by team members.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have 0 sharp edges.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can be manufactured with all sharp edges fileted, avoiding any sharp edges. Not only that, it is also non toxic and skin safe, meeting those requirements. Finally, it provides inherent insulation, reducing the hazards associated with electricity.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Chemical/Physical Deformation </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float materials must experience 0 physical or chemical changes in saltwater or salt brine pool environments for the length of the project timeline.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external materials must be rated to a depth of at least 7 meters.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can be easily coated to ensure chemical resistance to saltwater. It does not corrode and faces no galvanic degradation. Over the duration of testing/competition, the ROV will operate in shallow-water conditions and will not experience plastic deformation when the geometries are designed well enough, and can be met through proper design, rather than a reliance on material alone.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Repairability and Manufacturability</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wear items must have at least 1 spare.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Repairability and Manufacturability are critical due to the testing environment and development process. As a first time team with little to none experience, making rapid repairs and iterations are essential which make PETG a perfect candidate.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d75ea15c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d75ea15c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 notes:</a:t>
            </a:r>
            <a:endParaRPr/>
          </a:p>
          <a:p>
            <a:pPr indent="-298450" lvl="0" marL="457200" rtl="0" algn="l">
              <a:spcBef>
                <a:spcPts val="0"/>
              </a:spcBef>
              <a:spcAft>
                <a:spcPts val="0"/>
              </a:spcAft>
              <a:buSzPts val="1100"/>
              <a:buChar char="-"/>
            </a:pPr>
            <a:r>
              <a:rPr lang="en"/>
              <a:t>TMS-specific features include the</a:t>
            </a:r>
            <a:r>
              <a:rPr b="1" lang="en"/>
              <a:t> modified cast acrylic housing</a:t>
            </a:r>
            <a:r>
              <a:rPr lang="en"/>
              <a:t> (holes for sensors/ballast pump), </a:t>
            </a:r>
            <a:r>
              <a:rPr b="1" lang="en"/>
              <a:t>PETG recovery rings </a:t>
            </a:r>
            <a:r>
              <a:rPr lang="en"/>
              <a:t>(required by rules 5cm internal width and 5cm internal height), </a:t>
            </a:r>
            <a:r>
              <a:rPr b="1" lang="en"/>
              <a:t>buoyancy/insulating foam </a:t>
            </a:r>
            <a:r>
              <a:rPr lang="en"/>
              <a:t>(4mm inside to increase buoyancy and insulate hull), </a:t>
            </a:r>
            <a:r>
              <a:rPr b="1" lang="en"/>
              <a:t>heating pad and thermistors </a:t>
            </a:r>
            <a:r>
              <a:rPr lang="en"/>
              <a:t>(5 Watts to maintain 9 C and thermistors to indicate the need for an emergency shut-off if temp gets too high), </a:t>
            </a:r>
            <a:r>
              <a:rPr b="1" lang="en"/>
              <a:t>pressure release </a:t>
            </a:r>
            <a:r>
              <a:rPr lang="en"/>
              <a:t>(all you, could CAD this real quick tmrw if you have specifics by then)</a:t>
            </a:r>
            <a:endParaRPr/>
          </a:p>
          <a:p>
            <a:pPr indent="0" lvl="0" marL="0" rtl="0" algn="l">
              <a:spcBef>
                <a:spcPts val="0"/>
              </a:spcBef>
              <a:spcAft>
                <a:spcPts val="0"/>
              </a:spcAft>
              <a:buNone/>
            </a:pPr>
            <a:r>
              <a:rPr lang="en"/>
              <a:t>	*hull modifications will be sealed/adhered using Loctite Marine Epoxy for its cured operating temperature range*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CAD displayed is missing the bladder for the buoyancy system, say that it will be discussed by F&amp;P and when it gets to them Vincent will talk about how a bladder connects to the pump valves (2 grey things protruding from the bottom).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Structure is designed to be neutrally buoyant (water solution has a higher density than regular water), and adding foam and/or weights to dial in buoyancy will be feasible as needed.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cbaf4a7c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cbaf4a7c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cbaf4a7cb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cbaf4a7cb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cbaf4a7cb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cbaf4a7cb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cbaf4a7c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cbaf4a7c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current </a:t>
            </a:r>
            <a:r>
              <a:rPr lang="en"/>
              <a:t>thruster configuration provides 5 degrees of freedom. </a:t>
            </a:r>
            <a:endParaRPr/>
          </a:p>
          <a:p>
            <a:pPr indent="0" lvl="0" marL="0" rtl="0" algn="l">
              <a:spcBef>
                <a:spcPts val="0"/>
              </a:spcBef>
              <a:spcAft>
                <a:spcPts val="0"/>
              </a:spcAft>
              <a:buNone/>
            </a:pPr>
            <a:r>
              <a:rPr lang="en"/>
              <a:t>The horizontal thrusters (VT1-4) will be placed in the same horizontal plane as the center of mass </a:t>
            </a:r>
            <a:endParaRPr/>
          </a:p>
          <a:p>
            <a:pPr indent="0" lvl="0" marL="0" rtl="0" algn="l">
              <a:spcBef>
                <a:spcPts val="0"/>
              </a:spcBef>
              <a:spcAft>
                <a:spcPts val="0"/>
              </a:spcAft>
              <a:buNone/>
            </a:pPr>
            <a:r>
              <a:rPr lang="en"/>
              <a:t>The vertical thrusters will be placed in the same vertical axis as the robotic arm to provide pitch control </a:t>
            </a:r>
            <a:endParaRPr/>
          </a:p>
          <a:p>
            <a:pPr indent="0" lvl="0" marL="0" rtl="0" algn="l">
              <a:spcBef>
                <a:spcPts val="0"/>
              </a:spcBef>
              <a:spcAft>
                <a:spcPts val="0"/>
              </a:spcAft>
              <a:buNone/>
            </a:pPr>
            <a:r>
              <a:rPr lang="en"/>
              <a:t>Roll stability is to be provided utilizing the center of buoyancy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cbaf4a7cb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cbaf4a7cb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will attach a custom mesh to the pre-existing thruster guard that comes with the Diamond Dynamics Thruster kit </a:t>
            </a:r>
            <a:endParaRPr/>
          </a:p>
          <a:p>
            <a:pPr indent="-298450" lvl="0" marL="457200" rtl="0" algn="l">
              <a:spcBef>
                <a:spcPts val="0"/>
              </a:spcBef>
              <a:spcAft>
                <a:spcPts val="0"/>
              </a:spcAft>
              <a:buSzPts val="1100"/>
              <a:buChar char="●"/>
            </a:pPr>
            <a:r>
              <a:rPr lang="en"/>
              <a:t>Optimized custom mesh to be manufacturable through 3D printing</a:t>
            </a:r>
            <a:endParaRPr/>
          </a:p>
          <a:p>
            <a:pPr indent="-298450" lvl="0" marL="457200" rtl="0" algn="l">
              <a:spcBef>
                <a:spcPts val="0"/>
              </a:spcBef>
              <a:spcAft>
                <a:spcPts val="0"/>
              </a:spcAft>
              <a:buSzPts val="1100"/>
              <a:buChar char="●"/>
            </a:pPr>
            <a:r>
              <a:rPr lang="en"/>
              <a:t>Mesh will be made of HDPE 3D printing filament</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9d05c8ad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b9d05c8ad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Computational Fluid Dynamics (CFD) is meant to simulate hydrodynamic performance of ROV, this includes:</a:t>
            </a:r>
            <a:endParaRPr/>
          </a:p>
          <a:p>
            <a:pPr indent="-298450" lvl="0" marL="457200" rtl="0" algn="l">
              <a:spcBef>
                <a:spcPts val="0"/>
              </a:spcBef>
              <a:spcAft>
                <a:spcPts val="0"/>
              </a:spcAft>
              <a:buSzPts val="1100"/>
              <a:buChar char="-"/>
            </a:pPr>
            <a:r>
              <a:rPr lang="en"/>
              <a:t>Coefficient of Drag</a:t>
            </a:r>
            <a:endParaRPr/>
          </a:p>
          <a:p>
            <a:pPr indent="-298450" lvl="0" marL="457200" rtl="0" algn="l">
              <a:spcBef>
                <a:spcPts val="0"/>
              </a:spcBef>
              <a:spcAft>
                <a:spcPts val="0"/>
              </a:spcAft>
              <a:buSzPts val="1100"/>
              <a:buChar char="-"/>
            </a:pPr>
            <a:r>
              <a:rPr lang="en"/>
              <a:t>Fluid stability relative to Reynold’s number</a:t>
            </a:r>
            <a:endParaRPr/>
          </a:p>
          <a:p>
            <a:pPr indent="-298450" lvl="0" marL="457200" rtl="0" algn="l">
              <a:spcBef>
                <a:spcPts val="0"/>
              </a:spcBef>
              <a:spcAft>
                <a:spcPts val="0"/>
              </a:spcAft>
              <a:buSzPts val="1100"/>
              <a:buChar char="●"/>
            </a:pPr>
            <a:r>
              <a:rPr lang="en"/>
              <a:t>For modeling, global meshing was used for CFD analysis</a:t>
            </a:r>
            <a:endParaRPr/>
          </a:p>
          <a:p>
            <a:pPr indent="-298450" lvl="0" marL="457200" rtl="0" algn="l">
              <a:spcBef>
                <a:spcPts val="0"/>
              </a:spcBef>
              <a:spcAft>
                <a:spcPts val="0"/>
              </a:spcAft>
              <a:buSzPts val="1100"/>
              <a:buChar char="●"/>
            </a:pPr>
            <a:r>
              <a:rPr lang="en"/>
              <a:t>CFD is performed on component-level optimization</a:t>
            </a:r>
            <a:endParaRPr/>
          </a:p>
          <a:p>
            <a:pPr indent="-298450" lvl="0" marL="457200" rtl="0" algn="l">
              <a:spcBef>
                <a:spcPts val="0"/>
              </a:spcBef>
              <a:spcAft>
                <a:spcPts val="0"/>
              </a:spcAft>
              <a:buSzPts val="1100"/>
              <a:buChar char="●"/>
            </a:pPr>
            <a:r>
              <a:rPr lang="en"/>
              <a:t>(Example): Coefficient of Drag relative to front surface of chassis decreased by about 16% through component-level optimization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cbaf4a7cb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cbaf4a7cb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cbaf4a7c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cbaf4a7c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1faad0000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1faad0000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9d05c8add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b9d05c8add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d78c31bb3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bd78c31bb3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b9d05c8add_6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b9d05c8add_6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tether was selected because </a:t>
            </a:r>
            <a:r>
              <a:rPr lang="en"/>
              <a:t>It includes a CAT5 line for data, plus a dedicated 22 AWG power conductors. It’s bright color makes it visible underwater as well and simulates the "tether drag" accurately.</a:t>
            </a:r>
            <a:endParaRPr/>
          </a:p>
          <a:p>
            <a:pPr indent="0" lvl="0" marL="0" rtl="0" algn="l">
              <a:spcBef>
                <a:spcPts val="0"/>
              </a:spcBef>
              <a:spcAft>
                <a:spcPts val="0"/>
              </a:spcAft>
              <a:buNone/>
            </a:pPr>
            <a:r>
              <a:rPr lang="en"/>
              <a:t>However, if the budget doesn’t permit the purchase of this tether, there are workarounds by threading a ethernet cable through a Hollow Braid Polypropylene Rope.</a:t>
            </a:r>
            <a:endParaRPr/>
          </a:p>
          <a:p>
            <a:pPr indent="0" lvl="0" marL="0" rtl="0" algn="l">
              <a:spcBef>
                <a:spcPts val="0"/>
              </a:spcBef>
              <a:spcAft>
                <a:spcPts val="0"/>
              </a:spcAft>
              <a:buNone/>
            </a:pPr>
            <a:r>
              <a:rPr lang="en"/>
              <a:t>The converter was selected because it </a:t>
            </a:r>
            <a:r>
              <a:rPr lang="en"/>
              <a:t>can safely handle our estimated 400-watt power demand from six thrusters while maintaining stable voltage under high current and transient loads.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d78c31bb3_5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bd78c31bb3_5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cbaf4a7c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cbaf4a7c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cbaf4a7cb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acbaf4a7cb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bd756d743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bd756d743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bd756d743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bd756d743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acbaf4a7c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acbaf4a7c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b9d05c8add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b9d05c8add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e001c6d6e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e001c6d6e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cbaf4a7cb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acbaf4a7cb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001c6d6e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e001c6d6e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26be82d0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26be82d0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cbaf4a7cb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acbaf4a7cb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e001c6d6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e001c6d6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c66a7ddc1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c66a7ddc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acbaf4a7cb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acbaf4a7cb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66a7ddc1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c66a7ddc1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b9d05c8add_9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b9d05c8add_9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acbaf4a7cb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acbaf4a7cb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acbaf4a7cb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acbaf4a7cb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bd756d74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bd756d74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acbaf4a7cb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acbaf4a7cb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acbaf4a7cb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acbaf4a7cb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Having a dual camera system (auxiliary stereo). most commonly seen for ROVs due to good depth perception and optics. One for general navigation while the other is for more complex tasks like photogrammetry. Brio for general nav and ArduCam for complex tasks. will be connected to rasp pi</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acbaf4a7cb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acbaf4a7cb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cbaf4a7c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acbaf4a7c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36fb040a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936fb040a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5.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3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28.png"/><Relationship Id="rId6" Type="http://schemas.openxmlformats.org/officeDocument/2006/relationships/image" Target="../media/image55.png"/><Relationship Id="rId7"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35.png"/><Relationship Id="rId7"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23.png"/><Relationship Id="rId9" Type="http://schemas.openxmlformats.org/officeDocument/2006/relationships/image" Target="../media/image27.png"/><Relationship Id="rId5" Type="http://schemas.openxmlformats.org/officeDocument/2006/relationships/image" Target="../media/image22.gif"/><Relationship Id="rId6" Type="http://schemas.openxmlformats.org/officeDocument/2006/relationships/image" Target="../media/image33.gif"/><Relationship Id="rId7" Type="http://schemas.openxmlformats.org/officeDocument/2006/relationships/image" Target="../media/image17.png"/><Relationship Id="rId8"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29.png"/><Relationship Id="rId5"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63.png"/><Relationship Id="rId5"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38.png"/><Relationship Id="rId5"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41.png"/><Relationship Id="rId5"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docs.google.com/spreadsheets/d/13Sb-plQeWSAvOBzUxBtpeFL5Knh3YZKE/edit?usp=sharing&amp;ouid=106019899984132155279&amp;rtpof=true&amp;sd=true" TargetMode="External"/><Relationship Id="rId4" Type="http://schemas.openxmlformats.org/officeDocument/2006/relationships/hyperlink" Target="https://github.com/3lover/TAMU-MateROV" TargetMode="External"/><Relationship Id="rId5" Type="http://schemas.openxmlformats.org/officeDocument/2006/relationships/hyperlink" Target="https://docs.google.com/document/d/1bU6uz5d8EM3ehkUmnX9V_-kFIaFXAUipkFLX4Vf_orE/edit?tab=t.0" TargetMode="External"/><Relationship Id="rId6" Type="http://schemas.openxmlformats.org/officeDocument/2006/relationships/image" Target="../media/image12.png"/><Relationship Id="rId7" Type="http://schemas.openxmlformats.org/officeDocument/2006/relationships/hyperlink" Target="https://docs.google.com/presentation/d/11i2QsbjUBQXD1KpdW5D996HzfK-u_IbtbNsUVuDmje8/edit?usp=sharing" TargetMode="External"/><Relationship Id="rId8" Type="http://schemas.openxmlformats.org/officeDocument/2006/relationships/hyperlink" Target="https://docs.google.com/document/d/1XNE299L63b-dpCqDiJaWjMK25-1Y6N57GiESh_j6shU/edit?usp=shar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51.png"/><Relationship Id="rId5"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2.png"/><Relationship Id="rId4" Type="http://schemas.openxmlformats.org/officeDocument/2006/relationships/image" Target="../media/image49.png"/><Relationship Id="rId5" Type="http://schemas.openxmlformats.org/officeDocument/2006/relationships/image" Target="../media/image43.png"/><Relationship Id="rId6" Type="http://schemas.openxmlformats.org/officeDocument/2006/relationships/image" Target="../media/image5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2.png"/><Relationship Id="rId4" Type="http://schemas.openxmlformats.org/officeDocument/2006/relationships/image" Target="../media/image65.png"/><Relationship Id="rId5"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2.png"/><Relationship Id="rId4" Type="http://schemas.openxmlformats.org/officeDocument/2006/relationships/image" Target="../media/image46.png"/><Relationship Id="rId5" Type="http://schemas.openxmlformats.org/officeDocument/2006/relationships/image" Target="../media/image62.png"/><Relationship Id="rId6" Type="http://schemas.openxmlformats.org/officeDocument/2006/relationships/image" Target="../media/image6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2.png"/><Relationship Id="rId4" Type="http://schemas.openxmlformats.org/officeDocument/2006/relationships/image" Target="../media/image48.png"/><Relationship Id="rId5" Type="http://schemas.openxmlformats.org/officeDocument/2006/relationships/image" Target="../media/image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2.png"/><Relationship Id="rId4" Type="http://schemas.openxmlformats.org/officeDocument/2006/relationships/image" Target="../media/image56.png"/><Relationship Id="rId5" Type="http://schemas.openxmlformats.org/officeDocument/2006/relationships/image" Target="../media/image6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2.png"/><Relationship Id="rId4" Type="http://schemas.openxmlformats.org/officeDocument/2006/relationships/image" Target="../media/image58.png"/><Relationship Id="rId5"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3990" cy="5143500"/>
          </a:xfrm>
          <a:prstGeom prst="rect">
            <a:avLst/>
          </a:prstGeom>
          <a:noFill/>
          <a:ln>
            <a:noFill/>
          </a:ln>
        </p:spPr>
      </p:pic>
      <p:sp>
        <p:nvSpPr>
          <p:cNvPr id="55" name="Google Shape;55;p13"/>
          <p:cNvSpPr txBox="1"/>
          <p:nvPr/>
        </p:nvSpPr>
        <p:spPr>
          <a:xfrm>
            <a:off x="1130750" y="1663650"/>
            <a:ext cx="51873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700">
                <a:solidFill>
                  <a:schemeClr val="lt1"/>
                </a:solidFill>
                <a:latin typeface="Balthazar"/>
                <a:ea typeface="Balthazar"/>
                <a:cs typeface="Balthazar"/>
                <a:sym typeface="Balthazar"/>
              </a:rPr>
              <a:t>Team Oceanus</a:t>
            </a:r>
            <a:endParaRPr sz="4700">
              <a:solidFill>
                <a:schemeClr val="lt1"/>
              </a:solidFill>
              <a:latin typeface="Balthazar"/>
              <a:ea typeface="Balthazar"/>
              <a:cs typeface="Balthazar"/>
              <a:sym typeface="Balthazar"/>
            </a:endParaRPr>
          </a:p>
        </p:txBody>
      </p:sp>
      <p:cxnSp>
        <p:nvCxnSpPr>
          <p:cNvPr id="56" name="Google Shape;56;p13"/>
          <p:cNvCxnSpPr/>
          <p:nvPr/>
        </p:nvCxnSpPr>
        <p:spPr>
          <a:xfrm flipH="1" rot="10800000">
            <a:off x="1186075" y="2388875"/>
            <a:ext cx="4811700" cy="32700"/>
          </a:xfrm>
          <a:prstGeom prst="straightConnector1">
            <a:avLst/>
          </a:prstGeom>
          <a:noFill/>
          <a:ln cap="flat" cmpd="sng" w="28575">
            <a:solidFill>
              <a:schemeClr val="lt1"/>
            </a:solidFill>
            <a:prstDash val="solid"/>
            <a:round/>
            <a:headEnd len="med" w="med" type="none"/>
            <a:tailEnd len="med" w="med" type="none"/>
          </a:ln>
        </p:spPr>
      </p:cxnSp>
      <p:sp>
        <p:nvSpPr>
          <p:cNvPr id="57" name="Google Shape;57;p13"/>
          <p:cNvSpPr txBox="1"/>
          <p:nvPr/>
        </p:nvSpPr>
        <p:spPr>
          <a:xfrm>
            <a:off x="1186075" y="2421575"/>
            <a:ext cx="32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Oswald"/>
                <a:ea typeface="Oswald"/>
                <a:cs typeface="Oswald"/>
                <a:sym typeface="Oswald"/>
              </a:rPr>
              <a:t>Critical Design Review</a:t>
            </a:r>
            <a:endParaRPr sz="1800">
              <a:solidFill>
                <a:schemeClr val="lt1"/>
              </a:solidFill>
              <a:latin typeface="Oswald"/>
              <a:ea typeface="Oswald"/>
              <a:cs typeface="Oswald"/>
              <a:sym typeface="Oswald"/>
            </a:endParaRPr>
          </a:p>
        </p:txBody>
      </p:sp>
      <p:pic>
        <p:nvPicPr>
          <p:cNvPr id="58" name="Google Shape;58;p13"/>
          <p:cNvPicPr preferRelativeResize="0"/>
          <p:nvPr/>
        </p:nvPicPr>
        <p:blipFill>
          <a:blip r:embed="rId4">
            <a:alphaModFix/>
          </a:blip>
          <a:stretch>
            <a:fillRect/>
          </a:stretch>
        </p:blipFill>
        <p:spPr>
          <a:xfrm>
            <a:off x="6776600" y="996075"/>
            <a:ext cx="817326" cy="817326"/>
          </a:xfrm>
          <a:prstGeom prst="rect">
            <a:avLst/>
          </a:prstGeom>
          <a:noFill/>
          <a:ln>
            <a:noFill/>
          </a:ln>
        </p:spPr>
      </p:pic>
      <p:pic>
        <p:nvPicPr>
          <p:cNvPr id="59" name="Google Shape;59;p13" title="IMG_35131-removebg-preview.png"/>
          <p:cNvPicPr preferRelativeResize="0"/>
          <p:nvPr/>
        </p:nvPicPr>
        <p:blipFill rotWithShape="1">
          <a:blip r:embed="rId5">
            <a:alphaModFix/>
          </a:blip>
          <a:srcRect b="25914" l="0" r="0" t="7587"/>
          <a:stretch/>
        </p:blipFill>
        <p:spPr>
          <a:xfrm>
            <a:off x="5416462" y="1922675"/>
            <a:ext cx="3537600" cy="2385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 name="Shape 63"/>
        <p:cNvGrpSpPr/>
        <p:nvPr/>
      </p:nvGrpSpPr>
      <p:grpSpPr>
        <a:xfrm>
          <a:off x="0" y="0"/>
          <a:ext cx="0" cy="0"/>
          <a:chOff x="0" y="0"/>
          <a:chExt cx="0" cy="0"/>
        </a:xfrm>
      </p:grpSpPr>
      <p:sp>
        <p:nvSpPr>
          <p:cNvPr id="64" name="Google Shape;64;p1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A1735"/>
              </a:highlight>
            </a:endParaRPr>
          </a:p>
        </p:txBody>
      </p:sp>
      <p:cxnSp>
        <p:nvCxnSpPr>
          <p:cNvPr id="65" name="Google Shape;65;p1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66" name="Google Shape;66;p14"/>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Team Organization</a:t>
            </a:r>
            <a:endParaRPr sz="3400">
              <a:solidFill>
                <a:schemeClr val="lt1"/>
              </a:solidFill>
              <a:latin typeface="Balthazar"/>
              <a:ea typeface="Balthazar"/>
              <a:cs typeface="Balthazar"/>
              <a:sym typeface="Balthazar"/>
            </a:endParaRPr>
          </a:p>
        </p:txBody>
      </p:sp>
      <p:pic>
        <p:nvPicPr>
          <p:cNvPr id="67" name="Google Shape;67;p14"/>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68" name="Google Shape;68;p1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a:t>
            </a:r>
            <a:endParaRPr sz="2200">
              <a:solidFill>
                <a:srgbClr val="FFFFFF"/>
              </a:solidFill>
              <a:latin typeface="Balthazar"/>
              <a:ea typeface="Balthazar"/>
              <a:cs typeface="Balthazar"/>
              <a:sym typeface="Balthazar"/>
            </a:endParaRPr>
          </a:p>
        </p:txBody>
      </p:sp>
      <p:sp>
        <p:nvSpPr>
          <p:cNvPr id="69" name="Google Shape;69;p14"/>
          <p:cNvSpPr/>
          <p:nvPr/>
        </p:nvSpPr>
        <p:spPr>
          <a:xfrm>
            <a:off x="6267800" y="3770825"/>
            <a:ext cx="1161600" cy="451500"/>
          </a:xfrm>
          <a:prstGeom prst="rect">
            <a:avLst/>
          </a:prstGeom>
          <a:solidFill>
            <a:srgbClr val="0A17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0" name="Google Shape;70;p14"/>
          <p:cNvPicPr preferRelativeResize="0"/>
          <p:nvPr/>
        </p:nvPicPr>
        <p:blipFill>
          <a:blip r:embed="rId4">
            <a:alphaModFix/>
          </a:blip>
          <a:stretch>
            <a:fillRect/>
          </a:stretch>
        </p:blipFill>
        <p:spPr>
          <a:xfrm>
            <a:off x="603912" y="1071099"/>
            <a:ext cx="7938526" cy="3680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4" name="Shape 74"/>
        <p:cNvGrpSpPr/>
        <p:nvPr/>
      </p:nvGrpSpPr>
      <p:grpSpPr>
        <a:xfrm>
          <a:off x="0" y="0"/>
          <a:ext cx="0" cy="0"/>
          <a:chOff x="0" y="0"/>
          <a:chExt cx="0" cy="0"/>
        </a:xfrm>
      </p:grpSpPr>
      <p:sp>
        <p:nvSpPr>
          <p:cNvPr id="75" name="Google Shape;75;p1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6" name="Google Shape;76;p1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77" name="Google Shape;77;p15"/>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400">
                <a:solidFill>
                  <a:schemeClr val="lt1"/>
                </a:solidFill>
                <a:latin typeface="Balthazar"/>
                <a:ea typeface="Balthazar"/>
                <a:cs typeface="Balthazar"/>
                <a:sym typeface="Balthazar"/>
              </a:rPr>
              <a:t>Mission Statement</a:t>
            </a:r>
            <a:endParaRPr sz="3400">
              <a:solidFill>
                <a:schemeClr val="lt1"/>
              </a:solidFill>
              <a:latin typeface="Balthazar"/>
              <a:ea typeface="Balthazar"/>
              <a:cs typeface="Balthazar"/>
              <a:sym typeface="Balthazar"/>
            </a:endParaRPr>
          </a:p>
        </p:txBody>
      </p:sp>
      <p:sp>
        <p:nvSpPr>
          <p:cNvPr id="78" name="Google Shape;78;p15"/>
          <p:cNvSpPr txBox="1"/>
          <p:nvPr/>
        </p:nvSpPr>
        <p:spPr>
          <a:xfrm>
            <a:off x="641525" y="1065950"/>
            <a:ext cx="7863300" cy="1939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rgbClr val="000000"/>
              </a:buClr>
              <a:buSzPts val="1100"/>
              <a:buFont typeface="Arial"/>
              <a:buNone/>
            </a:pPr>
            <a:r>
              <a:rPr i="1" lang="en" sz="1900">
                <a:solidFill>
                  <a:schemeClr val="lt1"/>
                </a:solidFill>
                <a:latin typeface="Calibri"/>
                <a:ea typeface="Calibri"/>
                <a:cs typeface="Calibri"/>
                <a:sym typeface="Calibri"/>
              </a:rPr>
              <a:t>The mission of Team Oceanus is to support scientific research, environmental monitoring, and offshore energy infrastructure operations through the creation and operations of an underwater ROV capable of precise navigation, controlled manipulation, dynamic stability, and structural robustness, while complying with the electrical, mechanical, and safety requirements established by MATE.</a:t>
            </a:r>
            <a:endParaRPr i="1" sz="1900">
              <a:solidFill>
                <a:schemeClr val="lt1"/>
              </a:solidFill>
              <a:latin typeface="Calibri"/>
              <a:ea typeface="Calibri"/>
              <a:cs typeface="Calibri"/>
              <a:sym typeface="Calibri"/>
            </a:endParaRPr>
          </a:p>
        </p:txBody>
      </p:sp>
      <p:pic>
        <p:nvPicPr>
          <p:cNvPr id="79" name="Google Shape;79;p15"/>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80" name="Google Shape;80;p1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1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6" name="Google Shape;86;p1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87" name="Google Shape;87;p16"/>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400">
                <a:solidFill>
                  <a:schemeClr val="lt1"/>
                </a:solidFill>
                <a:latin typeface="Balthazar"/>
                <a:ea typeface="Balthazar"/>
                <a:cs typeface="Balthazar"/>
                <a:sym typeface="Balthazar"/>
              </a:rPr>
              <a:t>Mission Objectives</a:t>
            </a:r>
            <a:endParaRPr sz="3400">
              <a:solidFill>
                <a:schemeClr val="lt1"/>
              </a:solidFill>
              <a:latin typeface="Balthazar"/>
              <a:ea typeface="Balthazar"/>
              <a:cs typeface="Balthazar"/>
              <a:sym typeface="Balthazar"/>
            </a:endParaRPr>
          </a:p>
        </p:txBody>
      </p:sp>
      <p:pic>
        <p:nvPicPr>
          <p:cNvPr id="88" name="Google Shape;88;p16"/>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89" name="Google Shape;89;p1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sp>
        <p:nvSpPr>
          <p:cNvPr id="90" name="Google Shape;90;p16"/>
          <p:cNvSpPr txBox="1"/>
          <p:nvPr/>
        </p:nvSpPr>
        <p:spPr>
          <a:xfrm>
            <a:off x="712200" y="1247575"/>
            <a:ext cx="45018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600">
                <a:solidFill>
                  <a:schemeClr val="lt1"/>
                </a:solidFill>
                <a:latin typeface="Calibri"/>
                <a:ea typeface="Calibri"/>
                <a:cs typeface="Calibri"/>
                <a:sym typeface="Calibri"/>
              </a:rPr>
              <a:t>Primary Objectives:</a:t>
            </a:r>
            <a:r>
              <a:rPr lang="en" sz="1600">
                <a:solidFill>
                  <a:schemeClr val="lt1"/>
                </a:solidFill>
                <a:latin typeface="Calibri"/>
                <a:ea typeface="Calibri"/>
                <a:cs typeface="Calibri"/>
                <a:sym typeface="Calibri"/>
              </a:rPr>
              <a:t> The ROV must successfully complete all required MATE ROV 2026 product demonstration tasks. </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Collect species from the coral garden</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Service the Holyrood subsea observatory</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Powering an oil platform from a wind turbine</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Floats Under the Ice</a:t>
            </a:r>
            <a:endParaRPr sz="1600">
              <a:solidFill>
                <a:schemeClr val="lt1"/>
              </a:solidFill>
              <a:latin typeface="Calibri"/>
              <a:ea typeface="Calibri"/>
              <a:cs typeface="Calibri"/>
              <a:sym typeface="Calibri"/>
            </a:endParaRPr>
          </a:p>
        </p:txBody>
      </p:sp>
      <p:sp>
        <p:nvSpPr>
          <p:cNvPr id="91" name="Google Shape;91;p16"/>
          <p:cNvSpPr txBox="1"/>
          <p:nvPr/>
        </p:nvSpPr>
        <p:spPr>
          <a:xfrm>
            <a:off x="5402400" y="1247581"/>
            <a:ext cx="29205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600">
                <a:solidFill>
                  <a:schemeClr val="lt1"/>
                </a:solidFill>
                <a:latin typeface="Calibri"/>
                <a:ea typeface="Calibri"/>
                <a:cs typeface="Calibri"/>
                <a:sym typeface="Calibri"/>
              </a:rPr>
              <a:t>Secondary Objectives:</a:t>
            </a:r>
            <a:r>
              <a:rPr lang="en" sz="1600">
                <a:solidFill>
                  <a:schemeClr val="lt1"/>
                </a:solidFill>
                <a:latin typeface="Calibri"/>
                <a:ea typeface="Calibri"/>
                <a:cs typeface="Calibri"/>
                <a:sym typeface="Calibri"/>
              </a:rPr>
              <a:t> The ROV must ensure safe, reliable and compliant operation during all mission runs.</a:t>
            </a:r>
            <a:endParaRPr sz="1600">
              <a:solidFill>
                <a:schemeClr val="lt1"/>
              </a:solidFill>
              <a:latin typeface="Calibri"/>
              <a:ea typeface="Calibri"/>
              <a:cs typeface="Calibri"/>
              <a:sym typeface="Calibri"/>
            </a:endParaRPr>
          </a:p>
          <a:p>
            <a:pPr indent="0" lvl="0" marL="0" rtl="0" algn="just">
              <a:spcBef>
                <a:spcPts val="0"/>
              </a:spcBef>
              <a:spcAft>
                <a:spcPts val="0"/>
              </a:spcAft>
              <a:buNone/>
            </a:pPr>
            <a:r>
              <a:t/>
            </a:r>
            <a:endParaRPr sz="1600">
              <a:solidFill>
                <a:schemeClr val="lt1"/>
              </a:solidFill>
              <a:latin typeface="Calibri"/>
              <a:ea typeface="Calibri"/>
              <a:cs typeface="Calibri"/>
              <a:sym typeface="Calibri"/>
            </a:endParaRPr>
          </a:p>
          <a:p>
            <a:pPr indent="0" lvl="0" marL="0" rtl="0" algn="just">
              <a:spcBef>
                <a:spcPts val="0"/>
              </a:spcBef>
              <a:spcAft>
                <a:spcPts val="0"/>
              </a:spcAft>
              <a:buNone/>
            </a:pPr>
            <a:r>
              <a:t/>
            </a:r>
            <a:endParaRPr sz="1600">
              <a:solidFill>
                <a:schemeClr val="lt1"/>
              </a:solidFill>
              <a:latin typeface="Calibri"/>
              <a:ea typeface="Calibri"/>
              <a:cs typeface="Calibri"/>
              <a:sym typeface="Calibri"/>
            </a:endParaRPr>
          </a:p>
          <a:p>
            <a:pPr indent="0" lvl="0" marL="0" rtl="0" algn="just">
              <a:spcBef>
                <a:spcPts val="0"/>
              </a:spcBef>
              <a:spcAft>
                <a:spcPts val="0"/>
              </a:spcAft>
              <a:buNone/>
            </a:pPr>
            <a:r>
              <a:t/>
            </a:r>
            <a:endParaRPr sz="16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 name="Shape 95"/>
        <p:cNvGrpSpPr/>
        <p:nvPr/>
      </p:nvGrpSpPr>
      <p:grpSpPr>
        <a:xfrm>
          <a:off x="0" y="0"/>
          <a:ext cx="0" cy="0"/>
          <a:chOff x="0" y="0"/>
          <a:chExt cx="0" cy="0"/>
        </a:xfrm>
      </p:grpSpPr>
      <p:sp>
        <p:nvSpPr>
          <p:cNvPr id="96" name="Google Shape;96;p1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 name="Google Shape;97;p17"/>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98" name="Google Shape;98;p17"/>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99" name="Google Shape;99;p1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00" name="Google Shape;100;p17"/>
          <p:cNvPicPr preferRelativeResize="0"/>
          <p:nvPr/>
        </p:nvPicPr>
        <p:blipFill>
          <a:blip r:embed="rId4">
            <a:alphaModFix/>
          </a:blip>
          <a:stretch>
            <a:fillRect/>
          </a:stretch>
        </p:blipFill>
        <p:spPr>
          <a:xfrm>
            <a:off x="1104900" y="628650"/>
            <a:ext cx="6934200" cy="3886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sp>
        <p:nvSpPr>
          <p:cNvPr id="105" name="Google Shape;105;p1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 name="Google Shape;106;p18"/>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07" name="Google Shape;107;p18"/>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08" name="Google Shape;108;p1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09" name="Google Shape;109;p18"/>
          <p:cNvPicPr preferRelativeResize="0"/>
          <p:nvPr/>
        </p:nvPicPr>
        <p:blipFill>
          <a:blip r:embed="rId4">
            <a:alphaModFix/>
          </a:blip>
          <a:stretch>
            <a:fillRect/>
          </a:stretch>
        </p:blipFill>
        <p:spPr>
          <a:xfrm>
            <a:off x="1104900" y="628650"/>
            <a:ext cx="6934200" cy="388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3" name="Shape 113"/>
        <p:cNvGrpSpPr/>
        <p:nvPr/>
      </p:nvGrpSpPr>
      <p:grpSpPr>
        <a:xfrm>
          <a:off x="0" y="0"/>
          <a:ext cx="0" cy="0"/>
          <a:chOff x="0" y="0"/>
          <a:chExt cx="0" cy="0"/>
        </a:xfrm>
      </p:grpSpPr>
      <p:sp>
        <p:nvSpPr>
          <p:cNvPr id="114" name="Google Shape;114;p1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 name="Google Shape;115;p19"/>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16" name="Google Shape;116;p19"/>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17" name="Google Shape;117;p1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18" name="Google Shape;118;p19"/>
          <p:cNvPicPr preferRelativeResize="0"/>
          <p:nvPr/>
        </p:nvPicPr>
        <p:blipFill>
          <a:blip r:embed="rId4">
            <a:alphaModFix/>
          </a:blip>
          <a:stretch>
            <a:fillRect/>
          </a:stretch>
        </p:blipFill>
        <p:spPr>
          <a:xfrm>
            <a:off x="1104900" y="652463"/>
            <a:ext cx="6934200" cy="3838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2" name="Shape 122"/>
        <p:cNvGrpSpPr/>
        <p:nvPr/>
      </p:nvGrpSpPr>
      <p:grpSpPr>
        <a:xfrm>
          <a:off x="0" y="0"/>
          <a:ext cx="0" cy="0"/>
          <a:chOff x="0" y="0"/>
          <a:chExt cx="0" cy="0"/>
        </a:xfrm>
      </p:grpSpPr>
      <p:sp>
        <p:nvSpPr>
          <p:cNvPr id="123" name="Google Shape;123;p2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4" name="Google Shape;124;p20"/>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25" name="Google Shape;125;p20"/>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26" name="Google Shape;126;p2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27" name="Google Shape;127;p20"/>
          <p:cNvPicPr preferRelativeResize="0"/>
          <p:nvPr/>
        </p:nvPicPr>
        <p:blipFill>
          <a:blip r:embed="rId4">
            <a:alphaModFix/>
          </a:blip>
          <a:stretch>
            <a:fillRect/>
          </a:stretch>
        </p:blipFill>
        <p:spPr>
          <a:xfrm>
            <a:off x="1104900" y="628650"/>
            <a:ext cx="6934200"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1" name="Shape 131"/>
        <p:cNvGrpSpPr/>
        <p:nvPr/>
      </p:nvGrpSpPr>
      <p:grpSpPr>
        <a:xfrm>
          <a:off x="0" y="0"/>
          <a:ext cx="0" cy="0"/>
          <a:chOff x="0" y="0"/>
          <a:chExt cx="0" cy="0"/>
        </a:xfrm>
      </p:grpSpPr>
      <p:sp>
        <p:nvSpPr>
          <p:cNvPr id="132" name="Google Shape;132;p2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1"/>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Thermals, Mechanisms, Structures (TMS)</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134" name="Google Shape;134;p21"/>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135" name="Google Shape;135;p21"/>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136" name="Google Shape;136;p21"/>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137" name="Google Shape;137;p21"/>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1" name="Shape 141"/>
        <p:cNvGrpSpPr/>
        <p:nvPr/>
      </p:nvGrpSpPr>
      <p:grpSpPr>
        <a:xfrm>
          <a:off x="0" y="0"/>
          <a:ext cx="0" cy="0"/>
          <a:chOff x="0" y="0"/>
          <a:chExt cx="0" cy="0"/>
        </a:xfrm>
      </p:grpSpPr>
      <p:sp>
        <p:nvSpPr>
          <p:cNvPr id="142" name="Google Shape;142;p2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3" name="Google Shape;143;p2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44" name="Google Shape;144;p2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Chassis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45" name="Google Shape;145;p22"/>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46" name="Google Shape;146;p2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8</a:t>
            </a:r>
            <a:endParaRPr sz="2200">
              <a:solidFill>
                <a:srgbClr val="FFFFFF"/>
              </a:solidFill>
              <a:latin typeface="Balthazar"/>
              <a:ea typeface="Balthazar"/>
              <a:cs typeface="Balthazar"/>
              <a:sym typeface="Balthazar"/>
            </a:endParaRPr>
          </a:p>
        </p:txBody>
      </p:sp>
      <p:sp>
        <p:nvSpPr>
          <p:cNvPr id="147" name="Google Shape;147;p22"/>
          <p:cNvSpPr txBox="1"/>
          <p:nvPr/>
        </p:nvSpPr>
        <p:spPr>
          <a:xfrm>
            <a:off x="519700" y="1243150"/>
            <a:ext cx="4755600" cy="46794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PETG Frame</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Three-Ring Structure</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Trapezoidal Design</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Structural</a:t>
            </a:r>
            <a:r>
              <a:rPr lang="en" sz="2500">
                <a:solidFill>
                  <a:schemeClr val="lt1"/>
                </a:solidFill>
                <a:latin typeface="Calibri"/>
                <a:ea typeface="Calibri"/>
                <a:cs typeface="Calibri"/>
                <a:sym typeface="Calibri"/>
              </a:rPr>
              <a:t> Integrity</a:t>
            </a:r>
            <a:endParaRPr sz="25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48" name="Google Shape;148;p22" title="chassis picture 1.png"/>
          <p:cNvPicPr preferRelativeResize="0"/>
          <p:nvPr/>
        </p:nvPicPr>
        <p:blipFill rotWithShape="1">
          <a:blip r:embed="rId4">
            <a:alphaModFix/>
          </a:blip>
          <a:srcRect b="18782" l="11383" r="8847" t="20435"/>
          <a:stretch/>
        </p:blipFill>
        <p:spPr>
          <a:xfrm>
            <a:off x="5275300" y="1151290"/>
            <a:ext cx="2743200" cy="1558235"/>
          </a:xfrm>
          <a:prstGeom prst="rect">
            <a:avLst/>
          </a:prstGeom>
          <a:noFill/>
          <a:ln>
            <a:noFill/>
          </a:ln>
        </p:spPr>
      </p:pic>
      <p:pic>
        <p:nvPicPr>
          <p:cNvPr id="149" name="Google Shape;149;p22" title="top ring picture.png"/>
          <p:cNvPicPr preferRelativeResize="0"/>
          <p:nvPr/>
        </p:nvPicPr>
        <p:blipFill rotWithShape="1">
          <a:blip r:embed="rId5">
            <a:alphaModFix/>
          </a:blip>
          <a:srcRect b="9338" l="10435" r="12837" t="0"/>
          <a:stretch/>
        </p:blipFill>
        <p:spPr>
          <a:xfrm>
            <a:off x="5467580" y="2816700"/>
            <a:ext cx="2358645" cy="1830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3" name="Shape 153"/>
        <p:cNvGrpSpPr/>
        <p:nvPr/>
      </p:nvGrpSpPr>
      <p:grpSpPr>
        <a:xfrm>
          <a:off x="0" y="0"/>
          <a:ext cx="0" cy="0"/>
          <a:chOff x="0" y="0"/>
          <a:chExt cx="0" cy="0"/>
        </a:xfrm>
      </p:grpSpPr>
      <p:sp>
        <p:nvSpPr>
          <p:cNvPr id="154" name="Google Shape;154;p2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5" name="Google Shape;155;p2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56" name="Google Shape;156;p23"/>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Claw</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57" name="Google Shape;157;p23"/>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58" name="Google Shape;158;p23"/>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8</a:t>
            </a:r>
            <a:endParaRPr sz="2200">
              <a:solidFill>
                <a:srgbClr val="FFFFFF"/>
              </a:solidFill>
              <a:latin typeface="Balthazar"/>
              <a:ea typeface="Balthazar"/>
              <a:cs typeface="Balthazar"/>
              <a:sym typeface="Balthazar"/>
            </a:endParaRPr>
          </a:p>
        </p:txBody>
      </p:sp>
      <p:sp>
        <p:nvSpPr>
          <p:cNvPr id="159" name="Google Shape;159;p23"/>
          <p:cNvSpPr txBox="1"/>
          <p:nvPr/>
        </p:nvSpPr>
        <p:spPr>
          <a:xfrm>
            <a:off x="519700" y="1223100"/>
            <a:ext cx="4755600" cy="54489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Hinge </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Different holes with rubber interior </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Hardstop and reinforcement </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Wrist Joint </a:t>
            </a:r>
            <a:endParaRPr sz="25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5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60" name="Google Shape;160;p23"/>
          <p:cNvPicPr preferRelativeResize="0"/>
          <p:nvPr/>
        </p:nvPicPr>
        <p:blipFill>
          <a:blip r:embed="rId4">
            <a:alphaModFix/>
          </a:blip>
          <a:stretch>
            <a:fillRect/>
          </a:stretch>
        </p:blipFill>
        <p:spPr>
          <a:xfrm>
            <a:off x="5101324" y="1330500"/>
            <a:ext cx="3221575" cy="3254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4" name="Shape 164"/>
        <p:cNvGrpSpPr/>
        <p:nvPr/>
      </p:nvGrpSpPr>
      <p:grpSpPr>
        <a:xfrm>
          <a:off x="0" y="0"/>
          <a:ext cx="0" cy="0"/>
          <a:chOff x="0" y="0"/>
          <a:chExt cx="0" cy="0"/>
        </a:xfrm>
      </p:grpSpPr>
      <p:sp>
        <p:nvSpPr>
          <p:cNvPr id="165" name="Google Shape;165;p2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6" name="Google Shape;166;p2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67" name="Google Shape;167;p24"/>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Material/Design Justification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68" name="Google Shape;168;p24"/>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69" name="Google Shape;169;p2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6</a:t>
            </a:r>
            <a:endParaRPr sz="2200">
              <a:solidFill>
                <a:srgbClr val="FFFFFF"/>
              </a:solidFill>
              <a:latin typeface="Balthazar"/>
              <a:ea typeface="Balthazar"/>
              <a:cs typeface="Balthazar"/>
              <a:sym typeface="Balthazar"/>
            </a:endParaRPr>
          </a:p>
        </p:txBody>
      </p:sp>
      <p:sp>
        <p:nvSpPr>
          <p:cNvPr id="170" name="Google Shape;170;p24"/>
          <p:cNvSpPr txBox="1"/>
          <p:nvPr/>
        </p:nvSpPr>
        <p:spPr>
          <a:xfrm>
            <a:off x="595650" y="12581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PETPET</a:t>
            </a:r>
            <a:endParaRPr/>
          </a:p>
        </p:txBody>
      </p:sp>
      <p:sp>
        <p:nvSpPr>
          <p:cNvPr id="171" name="Google Shape;171;p24"/>
          <p:cNvSpPr txBox="1"/>
          <p:nvPr/>
        </p:nvSpPr>
        <p:spPr>
          <a:xfrm>
            <a:off x="595650" y="1258125"/>
            <a:ext cx="7727100" cy="33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Calibri"/>
                <a:ea typeface="Calibri"/>
                <a:cs typeface="Calibri"/>
                <a:sym typeface="Calibri"/>
              </a:rPr>
              <a:t>Material Chosen: PETG</a:t>
            </a:r>
            <a:endParaRPr sz="1800">
              <a:solidFill>
                <a:schemeClr val="lt1"/>
              </a:solidFill>
              <a:latin typeface="Calibri"/>
              <a:ea typeface="Calibri"/>
              <a:cs typeface="Calibri"/>
              <a:sym typeface="Calibri"/>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Repairability/Manufacturability</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Rapid Repairs/Iterations</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Safety</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Material/Manufacturability</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Chemical Physical Deformation</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Cheap Coating/Geometries/Shallow Water Operation</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Integration and System Compatibility</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Manufacturability</a:t>
            </a:r>
            <a:endParaRPr sz="1800">
              <a:solidFill>
                <a:schemeClr val="lt1"/>
              </a:solidFill>
              <a:latin typeface="Calibri"/>
              <a:ea typeface="Calibri"/>
              <a:cs typeface="Calibri"/>
              <a:sym typeface="Calibri"/>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p:txBody>
      </p:sp>
      <p:pic>
        <p:nvPicPr>
          <p:cNvPr id="172" name="Google Shape;172;p24"/>
          <p:cNvPicPr preferRelativeResize="0"/>
          <p:nvPr/>
        </p:nvPicPr>
        <p:blipFill>
          <a:blip r:embed="rId4">
            <a:alphaModFix/>
          </a:blip>
          <a:stretch>
            <a:fillRect/>
          </a:stretch>
        </p:blipFill>
        <p:spPr>
          <a:xfrm>
            <a:off x="6255700" y="1101650"/>
            <a:ext cx="2038350" cy="1714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6" name="Shape 176"/>
        <p:cNvGrpSpPr/>
        <p:nvPr/>
      </p:nvGrpSpPr>
      <p:grpSpPr>
        <a:xfrm>
          <a:off x="0" y="0"/>
          <a:ext cx="0" cy="0"/>
          <a:chOff x="0" y="0"/>
          <a:chExt cx="0" cy="0"/>
        </a:xfrm>
      </p:grpSpPr>
      <p:sp>
        <p:nvSpPr>
          <p:cNvPr id="177" name="Google Shape;177;p2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8" name="Google Shape;178;p2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79" name="Google Shape;179;p25"/>
          <p:cNvSpPr txBox="1"/>
          <p:nvPr/>
        </p:nvSpPr>
        <p:spPr>
          <a:xfrm>
            <a:off x="519700" y="354700"/>
            <a:ext cx="50655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Float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180" name="Google Shape;180;p25"/>
          <p:cNvSpPr txBox="1"/>
          <p:nvPr/>
        </p:nvSpPr>
        <p:spPr>
          <a:xfrm>
            <a:off x="3972350" y="977800"/>
            <a:ext cx="4165500" cy="437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Modified cast acrylic enclosure</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Sensor, ballast holes, and rubber stopper</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Recovery features</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100mm ID 200mm IL</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Loctite Marine Epoxy</a:t>
            </a:r>
            <a:endParaRPr>
              <a:solidFill>
                <a:schemeClr val="lt1"/>
              </a:solidFill>
              <a:latin typeface="Calibri"/>
              <a:ea typeface="Calibri"/>
              <a:cs typeface="Calibri"/>
              <a:sym typeface="Calibri"/>
            </a:endParaRPr>
          </a:p>
          <a:p>
            <a:pPr indent="0" lvl="0" marL="914400" rtl="0" algn="l">
              <a:spcBef>
                <a:spcPts val="0"/>
              </a:spcBef>
              <a:spcAft>
                <a:spcPts val="0"/>
              </a:spcAft>
              <a:buNone/>
            </a:pPr>
            <a:r>
              <a:t/>
            </a:r>
            <a:endParaRPr>
              <a:solidFill>
                <a:schemeClr val="lt1"/>
              </a:solidFill>
              <a:latin typeface="Calibri"/>
              <a:ea typeface="Calibri"/>
              <a:cs typeface="Calibri"/>
              <a:sym typeface="Calibri"/>
            </a:endParaRPr>
          </a:p>
          <a:p>
            <a:pPr indent="-317500" lvl="0" marL="4572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Thermal regulation (Appendix C)</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4mm foam</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5 W silicon heating pad</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Thermistors </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9 C internal temp. </a:t>
            </a:r>
            <a:endParaRPr>
              <a:solidFill>
                <a:schemeClr val="lt1"/>
              </a:solidFill>
              <a:latin typeface="Calibri"/>
              <a:ea typeface="Calibri"/>
              <a:cs typeface="Calibri"/>
              <a:sym typeface="Calibri"/>
            </a:endParaRPr>
          </a:p>
          <a:p>
            <a:pPr indent="0" lvl="0" marL="0" rtl="0" algn="l">
              <a:spcBef>
                <a:spcPts val="0"/>
              </a:spcBef>
              <a:spcAft>
                <a:spcPts val="0"/>
              </a:spcAft>
              <a:buNone/>
            </a:pPr>
            <a:r>
              <a:t/>
            </a:r>
            <a:endParaRPr>
              <a:solidFill>
                <a:schemeClr val="lt1"/>
              </a:solidFill>
              <a:latin typeface="Calibri"/>
              <a:ea typeface="Calibri"/>
              <a:cs typeface="Calibri"/>
              <a:sym typeface="Calibri"/>
            </a:endParaRPr>
          </a:p>
          <a:p>
            <a:pPr indent="-317500" lvl="0" marL="4572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System Buoyancy</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1.374 kg</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1.060 g/cm^3 density</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~neutrally buoyant</a:t>
            </a:r>
            <a:endParaRPr>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81" name="Google Shape;181;p25"/>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82" name="Google Shape;182;p25"/>
          <p:cNvSpPr txBox="1"/>
          <p:nvPr/>
        </p:nvSpPr>
        <p:spPr>
          <a:xfrm>
            <a:off x="6161367" y="453532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9</a:t>
            </a:r>
            <a:endParaRPr sz="2200">
              <a:solidFill>
                <a:srgbClr val="FFFFFF"/>
              </a:solidFill>
              <a:latin typeface="Balthazar"/>
              <a:ea typeface="Balthazar"/>
              <a:cs typeface="Balthazar"/>
              <a:sym typeface="Balthazar"/>
            </a:endParaRPr>
          </a:p>
        </p:txBody>
      </p:sp>
      <p:pic>
        <p:nvPicPr>
          <p:cNvPr id="183" name="Google Shape;183;p25" title="Screenshot 2026-02-06 012916.png"/>
          <p:cNvPicPr preferRelativeResize="0"/>
          <p:nvPr/>
        </p:nvPicPr>
        <p:blipFill>
          <a:blip r:embed="rId4">
            <a:alphaModFix/>
          </a:blip>
          <a:stretch>
            <a:fillRect/>
          </a:stretch>
        </p:blipFill>
        <p:spPr>
          <a:xfrm>
            <a:off x="519700" y="2663525"/>
            <a:ext cx="3372000" cy="1814150"/>
          </a:xfrm>
          <a:prstGeom prst="rect">
            <a:avLst/>
          </a:prstGeom>
          <a:solidFill>
            <a:srgbClr val="0A1735"/>
          </a:solidFill>
          <a:ln cap="flat" cmpd="sng" w="4125">
            <a:solidFill>
              <a:schemeClr val="lt1"/>
            </a:solidFill>
            <a:prstDash val="solid"/>
            <a:round/>
            <a:headEnd len="sm" w="sm" type="none"/>
            <a:tailEnd len="sm" w="sm" type="none"/>
          </a:ln>
        </p:spPr>
      </p:pic>
      <p:pic>
        <p:nvPicPr>
          <p:cNvPr id="184" name="Google Shape;184;p25" title="Screenshot 2026-02-06 012706.png"/>
          <p:cNvPicPr preferRelativeResize="0"/>
          <p:nvPr/>
        </p:nvPicPr>
        <p:blipFill>
          <a:blip r:embed="rId5">
            <a:alphaModFix/>
          </a:blip>
          <a:stretch>
            <a:fillRect/>
          </a:stretch>
        </p:blipFill>
        <p:spPr>
          <a:xfrm>
            <a:off x="519700" y="1083911"/>
            <a:ext cx="3371999" cy="1471100"/>
          </a:xfrm>
          <a:prstGeom prst="rect">
            <a:avLst/>
          </a:prstGeom>
          <a:solidFill>
            <a:srgbClr val="0A1735"/>
          </a:solidFill>
          <a:ln cap="flat" cmpd="sng" w="4125">
            <a:solidFill>
              <a:schemeClr val="lt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8" name="Shape 188"/>
        <p:cNvGrpSpPr/>
        <p:nvPr/>
      </p:nvGrpSpPr>
      <p:grpSpPr>
        <a:xfrm>
          <a:off x="0" y="0"/>
          <a:ext cx="0" cy="0"/>
          <a:chOff x="0" y="0"/>
          <a:chExt cx="0" cy="0"/>
        </a:xfrm>
      </p:grpSpPr>
      <p:sp>
        <p:nvSpPr>
          <p:cNvPr id="189" name="Google Shape;189;p2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6"/>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Fluids &amp; Propulsion (F&amp;P)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191" name="Google Shape;191;p26"/>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192" name="Google Shape;192;p26"/>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193" name="Google Shape;193;p26"/>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194" name="Google Shape;194;p26"/>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8" name="Shape 198"/>
        <p:cNvGrpSpPr/>
        <p:nvPr/>
      </p:nvGrpSpPr>
      <p:grpSpPr>
        <a:xfrm>
          <a:off x="0" y="0"/>
          <a:ext cx="0" cy="0"/>
          <a:chOff x="0" y="0"/>
          <a:chExt cx="0" cy="0"/>
        </a:xfrm>
      </p:grpSpPr>
      <p:sp>
        <p:nvSpPr>
          <p:cNvPr id="199" name="Google Shape;199;p2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 name="Google Shape;200;p2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01" name="Google Shape;201;p2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Trade Study</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202" name="Google Shape;202;p27"/>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03" name="Google Shape;203;p27" title="thruster trade study.jpg"/>
          <p:cNvPicPr preferRelativeResize="0"/>
          <p:nvPr/>
        </p:nvPicPr>
        <p:blipFill>
          <a:blip r:embed="rId4">
            <a:alphaModFix/>
          </a:blip>
          <a:stretch>
            <a:fillRect/>
          </a:stretch>
        </p:blipFill>
        <p:spPr>
          <a:xfrm>
            <a:off x="305625" y="1784182"/>
            <a:ext cx="8532751" cy="2308193"/>
          </a:xfrm>
          <a:prstGeom prst="rect">
            <a:avLst/>
          </a:prstGeom>
          <a:noFill/>
          <a:ln>
            <a:noFill/>
          </a:ln>
        </p:spPr>
      </p:pic>
      <p:sp>
        <p:nvSpPr>
          <p:cNvPr id="204" name="Google Shape;204;p2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17</a:t>
            </a:r>
            <a:endParaRPr sz="2200">
              <a:solidFill>
                <a:srgbClr val="FFFFFF"/>
              </a:solidFill>
              <a:latin typeface="Balthazar"/>
              <a:ea typeface="Balthazar"/>
              <a:cs typeface="Balthazar"/>
              <a:sym typeface="Balthaz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8" name="Shape 208"/>
        <p:cNvGrpSpPr/>
        <p:nvPr/>
      </p:nvGrpSpPr>
      <p:grpSpPr>
        <a:xfrm>
          <a:off x="0" y="0"/>
          <a:ext cx="0" cy="0"/>
          <a:chOff x="0" y="0"/>
          <a:chExt cx="0" cy="0"/>
        </a:xfrm>
      </p:grpSpPr>
      <p:sp>
        <p:nvSpPr>
          <p:cNvPr id="209" name="Google Shape;209;p2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0" name="Google Shape;210;p2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11" name="Google Shape;211;p2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Diamond Dynamics Thruster</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12" name="Google Shape;212;p28"/>
          <p:cNvSpPr txBox="1"/>
          <p:nvPr/>
        </p:nvSpPr>
        <p:spPr>
          <a:xfrm>
            <a:off x="595650" y="1407200"/>
            <a:ext cx="5331000" cy="59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Affordable</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Sufficient Power </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Similar to T200</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Still Customizable</a:t>
            </a:r>
            <a:endParaRPr sz="22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p:txBody>
      </p:sp>
      <p:pic>
        <p:nvPicPr>
          <p:cNvPr id="213" name="Google Shape;213;p28"/>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14" name="Google Shape;214;p28" title="diamond dynamics.jpg"/>
          <p:cNvPicPr preferRelativeResize="0"/>
          <p:nvPr/>
        </p:nvPicPr>
        <p:blipFill>
          <a:blip r:embed="rId4">
            <a:alphaModFix/>
          </a:blip>
          <a:stretch>
            <a:fillRect/>
          </a:stretch>
        </p:blipFill>
        <p:spPr>
          <a:xfrm>
            <a:off x="5011500" y="1407200"/>
            <a:ext cx="3496650" cy="3043150"/>
          </a:xfrm>
          <a:prstGeom prst="rect">
            <a:avLst/>
          </a:prstGeom>
          <a:noFill/>
          <a:ln>
            <a:noFill/>
          </a:ln>
        </p:spPr>
      </p:pic>
      <p:sp>
        <p:nvSpPr>
          <p:cNvPr id="215" name="Google Shape;215;p2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18</a:t>
            </a:r>
            <a:endParaRPr sz="2200">
              <a:solidFill>
                <a:srgbClr val="FFFFFF"/>
              </a:solidFill>
              <a:latin typeface="Balthazar"/>
              <a:ea typeface="Balthazar"/>
              <a:cs typeface="Balthazar"/>
              <a:sym typeface="Balthaz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9" name="Shape 219"/>
        <p:cNvGrpSpPr/>
        <p:nvPr/>
      </p:nvGrpSpPr>
      <p:grpSpPr>
        <a:xfrm>
          <a:off x="0" y="0"/>
          <a:ext cx="0" cy="0"/>
          <a:chOff x="0" y="0"/>
          <a:chExt cx="0" cy="0"/>
        </a:xfrm>
      </p:grpSpPr>
      <p:sp>
        <p:nvSpPr>
          <p:cNvPr id="220" name="Google Shape;220;p2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1" name="Google Shape;221;p2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22" name="Google Shape;222;p2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Configuration </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223" name="Google Shape;223;p29"/>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24" name="Google Shape;224;p29"/>
          <p:cNvSpPr txBox="1"/>
          <p:nvPr/>
        </p:nvSpPr>
        <p:spPr>
          <a:xfrm>
            <a:off x="3875249" y="3266012"/>
            <a:ext cx="1688700" cy="806700"/>
          </a:xfrm>
          <a:prstGeom prst="rect">
            <a:avLst/>
          </a:prstGeom>
          <a:noFill/>
          <a:ln>
            <a:noFill/>
          </a:ln>
        </p:spPr>
        <p:txBody>
          <a:bodyPr anchorCtr="0" anchor="t" bIns="62725" lIns="62725" spcFirstLastPara="1" rIns="62725" wrap="square" tIns="62725">
            <a:noAutofit/>
          </a:bodyPr>
          <a:lstStyle/>
          <a:p>
            <a:pPr indent="0" lvl="0" marL="0" rtl="0" algn="l">
              <a:spcBef>
                <a:spcPts val="0"/>
              </a:spcBef>
              <a:spcAft>
                <a:spcPts val="0"/>
              </a:spcAft>
              <a:buNone/>
            </a:pPr>
            <a:r>
              <a:rPr b="1" lang="en" sz="4118">
                <a:solidFill>
                  <a:srgbClr val="FFFFFF"/>
                </a:solidFill>
              </a:rPr>
              <a:t>5 DOF</a:t>
            </a:r>
            <a:endParaRPr b="1" sz="4118">
              <a:solidFill>
                <a:srgbClr val="FFFFFF"/>
              </a:solidFill>
            </a:endParaRPr>
          </a:p>
        </p:txBody>
      </p:sp>
      <p:pic>
        <p:nvPicPr>
          <p:cNvPr id="225" name="Google Shape;225;p29"/>
          <p:cNvPicPr preferRelativeResize="0"/>
          <p:nvPr/>
        </p:nvPicPr>
        <p:blipFill>
          <a:blip r:embed="rId4">
            <a:alphaModFix/>
          </a:blip>
          <a:stretch>
            <a:fillRect/>
          </a:stretch>
        </p:blipFill>
        <p:spPr>
          <a:xfrm>
            <a:off x="508987" y="1072725"/>
            <a:ext cx="2693275" cy="1880550"/>
          </a:xfrm>
          <a:prstGeom prst="rect">
            <a:avLst/>
          </a:prstGeom>
          <a:noFill/>
          <a:ln>
            <a:noFill/>
          </a:ln>
        </p:spPr>
      </p:pic>
      <p:pic>
        <p:nvPicPr>
          <p:cNvPr id="226" name="Google Shape;226;p29"/>
          <p:cNvPicPr preferRelativeResize="0"/>
          <p:nvPr/>
        </p:nvPicPr>
        <p:blipFill>
          <a:blip r:embed="rId5">
            <a:alphaModFix/>
          </a:blip>
          <a:stretch>
            <a:fillRect/>
          </a:stretch>
        </p:blipFill>
        <p:spPr>
          <a:xfrm>
            <a:off x="3875260" y="1072725"/>
            <a:ext cx="4239148" cy="1311240"/>
          </a:xfrm>
          <a:prstGeom prst="rect">
            <a:avLst/>
          </a:prstGeom>
          <a:noFill/>
          <a:ln>
            <a:noFill/>
          </a:ln>
        </p:spPr>
      </p:pic>
      <p:sp>
        <p:nvSpPr>
          <p:cNvPr id="227" name="Google Shape;227;p29"/>
          <p:cNvSpPr txBox="1"/>
          <p:nvPr/>
        </p:nvSpPr>
        <p:spPr>
          <a:xfrm>
            <a:off x="3911274" y="2349075"/>
            <a:ext cx="4167000" cy="360900"/>
          </a:xfrm>
          <a:prstGeom prst="rect">
            <a:avLst/>
          </a:prstGeom>
          <a:noFill/>
          <a:ln>
            <a:noFill/>
          </a:ln>
        </p:spPr>
        <p:txBody>
          <a:bodyPr anchorCtr="0" anchor="t" bIns="62725" lIns="62725" spcFirstLastPara="1" rIns="62725" wrap="square" tIns="62725">
            <a:noAutofit/>
          </a:bodyPr>
          <a:lstStyle/>
          <a:p>
            <a:pPr indent="0" lvl="0" marL="0" rtl="0" algn="ctr">
              <a:spcBef>
                <a:spcPts val="0"/>
              </a:spcBef>
              <a:spcAft>
                <a:spcPts val="0"/>
              </a:spcAft>
              <a:buNone/>
            </a:pPr>
            <a:r>
              <a:rPr b="1" i="1" lang="en" sz="961">
                <a:solidFill>
                  <a:srgbClr val="FFFFFF"/>
                </a:solidFill>
              </a:rPr>
              <a:t>Thrust Allocation for Flight Controls</a:t>
            </a:r>
            <a:endParaRPr b="1" i="1" sz="961">
              <a:solidFill>
                <a:srgbClr val="FFFFFF"/>
              </a:solidFill>
            </a:endParaRPr>
          </a:p>
        </p:txBody>
      </p:sp>
      <p:pic>
        <p:nvPicPr>
          <p:cNvPr id="228" name="Google Shape;228;p29"/>
          <p:cNvPicPr preferRelativeResize="0"/>
          <p:nvPr/>
        </p:nvPicPr>
        <p:blipFill>
          <a:blip r:embed="rId6">
            <a:alphaModFix/>
          </a:blip>
          <a:stretch>
            <a:fillRect/>
          </a:stretch>
        </p:blipFill>
        <p:spPr>
          <a:xfrm>
            <a:off x="508987" y="3068749"/>
            <a:ext cx="2433731" cy="1825298"/>
          </a:xfrm>
          <a:prstGeom prst="rect">
            <a:avLst/>
          </a:prstGeom>
          <a:noFill/>
          <a:ln>
            <a:noFill/>
          </a:ln>
        </p:spPr>
      </p:pic>
      <p:sp>
        <p:nvSpPr>
          <p:cNvPr id="229" name="Google Shape;229;p2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19</a:t>
            </a:r>
            <a:endParaRPr sz="2200">
              <a:solidFill>
                <a:srgbClr val="FFFFFF"/>
              </a:solidFill>
              <a:latin typeface="Balthazar"/>
              <a:ea typeface="Balthazar"/>
              <a:cs typeface="Balthazar"/>
              <a:sym typeface="Balthazar"/>
            </a:endParaRPr>
          </a:p>
        </p:txBody>
      </p:sp>
      <p:pic>
        <p:nvPicPr>
          <p:cNvPr id="230" name="Google Shape;230;p29"/>
          <p:cNvPicPr preferRelativeResize="0"/>
          <p:nvPr/>
        </p:nvPicPr>
        <p:blipFill>
          <a:blip r:embed="rId7">
            <a:alphaModFix/>
          </a:blip>
          <a:stretch>
            <a:fillRect/>
          </a:stretch>
        </p:blipFill>
        <p:spPr>
          <a:xfrm>
            <a:off x="5647375" y="2709975"/>
            <a:ext cx="2801927" cy="20888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4" name="Shape 234"/>
        <p:cNvGrpSpPr/>
        <p:nvPr/>
      </p:nvGrpSpPr>
      <p:grpSpPr>
        <a:xfrm>
          <a:off x="0" y="0"/>
          <a:ext cx="0" cy="0"/>
          <a:chOff x="0" y="0"/>
          <a:chExt cx="0" cy="0"/>
        </a:xfrm>
      </p:grpSpPr>
      <p:sp>
        <p:nvSpPr>
          <p:cNvPr id="235" name="Google Shape;235;p3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cxnSp>
        <p:nvCxnSpPr>
          <p:cNvPr id="236" name="Google Shape;236;p3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37" name="Google Shape;237;p3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Guard Specifications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38" name="Google Shape;238;p30"/>
          <p:cNvSpPr txBox="1"/>
          <p:nvPr/>
        </p:nvSpPr>
        <p:spPr>
          <a:xfrm>
            <a:off x="396075" y="977800"/>
            <a:ext cx="41970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39" name="Google Shape;239;p30"/>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40" name="Google Shape;240;p3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20</a:t>
            </a:r>
            <a:endParaRPr sz="2200">
              <a:solidFill>
                <a:srgbClr val="FFFFFF"/>
              </a:solidFill>
              <a:latin typeface="Balthazar"/>
              <a:ea typeface="Balthazar"/>
              <a:cs typeface="Balthazar"/>
              <a:sym typeface="Balthazar"/>
            </a:endParaRPr>
          </a:p>
        </p:txBody>
      </p:sp>
      <p:sp>
        <p:nvSpPr>
          <p:cNvPr id="241" name="Google Shape;241;p30"/>
          <p:cNvSpPr txBox="1"/>
          <p:nvPr/>
        </p:nvSpPr>
        <p:spPr>
          <a:xfrm>
            <a:off x="703800" y="4173725"/>
            <a:ext cx="1899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3D Model of Motor</a:t>
            </a:r>
            <a:endParaRPr b="1" i="1" sz="1600">
              <a:solidFill>
                <a:schemeClr val="lt1"/>
              </a:solidFill>
              <a:latin typeface="Calibri"/>
              <a:ea typeface="Calibri"/>
              <a:cs typeface="Calibri"/>
              <a:sym typeface="Calibri"/>
            </a:endParaRPr>
          </a:p>
        </p:txBody>
      </p:sp>
      <p:sp>
        <p:nvSpPr>
          <p:cNvPr id="242" name="Google Shape;242;p30"/>
          <p:cNvSpPr txBox="1"/>
          <p:nvPr/>
        </p:nvSpPr>
        <p:spPr>
          <a:xfrm>
            <a:off x="2627863" y="4181525"/>
            <a:ext cx="31695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500">
                <a:solidFill>
                  <a:schemeClr val="lt1"/>
                </a:solidFill>
                <a:latin typeface="Calibri"/>
                <a:ea typeface="Calibri"/>
                <a:cs typeface="Calibri"/>
                <a:sym typeface="Calibri"/>
              </a:rPr>
              <a:t>3D Model Custom Thruster Guard</a:t>
            </a:r>
            <a:endParaRPr b="1" i="1" sz="1500">
              <a:solidFill>
                <a:schemeClr val="lt1"/>
              </a:solidFill>
              <a:latin typeface="Calibri"/>
              <a:ea typeface="Calibri"/>
              <a:cs typeface="Calibri"/>
              <a:sym typeface="Calibri"/>
            </a:endParaRPr>
          </a:p>
        </p:txBody>
      </p:sp>
      <p:pic>
        <p:nvPicPr>
          <p:cNvPr id="243" name="Google Shape;243;p30" title="Manufacturer's Shroud Design-Photoroom.png"/>
          <p:cNvPicPr preferRelativeResize="0"/>
          <p:nvPr/>
        </p:nvPicPr>
        <p:blipFill rotWithShape="1">
          <a:blip r:embed="rId4">
            <a:alphaModFix/>
          </a:blip>
          <a:srcRect b="-2630" l="0" r="0" t="2630"/>
          <a:stretch/>
        </p:blipFill>
        <p:spPr>
          <a:xfrm>
            <a:off x="323962" y="2293200"/>
            <a:ext cx="2658663" cy="2158025"/>
          </a:xfrm>
          <a:prstGeom prst="rect">
            <a:avLst/>
          </a:prstGeom>
          <a:noFill/>
          <a:ln>
            <a:noFill/>
          </a:ln>
        </p:spPr>
      </p:pic>
      <p:pic>
        <p:nvPicPr>
          <p:cNvPr id="244" name="Google Shape;244;p30" title="Manufacturer's Insert Shroud-Photoroom.png"/>
          <p:cNvPicPr preferRelativeResize="0"/>
          <p:nvPr/>
        </p:nvPicPr>
        <p:blipFill>
          <a:blip r:embed="rId5">
            <a:alphaModFix/>
          </a:blip>
          <a:stretch>
            <a:fillRect/>
          </a:stretch>
        </p:blipFill>
        <p:spPr>
          <a:xfrm>
            <a:off x="3006300" y="2264763"/>
            <a:ext cx="2412625" cy="2214900"/>
          </a:xfrm>
          <a:prstGeom prst="rect">
            <a:avLst/>
          </a:prstGeom>
          <a:noFill/>
          <a:ln>
            <a:noFill/>
          </a:ln>
        </p:spPr>
      </p:pic>
      <p:pic>
        <p:nvPicPr>
          <p:cNvPr id="245" name="Google Shape;245;p30"/>
          <p:cNvPicPr preferRelativeResize="0"/>
          <p:nvPr/>
        </p:nvPicPr>
        <p:blipFill>
          <a:blip r:embed="rId6">
            <a:alphaModFix/>
          </a:blip>
          <a:stretch>
            <a:fillRect/>
          </a:stretch>
        </p:blipFill>
        <p:spPr>
          <a:xfrm>
            <a:off x="6383799" y="1370905"/>
            <a:ext cx="1753599" cy="1348419"/>
          </a:xfrm>
          <a:prstGeom prst="rect">
            <a:avLst/>
          </a:prstGeom>
          <a:noFill/>
          <a:ln>
            <a:noFill/>
          </a:ln>
        </p:spPr>
      </p:pic>
      <p:pic>
        <p:nvPicPr>
          <p:cNvPr id="246" name="Google Shape;246;p30"/>
          <p:cNvPicPr preferRelativeResize="0"/>
          <p:nvPr/>
        </p:nvPicPr>
        <p:blipFill>
          <a:blip r:embed="rId7">
            <a:alphaModFix/>
          </a:blip>
          <a:stretch>
            <a:fillRect/>
          </a:stretch>
        </p:blipFill>
        <p:spPr>
          <a:xfrm>
            <a:off x="6432363" y="3099150"/>
            <a:ext cx="1656475" cy="1486299"/>
          </a:xfrm>
          <a:prstGeom prst="rect">
            <a:avLst/>
          </a:prstGeom>
          <a:noFill/>
          <a:ln>
            <a:noFill/>
          </a:ln>
        </p:spPr>
      </p:pic>
      <p:sp>
        <p:nvSpPr>
          <p:cNvPr id="247" name="Google Shape;247;p30"/>
          <p:cNvSpPr txBox="1"/>
          <p:nvPr/>
        </p:nvSpPr>
        <p:spPr>
          <a:xfrm>
            <a:off x="5822425" y="928413"/>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2</a:t>
            </a:r>
            <a:r>
              <a:rPr b="1" i="1" lang="en" sz="1600">
                <a:solidFill>
                  <a:schemeClr val="lt1"/>
                </a:solidFill>
                <a:latin typeface="Calibri"/>
                <a:ea typeface="Calibri"/>
                <a:cs typeface="Calibri"/>
                <a:sym typeface="Calibri"/>
              </a:rPr>
              <a:t>D Model Custom Thruster Guard</a:t>
            </a:r>
            <a:endParaRPr/>
          </a:p>
        </p:txBody>
      </p:sp>
      <p:sp>
        <p:nvSpPr>
          <p:cNvPr id="248" name="Google Shape;248;p30"/>
          <p:cNvSpPr txBox="1"/>
          <p:nvPr/>
        </p:nvSpPr>
        <p:spPr>
          <a:xfrm>
            <a:off x="5760600" y="2635300"/>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Front View (mm)</a:t>
            </a:r>
            <a:endParaRPr/>
          </a:p>
        </p:txBody>
      </p:sp>
      <p:sp>
        <p:nvSpPr>
          <p:cNvPr id="249" name="Google Shape;249;p30"/>
          <p:cNvSpPr txBox="1"/>
          <p:nvPr/>
        </p:nvSpPr>
        <p:spPr>
          <a:xfrm>
            <a:off x="5760613" y="4479675"/>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Top View (mm)</a:t>
            </a:r>
            <a:endParaRPr/>
          </a:p>
        </p:txBody>
      </p:sp>
      <p:sp>
        <p:nvSpPr>
          <p:cNvPr id="250" name="Google Shape;250;p30"/>
          <p:cNvSpPr txBox="1"/>
          <p:nvPr/>
        </p:nvSpPr>
        <p:spPr>
          <a:xfrm>
            <a:off x="396075" y="1020275"/>
            <a:ext cx="48957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 custom thruster guard mesh will be attached to the default shroud given by manufacturer</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Applied Design for Manufacturing (DFM) to model to be compatible with manufacturing methods</a:t>
            </a:r>
            <a:endParaRPr sz="16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4" name="Shape 254"/>
        <p:cNvGrpSpPr/>
        <p:nvPr/>
      </p:nvGrpSpPr>
      <p:grpSpPr>
        <a:xfrm>
          <a:off x="0" y="0"/>
          <a:ext cx="0" cy="0"/>
          <a:chOff x="0" y="0"/>
          <a:chExt cx="0" cy="0"/>
        </a:xfrm>
      </p:grpSpPr>
      <p:sp>
        <p:nvSpPr>
          <p:cNvPr id="255" name="Google Shape;255;p3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cxnSp>
        <p:nvCxnSpPr>
          <p:cNvPr id="256" name="Google Shape;256;p3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57" name="Google Shape;257;p31"/>
          <p:cNvSpPr txBox="1"/>
          <p:nvPr/>
        </p:nvSpPr>
        <p:spPr>
          <a:xfrm>
            <a:off x="519700" y="354700"/>
            <a:ext cx="67041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u="sng">
                <a:solidFill>
                  <a:schemeClr val="lt1"/>
                </a:solidFill>
                <a:latin typeface="Balthazar"/>
                <a:ea typeface="Balthazar"/>
                <a:cs typeface="Balthazar"/>
                <a:sym typeface="Balthazar"/>
              </a:rPr>
              <a:t>Computational Fluid Dynamics (CFD)</a:t>
            </a:r>
            <a:endParaRPr sz="3400" u="sng">
              <a:solidFill>
                <a:schemeClr val="lt1"/>
              </a:solidFill>
              <a:latin typeface="Balthazar"/>
              <a:ea typeface="Balthazar"/>
              <a:cs typeface="Balthazar"/>
              <a:sym typeface="Balthazar"/>
            </a:endParaRPr>
          </a:p>
        </p:txBody>
      </p:sp>
      <p:sp>
        <p:nvSpPr>
          <p:cNvPr id="258" name="Google Shape;258;p31"/>
          <p:cNvSpPr txBox="1"/>
          <p:nvPr/>
        </p:nvSpPr>
        <p:spPr>
          <a:xfrm>
            <a:off x="396075" y="977800"/>
            <a:ext cx="7804200" cy="6864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Purpose of CFD is to model Hydrodynamic performance of ROV, this includes: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Coefficient of Drag relative to surfaces of ROV (Sx, Sy, Sz)</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Fluid Stability Relative to Reynold’s Number (Defines different velocity values)</a:t>
            </a:r>
            <a:endParaRPr sz="1600">
              <a:solidFill>
                <a:schemeClr val="lt1"/>
              </a:solidFill>
              <a:latin typeface="Calibri"/>
              <a:ea typeface="Calibri"/>
              <a:cs typeface="Calibri"/>
              <a:sym typeface="Calibri"/>
            </a:endParaRPr>
          </a:p>
          <a:p>
            <a:pPr indent="0" lvl="0" marL="45720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Equation for Coefficient of Drag: </a:t>
            </a:r>
            <a:endParaRPr sz="1600">
              <a:solidFill>
                <a:schemeClr val="lt1"/>
              </a:solidFill>
              <a:latin typeface="Calibri"/>
              <a:ea typeface="Calibri"/>
              <a:cs typeface="Calibri"/>
              <a:sym typeface="Calibri"/>
            </a:endParaRPr>
          </a:p>
          <a:p>
            <a:pPr indent="0" lvl="0" marL="45720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17500" lvl="0" marL="457200" rtl="0" algn="l">
              <a:spcBef>
                <a:spcPts val="0"/>
              </a:spcBef>
              <a:spcAft>
                <a:spcPts val="0"/>
              </a:spcAft>
              <a:buClr>
                <a:schemeClr val="lt1"/>
              </a:buClr>
              <a:buSzPts val="1400"/>
              <a:buChar char="●"/>
            </a:pPr>
            <a:r>
              <a:rPr lang="en">
                <a:solidFill>
                  <a:schemeClr val="lt1"/>
                </a:solidFill>
              </a:rPr>
              <a:t>Global Meshing feature was </a:t>
            </a:r>
            <a:br>
              <a:rPr lang="en">
                <a:solidFill>
                  <a:schemeClr val="lt1"/>
                </a:solidFill>
              </a:rPr>
            </a:br>
            <a:r>
              <a:rPr lang="en">
                <a:solidFill>
                  <a:schemeClr val="lt1"/>
                </a:solidFill>
              </a:rPr>
              <a:t>used for the mesh of chassis.</a:t>
            </a:r>
            <a:endParaRPr>
              <a:solidFill>
                <a:schemeClr val="lt1"/>
              </a:solidFill>
            </a:endParaRPr>
          </a:p>
          <a:p>
            <a:pPr indent="0" lvl="0" marL="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Model is relative to surface Sz</a:t>
            </a:r>
            <a:endParaRPr>
              <a:solidFill>
                <a:schemeClr val="lt1"/>
              </a:solidFill>
            </a:endParaRPr>
          </a:p>
          <a:p>
            <a:pPr indent="0" lvl="0" marL="457200" rtl="0" algn="l">
              <a:spcBef>
                <a:spcPts val="0"/>
              </a:spcBef>
              <a:spcAft>
                <a:spcPts val="0"/>
              </a:spcAft>
              <a:buNone/>
            </a:pPr>
            <a:r>
              <a:rPr lang="en">
                <a:solidFill>
                  <a:schemeClr val="lt1"/>
                </a:solidFill>
              </a:rPr>
              <a:t>(Front &amp; Back of ROV)</a:t>
            </a:r>
            <a:endParaRPr>
              <a:solidFill>
                <a:schemeClr val="lt1"/>
              </a:solidFill>
            </a:endParaRPr>
          </a:p>
          <a:p>
            <a:pPr indent="0" lvl="0" marL="45720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Perform component-level optimization</a:t>
            </a:r>
            <a:endParaRPr>
              <a:solidFill>
                <a:schemeClr val="lt1"/>
              </a:solidFill>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59" name="Google Shape;259;p31"/>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60" name="Google Shape;260;p3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20</a:t>
            </a:r>
            <a:endParaRPr sz="2200">
              <a:solidFill>
                <a:srgbClr val="FFFFFF"/>
              </a:solidFill>
              <a:latin typeface="Balthazar"/>
              <a:ea typeface="Balthazar"/>
              <a:cs typeface="Balthazar"/>
              <a:sym typeface="Balthazar"/>
            </a:endParaRPr>
          </a:p>
        </p:txBody>
      </p:sp>
      <p:pic>
        <p:nvPicPr>
          <p:cNvPr id="261" name="Google Shape;261;p31" title="CFD New (Improved).png"/>
          <p:cNvPicPr preferRelativeResize="0"/>
          <p:nvPr/>
        </p:nvPicPr>
        <p:blipFill>
          <a:blip r:embed="rId4">
            <a:alphaModFix/>
          </a:blip>
          <a:stretch>
            <a:fillRect/>
          </a:stretch>
        </p:blipFill>
        <p:spPr>
          <a:xfrm>
            <a:off x="519699" y="2366700"/>
            <a:ext cx="3476175" cy="672475"/>
          </a:xfrm>
          <a:prstGeom prst="rect">
            <a:avLst/>
          </a:prstGeom>
          <a:noFill/>
          <a:ln>
            <a:noFill/>
          </a:ln>
        </p:spPr>
      </p:pic>
      <p:pic>
        <p:nvPicPr>
          <p:cNvPr id="262" name="Google Shape;262;p31" title="Vz1msRoundyonline-video-cutter.com-ezgif.com-video-to-gif-converter.gif"/>
          <p:cNvPicPr preferRelativeResize="0"/>
          <p:nvPr/>
        </p:nvPicPr>
        <p:blipFill rotWithShape="1">
          <a:blip r:embed="rId5">
            <a:alphaModFix/>
          </a:blip>
          <a:srcRect b="10310" l="26262" r="22122" t="4198"/>
          <a:stretch/>
        </p:blipFill>
        <p:spPr>
          <a:xfrm>
            <a:off x="6869738" y="2483250"/>
            <a:ext cx="1714034" cy="1547224"/>
          </a:xfrm>
          <a:prstGeom prst="rect">
            <a:avLst/>
          </a:prstGeom>
          <a:noFill/>
          <a:ln>
            <a:noFill/>
          </a:ln>
        </p:spPr>
      </p:pic>
      <p:pic>
        <p:nvPicPr>
          <p:cNvPr id="263" name="Google Shape;263;p31" title="Chassy_Zachonline-video-cutter.com-ezgif.com-video-to-gif-converter.gif"/>
          <p:cNvPicPr preferRelativeResize="0"/>
          <p:nvPr/>
        </p:nvPicPr>
        <p:blipFill rotWithShape="1">
          <a:blip r:embed="rId6">
            <a:alphaModFix/>
          </a:blip>
          <a:srcRect b="3275" l="22999" r="28716" t="5501"/>
          <a:stretch/>
        </p:blipFill>
        <p:spPr>
          <a:xfrm>
            <a:off x="4157617" y="2483250"/>
            <a:ext cx="1819734" cy="1547225"/>
          </a:xfrm>
          <a:prstGeom prst="rect">
            <a:avLst/>
          </a:prstGeom>
          <a:noFill/>
          <a:ln>
            <a:noFill/>
          </a:ln>
        </p:spPr>
      </p:pic>
      <p:sp>
        <p:nvSpPr>
          <p:cNvPr id="264" name="Google Shape;264;p31"/>
          <p:cNvSpPr txBox="1"/>
          <p:nvPr/>
        </p:nvSpPr>
        <p:spPr>
          <a:xfrm>
            <a:off x="3949250" y="3968325"/>
            <a:ext cx="2320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Figure 1: Original Chassis</a:t>
            </a:r>
            <a:endParaRPr b="1" sz="1600">
              <a:solidFill>
                <a:schemeClr val="lt1"/>
              </a:solidFill>
              <a:latin typeface="Calibri"/>
              <a:ea typeface="Calibri"/>
              <a:cs typeface="Calibri"/>
              <a:sym typeface="Calibri"/>
            </a:endParaRPr>
          </a:p>
        </p:txBody>
      </p:sp>
      <p:sp>
        <p:nvSpPr>
          <p:cNvPr id="265" name="Google Shape;265;p31"/>
          <p:cNvSpPr txBox="1"/>
          <p:nvPr/>
        </p:nvSpPr>
        <p:spPr>
          <a:xfrm>
            <a:off x="3995875" y="4761975"/>
            <a:ext cx="268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66" name="Google Shape;266;p31"/>
          <p:cNvSpPr txBox="1"/>
          <p:nvPr/>
        </p:nvSpPr>
        <p:spPr>
          <a:xfrm>
            <a:off x="6532450" y="3968313"/>
            <a:ext cx="2388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Figure 2: Rounded Chassis</a:t>
            </a:r>
            <a:endParaRPr b="1"/>
          </a:p>
        </p:txBody>
      </p:sp>
      <p:pic>
        <p:nvPicPr>
          <p:cNvPr id="267" name="Google Shape;267;p31"/>
          <p:cNvPicPr preferRelativeResize="0"/>
          <p:nvPr/>
        </p:nvPicPr>
        <p:blipFill>
          <a:blip r:embed="rId7">
            <a:alphaModFix/>
          </a:blip>
          <a:stretch>
            <a:fillRect/>
          </a:stretch>
        </p:blipFill>
        <p:spPr>
          <a:xfrm>
            <a:off x="6139099" y="2716326"/>
            <a:ext cx="568900" cy="1314150"/>
          </a:xfrm>
          <a:prstGeom prst="rect">
            <a:avLst/>
          </a:prstGeom>
          <a:noFill/>
          <a:ln>
            <a:noFill/>
          </a:ln>
        </p:spPr>
      </p:pic>
      <p:sp>
        <p:nvSpPr>
          <p:cNvPr id="268" name="Google Shape;268;p31"/>
          <p:cNvSpPr txBox="1"/>
          <p:nvPr/>
        </p:nvSpPr>
        <p:spPr>
          <a:xfrm>
            <a:off x="4600025" y="2052138"/>
            <a:ext cx="393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Velocity Relative To Surface (Vz = 1 m/s)</a:t>
            </a:r>
            <a:endParaRPr b="1" sz="1600">
              <a:solidFill>
                <a:schemeClr val="lt1"/>
              </a:solidFill>
              <a:latin typeface="Calibri"/>
              <a:ea typeface="Calibri"/>
              <a:cs typeface="Calibri"/>
              <a:sym typeface="Calibri"/>
            </a:endParaRPr>
          </a:p>
        </p:txBody>
      </p:sp>
      <p:pic>
        <p:nvPicPr>
          <p:cNvPr id="269" name="Google Shape;269;p31"/>
          <p:cNvPicPr preferRelativeResize="0"/>
          <p:nvPr/>
        </p:nvPicPr>
        <p:blipFill>
          <a:blip r:embed="rId8">
            <a:alphaModFix/>
          </a:blip>
          <a:stretch>
            <a:fillRect/>
          </a:stretch>
        </p:blipFill>
        <p:spPr>
          <a:xfrm>
            <a:off x="4576938" y="4343675"/>
            <a:ext cx="981075" cy="304800"/>
          </a:xfrm>
          <a:prstGeom prst="rect">
            <a:avLst/>
          </a:prstGeom>
          <a:noFill/>
          <a:ln>
            <a:noFill/>
          </a:ln>
        </p:spPr>
      </p:pic>
      <p:pic>
        <p:nvPicPr>
          <p:cNvPr id="270" name="Google Shape;270;p31"/>
          <p:cNvPicPr preferRelativeResize="0"/>
          <p:nvPr/>
        </p:nvPicPr>
        <p:blipFill>
          <a:blip r:embed="rId9">
            <a:alphaModFix/>
          </a:blip>
          <a:stretch>
            <a:fillRect/>
          </a:stretch>
        </p:blipFill>
        <p:spPr>
          <a:xfrm>
            <a:off x="7240988" y="4343675"/>
            <a:ext cx="971550" cy="304800"/>
          </a:xfrm>
          <a:prstGeom prst="rect">
            <a:avLst/>
          </a:prstGeom>
          <a:noFill/>
          <a:ln>
            <a:noFill/>
          </a:ln>
        </p:spPr>
      </p:pic>
      <p:sp>
        <p:nvSpPr>
          <p:cNvPr id="271" name="Google Shape;271;p31"/>
          <p:cNvSpPr txBox="1"/>
          <p:nvPr/>
        </p:nvSpPr>
        <p:spPr>
          <a:xfrm>
            <a:off x="6139150" y="2433400"/>
            <a:ext cx="56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Calibri"/>
                <a:ea typeface="Calibri"/>
                <a:cs typeface="Calibri"/>
                <a:sym typeface="Calibri"/>
              </a:rPr>
              <a:t>[</a:t>
            </a:r>
            <a:r>
              <a:rPr b="1" lang="en" sz="1100">
                <a:solidFill>
                  <a:schemeClr val="lt1"/>
                </a:solidFill>
                <a:latin typeface="Calibri"/>
                <a:ea typeface="Calibri"/>
                <a:cs typeface="Calibri"/>
                <a:sym typeface="Calibri"/>
              </a:rPr>
              <a:t>m/s]</a:t>
            </a:r>
            <a:endParaRPr sz="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5" name="Shape 275"/>
        <p:cNvGrpSpPr/>
        <p:nvPr/>
      </p:nvGrpSpPr>
      <p:grpSpPr>
        <a:xfrm>
          <a:off x="0" y="0"/>
          <a:ext cx="0" cy="0"/>
          <a:chOff x="0" y="0"/>
          <a:chExt cx="0" cy="0"/>
        </a:xfrm>
      </p:grpSpPr>
      <p:sp>
        <p:nvSpPr>
          <p:cNvPr id="276" name="Google Shape;276;p3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7" name="Google Shape;277;p3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78" name="Google Shape;278;p32"/>
          <p:cNvSpPr txBox="1"/>
          <p:nvPr/>
        </p:nvSpPr>
        <p:spPr>
          <a:xfrm>
            <a:off x="519700" y="354700"/>
            <a:ext cx="75555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Ballast System - Tank and </a:t>
            </a:r>
            <a:r>
              <a:rPr lang="en" sz="3400">
                <a:solidFill>
                  <a:schemeClr val="lt1"/>
                </a:solidFill>
                <a:latin typeface="Balthazar"/>
                <a:ea typeface="Balthazar"/>
                <a:cs typeface="Balthazar"/>
                <a:sym typeface="Balthazar"/>
              </a:rPr>
              <a:t>Buoyant</a:t>
            </a:r>
            <a:r>
              <a:rPr lang="en" sz="3400">
                <a:solidFill>
                  <a:schemeClr val="lt1"/>
                </a:solidFill>
                <a:latin typeface="Balthazar"/>
                <a:ea typeface="Balthazar"/>
                <a:cs typeface="Balthazar"/>
                <a:sym typeface="Balthazar"/>
              </a:rPr>
              <a:t> Materials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79" name="Google Shape;279;p32"/>
          <p:cNvSpPr txBox="1"/>
          <p:nvPr/>
        </p:nvSpPr>
        <p:spPr>
          <a:xfrm>
            <a:off x="4662050" y="1393650"/>
            <a:ext cx="40551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Calibri"/>
                <a:ea typeface="Calibri"/>
                <a:cs typeface="Calibri"/>
                <a:sym typeface="Calibri"/>
              </a:rPr>
              <a:t>The ballast system will occupy the top half of the float configuration</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rPr lang="en" sz="1600">
                <a:solidFill>
                  <a:schemeClr val="lt1"/>
                </a:solidFill>
                <a:latin typeface="Calibri"/>
                <a:ea typeface="Calibri"/>
                <a:cs typeface="Calibri"/>
                <a:sym typeface="Calibri"/>
              </a:rPr>
              <a:t>A </a:t>
            </a:r>
            <a:r>
              <a:rPr lang="en" sz="1600">
                <a:solidFill>
                  <a:schemeClr val="lt1"/>
                </a:solidFill>
                <a:latin typeface="Calibri"/>
                <a:ea typeface="Calibri"/>
                <a:cs typeface="Calibri"/>
                <a:sym typeface="Calibri"/>
              </a:rPr>
              <a:t>peristaltic</a:t>
            </a:r>
            <a:r>
              <a:rPr lang="en" sz="1600">
                <a:solidFill>
                  <a:schemeClr val="lt1"/>
                </a:solidFill>
                <a:latin typeface="Calibri"/>
                <a:ea typeface="Calibri"/>
                <a:cs typeface="Calibri"/>
                <a:sym typeface="Calibri"/>
              </a:rPr>
              <a:t> pump will be used to pump water in and out of a bladder</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rPr lang="en" sz="1600">
                <a:solidFill>
                  <a:schemeClr val="lt1"/>
                </a:solidFill>
                <a:latin typeface="Calibri"/>
                <a:ea typeface="Calibri"/>
                <a:cs typeface="Calibri"/>
                <a:sym typeface="Calibri"/>
              </a:rPr>
              <a:t>The Float will displace a volume of </a:t>
            </a:r>
            <a:r>
              <a:rPr b="1" lang="en" sz="1600">
                <a:solidFill>
                  <a:schemeClr val="lt1"/>
                </a:solidFill>
                <a:latin typeface="Calibri"/>
                <a:ea typeface="Calibri"/>
                <a:cs typeface="Calibri"/>
                <a:sym typeface="Calibri"/>
              </a:rPr>
              <a:t>1L </a:t>
            </a:r>
            <a:r>
              <a:rPr lang="en" sz="1600">
                <a:solidFill>
                  <a:schemeClr val="lt1"/>
                </a:solidFill>
                <a:latin typeface="Calibri"/>
                <a:ea typeface="Calibri"/>
                <a:cs typeface="Calibri"/>
                <a:sym typeface="Calibri"/>
              </a:rPr>
              <a:t>to achieve negative/</a:t>
            </a:r>
            <a:r>
              <a:rPr lang="en" sz="1600">
                <a:solidFill>
                  <a:schemeClr val="lt1"/>
                </a:solidFill>
                <a:latin typeface="Calibri"/>
                <a:ea typeface="Calibri"/>
                <a:cs typeface="Calibri"/>
                <a:sym typeface="Calibri"/>
              </a:rPr>
              <a:t>positive</a:t>
            </a:r>
            <a:r>
              <a:rPr lang="en" sz="1600">
                <a:solidFill>
                  <a:schemeClr val="lt1"/>
                </a:solidFill>
                <a:latin typeface="Calibri"/>
                <a:ea typeface="Calibri"/>
                <a:cs typeface="Calibri"/>
                <a:sym typeface="Calibri"/>
              </a:rPr>
              <a:t> </a:t>
            </a:r>
            <a:r>
              <a:rPr lang="en" sz="1600">
                <a:solidFill>
                  <a:schemeClr val="lt1"/>
                </a:solidFill>
                <a:latin typeface="Calibri"/>
                <a:ea typeface="Calibri"/>
                <a:cs typeface="Calibri"/>
                <a:sym typeface="Calibri"/>
              </a:rPr>
              <a:t>buoyancy</a:t>
            </a:r>
            <a:r>
              <a:rPr b="1" lang="en" sz="1600">
                <a:solidFill>
                  <a:schemeClr val="lt1"/>
                </a:solidFill>
                <a:latin typeface="Calibri"/>
                <a:ea typeface="Calibri"/>
                <a:cs typeface="Calibri"/>
                <a:sym typeface="Calibri"/>
              </a:rPr>
              <a:t> </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80" name="Google Shape;280;p32"/>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81" name="Google Shape;281;p3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21</a:t>
            </a:r>
            <a:endParaRPr sz="2200">
              <a:solidFill>
                <a:schemeClr val="lt1"/>
              </a:solidFill>
              <a:latin typeface="Balthazar"/>
              <a:ea typeface="Balthazar"/>
              <a:cs typeface="Balthazar"/>
              <a:sym typeface="Balthazar"/>
            </a:endParaRPr>
          </a:p>
        </p:txBody>
      </p:sp>
      <p:pic>
        <p:nvPicPr>
          <p:cNvPr id="282" name="Google Shape;282;p32"/>
          <p:cNvPicPr preferRelativeResize="0"/>
          <p:nvPr/>
        </p:nvPicPr>
        <p:blipFill>
          <a:blip r:embed="rId4">
            <a:alphaModFix/>
          </a:blip>
          <a:stretch>
            <a:fillRect/>
          </a:stretch>
        </p:blipFill>
        <p:spPr>
          <a:xfrm>
            <a:off x="1204147" y="1419778"/>
            <a:ext cx="2743200" cy="3248040"/>
          </a:xfrm>
          <a:prstGeom prst="rect">
            <a:avLst/>
          </a:prstGeom>
          <a:solidFill>
            <a:srgbClr val="0A1735"/>
          </a:solidFill>
          <a:ln cap="flat" cmpd="sng" w="9525">
            <a:solidFill>
              <a:schemeClr val="lt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6" name="Shape 286"/>
        <p:cNvGrpSpPr/>
        <p:nvPr/>
      </p:nvGrpSpPr>
      <p:grpSpPr>
        <a:xfrm>
          <a:off x="0" y="0"/>
          <a:ext cx="0" cy="0"/>
          <a:chOff x="0" y="0"/>
          <a:chExt cx="0" cy="0"/>
        </a:xfrm>
      </p:grpSpPr>
      <p:sp>
        <p:nvSpPr>
          <p:cNvPr id="287" name="Google Shape;287;p3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33"/>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Electrical Power Systems (EPS)</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289" name="Google Shape;289;p33"/>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290" name="Google Shape;290;p33"/>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291" name="Google Shape;291;p33"/>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292" name="Google Shape;292;p33"/>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6" name="Shape 296"/>
        <p:cNvGrpSpPr/>
        <p:nvPr/>
      </p:nvGrpSpPr>
      <p:grpSpPr>
        <a:xfrm>
          <a:off x="0" y="0"/>
          <a:ext cx="0" cy="0"/>
          <a:chOff x="0" y="0"/>
          <a:chExt cx="0" cy="0"/>
        </a:xfrm>
      </p:grpSpPr>
      <p:sp>
        <p:nvSpPr>
          <p:cNvPr id="297" name="Google Shape;297;p3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8" name="Google Shape;298;p34"/>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299" name="Google Shape;299;p34"/>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Power Budget - ROV &amp; FLOAT</a:t>
            </a:r>
            <a:endParaRPr sz="3000">
              <a:solidFill>
                <a:schemeClr val="lt1"/>
              </a:solidFill>
              <a:latin typeface="Balthazar"/>
              <a:ea typeface="Balthazar"/>
              <a:cs typeface="Balthazar"/>
              <a:sym typeface="Balthazar"/>
            </a:endParaRPr>
          </a:p>
        </p:txBody>
      </p:sp>
      <p:pic>
        <p:nvPicPr>
          <p:cNvPr id="300" name="Google Shape;300;p34"/>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01" name="Google Shape;301;p3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graphicFrame>
        <p:nvGraphicFramePr>
          <p:cNvPr id="302" name="Google Shape;302;p34"/>
          <p:cNvGraphicFramePr/>
          <p:nvPr/>
        </p:nvGraphicFramePr>
        <p:xfrm>
          <a:off x="6199200" y="1270063"/>
          <a:ext cx="3000000" cy="3000000"/>
        </p:xfrm>
        <a:graphic>
          <a:graphicData uri="http://schemas.openxmlformats.org/drawingml/2006/table">
            <a:tbl>
              <a:tblPr>
                <a:noFill/>
                <a:tableStyleId>{987429CB-9F42-4AAD-9DD0-7BAEA2768FF5}</a:tableStyleId>
              </a:tblPr>
              <a:tblGrid>
                <a:gridCol w="1490250"/>
                <a:gridCol w="1030875"/>
              </a:tblGrid>
              <a:tr h="200025">
                <a:tc>
                  <a:txBody>
                    <a:bodyPr/>
                    <a:lstStyle/>
                    <a:p>
                      <a:pPr indent="0" lvl="0" marL="0" rtl="0" algn="ctr">
                        <a:lnSpc>
                          <a:spcPct val="115000"/>
                        </a:lnSpc>
                        <a:spcBef>
                          <a:spcPts val="0"/>
                        </a:spcBef>
                        <a:spcAft>
                          <a:spcPts val="0"/>
                        </a:spcAft>
                        <a:buNone/>
                      </a:pPr>
                      <a:r>
                        <a:rPr b="1" lang="en" sz="1000"/>
                        <a:t>Total Power (W):</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591.415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352425">
                <a:tc>
                  <a:txBody>
                    <a:bodyPr/>
                    <a:lstStyle/>
                    <a:p>
                      <a:pPr indent="0" lvl="0" marL="0" rtl="0" algn="ctr">
                        <a:lnSpc>
                          <a:spcPct val="115000"/>
                        </a:lnSpc>
                        <a:spcBef>
                          <a:spcPts val="0"/>
                        </a:spcBef>
                        <a:spcAft>
                          <a:spcPts val="0"/>
                        </a:spcAft>
                        <a:buNone/>
                      </a:pPr>
                      <a:r>
                        <a:rPr b="1" lang="en" sz="1000"/>
                        <a:t>Power w/ 10% Margin:</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650.5565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Power Supply (V):</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48</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Tether Current (A):</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12.32114583</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bl>
          </a:graphicData>
        </a:graphic>
      </p:graphicFrame>
      <p:graphicFrame>
        <p:nvGraphicFramePr>
          <p:cNvPr id="303" name="Google Shape;303;p34"/>
          <p:cNvGraphicFramePr/>
          <p:nvPr/>
        </p:nvGraphicFramePr>
        <p:xfrm>
          <a:off x="6199200" y="3484713"/>
          <a:ext cx="3000000" cy="3000000"/>
        </p:xfrm>
        <a:graphic>
          <a:graphicData uri="http://schemas.openxmlformats.org/drawingml/2006/table">
            <a:tbl>
              <a:tblPr>
                <a:noFill/>
                <a:tableStyleId>{987429CB-9F42-4AAD-9DD0-7BAEA2768FF5}</a:tableStyleId>
              </a:tblPr>
              <a:tblGrid>
                <a:gridCol w="1490250"/>
                <a:gridCol w="1030875"/>
              </a:tblGrid>
              <a:tr h="200025">
                <a:tc>
                  <a:txBody>
                    <a:bodyPr/>
                    <a:lstStyle/>
                    <a:p>
                      <a:pPr indent="0" lvl="0" marL="0" rtl="0" algn="ctr">
                        <a:lnSpc>
                          <a:spcPct val="115000"/>
                        </a:lnSpc>
                        <a:spcBef>
                          <a:spcPts val="0"/>
                        </a:spcBef>
                        <a:spcAft>
                          <a:spcPts val="0"/>
                        </a:spcAft>
                        <a:buNone/>
                      </a:pPr>
                      <a:r>
                        <a:rPr b="1" lang="en" sz="1000"/>
                        <a:t>Total Power (W):</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13.715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352425">
                <a:tc>
                  <a:txBody>
                    <a:bodyPr/>
                    <a:lstStyle/>
                    <a:p>
                      <a:pPr indent="0" lvl="0" marL="0" rtl="0" algn="ctr">
                        <a:lnSpc>
                          <a:spcPct val="115000"/>
                        </a:lnSpc>
                        <a:spcBef>
                          <a:spcPts val="0"/>
                        </a:spcBef>
                        <a:spcAft>
                          <a:spcPts val="0"/>
                        </a:spcAft>
                        <a:buNone/>
                      </a:pPr>
                      <a:r>
                        <a:rPr b="1" lang="en" sz="1000"/>
                        <a:t>Power w/ 30% Margin:</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17.8295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Power Supply (V):</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12</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Total Current (A):</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1.142916667</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bl>
          </a:graphicData>
        </a:graphic>
      </p:graphicFrame>
      <p:graphicFrame>
        <p:nvGraphicFramePr>
          <p:cNvPr id="304" name="Google Shape;304;p34"/>
          <p:cNvGraphicFramePr/>
          <p:nvPr/>
        </p:nvGraphicFramePr>
        <p:xfrm>
          <a:off x="539150" y="1057950"/>
          <a:ext cx="3000000" cy="3000000"/>
        </p:xfrm>
        <a:graphic>
          <a:graphicData uri="http://schemas.openxmlformats.org/drawingml/2006/table">
            <a:tbl>
              <a:tblPr>
                <a:noFill/>
                <a:tableStyleId>{987429CB-9F42-4AAD-9DD0-7BAEA2768FF5}</a:tableStyleId>
              </a:tblPr>
              <a:tblGrid>
                <a:gridCol w="1899725"/>
                <a:gridCol w="778575"/>
                <a:gridCol w="778575"/>
                <a:gridCol w="778575"/>
                <a:gridCol w="778575"/>
              </a:tblGrid>
              <a:tr h="182425">
                <a:tc gridSpan="5">
                  <a:txBody>
                    <a:bodyPr/>
                    <a:lstStyle/>
                    <a:p>
                      <a:pPr indent="0" lvl="0" marL="0" rtl="0" algn="ctr">
                        <a:lnSpc>
                          <a:spcPct val="115000"/>
                        </a:lnSpc>
                        <a:spcBef>
                          <a:spcPts val="0"/>
                        </a:spcBef>
                        <a:spcAft>
                          <a:spcPts val="0"/>
                        </a:spcAft>
                        <a:buNone/>
                      </a:pPr>
                      <a:r>
                        <a:rPr lang="en" sz="1000"/>
                        <a:t>Power Budget - ROV</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B4A7D6"/>
                    </a:solidFill>
                  </a:tcPr>
                </a:tc>
                <a:tc hMerge="1"/>
                <a:tc hMerge="1"/>
                <a:tc hMerge="1"/>
                <a:tc hMerge="1"/>
              </a:tr>
              <a:tr h="182425">
                <a:tc>
                  <a:txBody>
                    <a:bodyPr/>
                    <a:lstStyle/>
                    <a:p>
                      <a:pPr indent="0" lvl="0" marL="0" rtl="0" algn="ctr">
                        <a:lnSpc>
                          <a:spcPct val="115000"/>
                        </a:lnSpc>
                        <a:spcBef>
                          <a:spcPts val="0"/>
                        </a:spcBef>
                        <a:spcAft>
                          <a:spcPts val="0"/>
                        </a:spcAft>
                        <a:buNone/>
                      </a:pPr>
                      <a:r>
                        <a:rPr lang="en" sz="1000"/>
                        <a:t>Subsystem</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2C4C9"/>
                    </a:solidFill>
                  </a:tcPr>
                </a:tc>
                <a:tc>
                  <a:txBody>
                    <a:bodyPr/>
                    <a:lstStyle/>
                    <a:p>
                      <a:pPr indent="0" lvl="0" marL="0" rtl="0" algn="ctr">
                        <a:lnSpc>
                          <a:spcPct val="115000"/>
                        </a:lnSpc>
                        <a:spcBef>
                          <a:spcPts val="0"/>
                        </a:spcBef>
                        <a:spcAft>
                          <a:spcPts val="0"/>
                        </a:spcAft>
                        <a:buNone/>
                      </a:pPr>
                      <a:r>
                        <a:rPr lang="en" sz="1000"/>
                        <a:t>Number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t>Voltage (V)</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1000"/>
                        <a:t>Current (A)</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9CB9C"/>
                    </a:solidFill>
                  </a:tcPr>
                </a:tc>
                <a:tc>
                  <a:txBody>
                    <a:bodyPr/>
                    <a:lstStyle/>
                    <a:p>
                      <a:pPr indent="0" lvl="0" marL="0" rtl="0" algn="ctr">
                        <a:lnSpc>
                          <a:spcPct val="115000"/>
                        </a:lnSpc>
                        <a:spcBef>
                          <a:spcPts val="0"/>
                        </a:spcBef>
                        <a:spcAft>
                          <a:spcPts val="0"/>
                        </a:spcAft>
                        <a:buNone/>
                      </a:pPr>
                      <a:r>
                        <a:rPr lang="en" sz="1000"/>
                        <a:t>Power (W)</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EA9999"/>
                    </a:solidFill>
                  </a:tcPr>
                </a:tc>
              </a:tr>
              <a:tr h="182425">
                <a:tc>
                  <a:txBody>
                    <a:bodyPr/>
                    <a:lstStyle/>
                    <a:p>
                      <a:pPr indent="0" lvl="0" marL="0" rtl="0" algn="ctr">
                        <a:lnSpc>
                          <a:spcPct val="115000"/>
                        </a:lnSpc>
                        <a:spcBef>
                          <a:spcPts val="0"/>
                        </a:spcBef>
                        <a:spcAft>
                          <a:spcPts val="0"/>
                        </a:spcAft>
                        <a:buNone/>
                      </a:pPr>
                      <a:r>
                        <a:rPr lang="en" sz="1000"/>
                        <a:t>Thrusters</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6</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436.8</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Hobby Servo</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100</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Raspberry Pi 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3.3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16.5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331675">
                <a:tc>
                  <a:txBody>
                    <a:bodyPr/>
                    <a:lstStyle/>
                    <a:p>
                      <a:pPr indent="0" lvl="0" marL="0" rtl="0" algn="ctr">
                        <a:lnSpc>
                          <a:spcPct val="115000"/>
                        </a:lnSpc>
                        <a:spcBef>
                          <a:spcPts val="0"/>
                        </a:spcBef>
                        <a:spcAft>
                          <a:spcPts val="0"/>
                        </a:spcAft>
                        <a:buNone/>
                      </a:pPr>
                      <a:r>
                        <a:rPr lang="en" sz="1000"/>
                        <a:t>BlueRobotics Navigator Flight Controller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ArduCam 4k</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0.35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1.75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Brio 100</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0.35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1.75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Pressure/Depth Sensor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0.003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0.015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Lights</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0.7</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33.6</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gridSpan="5">
                  <a:txBody>
                    <a:bodyPr/>
                    <a:lstStyle/>
                    <a:p>
                      <a:pPr indent="0" lvl="0" marL="0" rtl="0" algn="ctr">
                        <a:lnSpc>
                          <a:spcPct val="115000"/>
                        </a:lnSpc>
                        <a:spcBef>
                          <a:spcPts val="0"/>
                        </a:spcBef>
                        <a:spcAft>
                          <a:spcPts val="0"/>
                        </a:spcAft>
                        <a:buNone/>
                      </a:pPr>
                      <a:r>
                        <a:rPr lang="en" sz="1000"/>
                        <a:t>Power Budget - FLOAT</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B4A7D6"/>
                    </a:solidFill>
                  </a:tcPr>
                </a:tc>
                <a:tc hMerge="1"/>
                <a:tc hMerge="1"/>
                <a:tc hMerge="1"/>
                <a:tc hMerge="1"/>
              </a:tr>
              <a:tr h="182425">
                <a:tc>
                  <a:txBody>
                    <a:bodyPr/>
                    <a:lstStyle/>
                    <a:p>
                      <a:pPr indent="0" lvl="0" marL="0" rtl="0" algn="ctr">
                        <a:lnSpc>
                          <a:spcPct val="115000"/>
                        </a:lnSpc>
                        <a:spcBef>
                          <a:spcPts val="0"/>
                        </a:spcBef>
                        <a:spcAft>
                          <a:spcPts val="0"/>
                        </a:spcAft>
                        <a:buNone/>
                      </a:pPr>
                      <a:r>
                        <a:rPr lang="en" sz="1000"/>
                        <a:t>Subsystem</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2C4C9"/>
                    </a:solidFill>
                  </a:tcPr>
                </a:tc>
                <a:tc>
                  <a:txBody>
                    <a:bodyPr/>
                    <a:lstStyle/>
                    <a:p>
                      <a:pPr indent="0" lvl="0" marL="0" rtl="0" algn="ctr">
                        <a:lnSpc>
                          <a:spcPct val="115000"/>
                        </a:lnSpc>
                        <a:spcBef>
                          <a:spcPts val="0"/>
                        </a:spcBef>
                        <a:spcAft>
                          <a:spcPts val="0"/>
                        </a:spcAft>
                        <a:buNone/>
                      </a:pPr>
                      <a:r>
                        <a:rPr lang="en" sz="1000"/>
                        <a:t>Number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t>Voltage (V)</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1000"/>
                        <a:t>Current (A)</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9CB9C"/>
                    </a:solidFill>
                  </a:tcPr>
                </a:tc>
                <a:tc>
                  <a:txBody>
                    <a:bodyPr/>
                    <a:lstStyle/>
                    <a:p>
                      <a:pPr indent="0" lvl="0" marL="0" rtl="0" algn="ctr">
                        <a:lnSpc>
                          <a:spcPct val="115000"/>
                        </a:lnSpc>
                        <a:spcBef>
                          <a:spcPts val="0"/>
                        </a:spcBef>
                        <a:spcAft>
                          <a:spcPts val="0"/>
                        </a:spcAft>
                        <a:buNone/>
                      </a:pPr>
                      <a:r>
                        <a:rPr lang="en" sz="1000"/>
                        <a:t>Power (W)</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EA9999"/>
                    </a:solidFill>
                  </a:tcPr>
                </a:tc>
              </a:tr>
              <a:tr h="182425">
                <a:tc>
                  <a:txBody>
                    <a:bodyPr/>
                    <a:lstStyle/>
                    <a:p>
                      <a:pPr indent="0" lvl="0" marL="0" rtl="0" algn="ctr">
                        <a:lnSpc>
                          <a:spcPct val="115000"/>
                        </a:lnSpc>
                        <a:spcBef>
                          <a:spcPts val="0"/>
                        </a:spcBef>
                        <a:spcAft>
                          <a:spcPts val="0"/>
                        </a:spcAft>
                        <a:buNone/>
                      </a:pPr>
                      <a:r>
                        <a:rPr lang="en" sz="1000"/>
                        <a:t>Ultrasonic Sensor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Pressure/Depth Sensor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0.003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0.015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Pico W</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3.3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1.65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Buoyancy Engine</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Heating Pad</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0.42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5.04</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8" name="Shape 308"/>
        <p:cNvGrpSpPr/>
        <p:nvPr/>
      </p:nvGrpSpPr>
      <p:grpSpPr>
        <a:xfrm>
          <a:off x="0" y="0"/>
          <a:ext cx="0" cy="0"/>
          <a:chOff x="0" y="0"/>
          <a:chExt cx="0" cy="0"/>
        </a:xfrm>
      </p:grpSpPr>
      <p:sp>
        <p:nvSpPr>
          <p:cNvPr id="309" name="Google Shape;309;p3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10" name="Google Shape;310;p35"/>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11" name="Google Shape;311;p35"/>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ROV PCB Implementation</a:t>
            </a:r>
            <a:endParaRPr sz="3000">
              <a:solidFill>
                <a:schemeClr val="lt1"/>
              </a:solidFill>
              <a:latin typeface="Balthazar"/>
              <a:ea typeface="Balthazar"/>
              <a:cs typeface="Balthazar"/>
              <a:sym typeface="Balthazar"/>
            </a:endParaRPr>
          </a:p>
        </p:txBody>
      </p:sp>
      <p:pic>
        <p:nvPicPr>
          <p:cNvPr id="312" name="Google Shape;312;p35"/>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13" name="Google Shape;313;p3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sp>
        <p:nvSpPr>
          <p:cNvPr id="314" name="Google Shape;314;p35"/>
          <p:cNvSpPr txBox="1"/>
          <p:nvPr/>
        </p:nvSpPr>
        <p:spPr>
          <a:xfrm>
            <a:off x="463200" y="1021075"/>
            <a:ext cx="43176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PCB 1 — Front-End + 48→12 + 12 V distribution</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48 V input (bulkhead/tether)</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Fuse/eFuse (maybe)</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TVS surge clamp</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EMI filter (common-mode choke + LC)</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Contactor/kill (if required)</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Mount/connector for the ready-made 48→12 module</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12 V bulk capacitors</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12 V distribution (fused branches to lights, etc.)</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Star ground point + current/voltage sense (optional)</a:t>
            </a:r>
            <a:endParaRPr b="1" sz="1600">
              <a:solidFill>
                <a:schemeClr val="lt1"/>
              </a:solidFill>
              <a:latin typeface="Calibri"/>
              <a:ea typeface="Calibri"/>
              <a:cs typeface="Calibri"/>
              <a:sym typeface="Calibri"/>
            </a:endParaRPr>
          </a:p>
        </p:txBody>
      </p:sp>
      <p:sp>
        <p:nvSpPr>
          <p:cNvPr id="315" name="Google Shape;315;p35"/>
          <p:cNvSpPr txBox="1"/>
          <p:nvPr/>
        </p:nvSpPr>
        <p:spPr>
          <a:xfrm>
            <a:off x="4780800" y="1040350"/>
            <a:ext cx="40899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PCB 2 — Control + 12→5 + 5 V distribution</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12→5 converter</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“Quiet island” filtering (input bead/inductor + caps)</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5 V fusing (Pi/USB)</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Power supervisor / UVLO for Pi (highly recommended)</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Sensor &amp; comms connectors (IMU, pressure, etc.)</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Telemetry interfaces (UART/CAN/RS-485)</a:t>
            </a:r>
            <a:endParaRPr b="1" sz="1600">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9" name="Shape 319"/>
        <p:cNvGrpSpPr/>
        <p:nvPr/>
      </p:nvGrpSpPr>
      <p:grpSpPr>
        <a:xfrm>
          <a:off x="0" y="0"/>
          <a:ext cx="0" cy="0"/>
          <a:chOff x="0" y="0"/>
          <a:chExt cx="0" cy="0"/>
        </a:xfrm>
      </p:grpSpPr>
      <p:sp>
        <p:nvSpPr>
          <p:cNvPr id="320" name="Google Shape;320;p3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1" name="Google Shape;321;p36"/>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22" name="Google Shape;322;p36"/>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ROV Electrical Schematic</a:t>
            </a:r>
            <a:endParaRPr sz="3000">
              <a:solidFill>
                <a:schemeClr val="lt1"/>
              </a:solidFill>
              <a:latin typeface="Balthazar"/>
              <a:ea typeface="Balthazar"/>
              <a:cs typeface="Balthazar"/>
              <a:sym typeface="Balthazar"/>
            </a:endParaRPr>
          </a:p>
        </p:txBody>
      </p:sp>
      <p:pic>
        <p:nvPicPr>
          <p:cNvPr id="323" name="Google Shape;323;p36"/>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24" name="Google Shape;324;p3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pic>
        <p:nvPicPr>
          <p:cNvPr id="325" name="Google Shape;325;p36"/>
          <p:cNvPicPr preferRelativeResize="0"/>
          <p:nvPr/>
        </p:nvPicPr>
        <p:blipFill>
          <a:blip r:embed="rId4">
            <a:alphaModFix/>
          </a:blip>
          <a:stretch>
            <a:fillRect/>
          </a:stretch>
        </p:blipFill>
        <p:spPr>
          <a:xfrm>
            <a:off x="1824213" y="913225"/>
            <a:ext cx="5495576" cy="39909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9" name="Shape 329"/>
        <p:cNvGrpSpPr/>
        <p:nvPr/>
      </p:nvGrpSpPr>
      <p:grpSpPr>
        <a:xfrm>
          <a:off x="0" y="0"/>
          <a:ext cx="0" cy="0"/>
          <a:chOff x="0" y="0"/>
          <a:chExt cx="0" cy="0"/>
        </a:xfrm>
      </p:grpSpPr>
      <p:sp>
        <p:nvSpPr>
          <p:cNvPr id="330" name="Google Shape;330;p3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1" name="Google Shape;331;p37"/>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32" name="Google Shape;332;p37"/>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ROV Parts and Accessories</a:t>
            </a:r>
            <a:endParaRPr sz="3000">
              <a:solidFill>
                <a:schemeClr val="lt1"/>
              </a:solidFill>
              <a:latin typeface="Balthazar"/>
              <a:ea typeface="Balthazar"/>
              <a:cs typeface="Balthazar"/>
              <a:sym typeface="Balthazar"/>
            </a:endParaRPr>
          </a:p>
        </p:txBody>
      </p:sp>
      <p:pic>
        <p:nvPicPr>
          <p:cNvPr id="333" name="Google Shape;333;p37"/>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34" name="Google Shape;334;p3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sp>
        <p:nvSpPr>
          <p:cNvPr id="335" name="Google Shape;335;p37"/>
          <p:cNvSpPr txBox="1"/>
          <p:nvPr/>
        </p:nvSpPr>
        <p:spPr>
          <a:xfrm>
            <a:off x="1070925" y="973475"/>
            <a:ext cx="3091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lt1"/>
                </a:solidFill>
                <a:latin typeface="Calibri"/>
                <a:ea typeface="Calibri"/>
                <a:cs typeface="Calibri"/>
                <a:sym typeface="Calibri"/>
              </a:rPr>
              <a:t>Outland Technology ROV Neutral Cable</a:t>
            </a:r>
            <a:endParaRPr sz="1600">
              <a:solidFill>
                <a:schemeClr val="lt1"/>
              </a:solidFill>
              <a:latin typeface="Calibri"/>
              <a:ea typeface="Calibri"/>
              <a:cs typeface="Calibri"/>
              <a:sym typeface="Calibri"/>
            </a:endParaRPr>
          </a:p>
        </p:txBody>
      </p:sp>
      <p:sp>
        <p:nvSpPr>
          <p:cNvPr id="336" name="Google Shape;336;p37"/>
          <p:cNvSpPr txBox="1"/>
          <p:nvPr/>
        </p:nvSpPr>
        <p:spPr>
          <a:xfrm>
            <a:off x="4992000" y="913225"/>
            <a:ext cx="3205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lt1"/>
                </a:solidFill>
                <a:latin typeface="Calibri"/>
                <a:ea typeface="Calibri"/>
                <a:cs typeface="Calibri"/>
                <a:sym typeface="Calibri"/>
              </a:rPr>
              <a:t>Daygreen 48V to 12V 480W DC-DC Step-down Converter</a:t>
            </a:r>
            <a:endParaRPr sz="1600">
              <a:solidFill>
                <a:schemeClr val="lt1"/>
              </a:solidFill>
              <a:latin typeface="Calibri"/>
              <a:ea typeface="Calibri"/>
              <a:cs typeface="Calibri"/>
              <a:sym typeface="Calibri"/>
            </a:endParaRPr>
          </a:p>
        </p:txBody>
      </p:sp>
      <p:pic>
        <p:nvPicPr>
          <p:cNvPr id="337" name="Google Shape;337;p37"/>
          <p:cNvPicPr preferRelativeResize="0"/>
          <p:nvPr/>
        </p:nvPicPr>
        <p:blipFill>
          <a:blip r:embed="rId4">
            <a:alphaModFix/>
          </a:blip>
          <a:stretch>
            <a:fillRect/>
          </a:stretch>
        </p:blipFill>
        <p:spPr>
          <a:xfrm>
            <a:off x="5017937" y="1646250"/>
            <a:ext cx="3091224" cy="3091224"/>
          </a:xfrm>
          <a:prstGeom prst="rect">
            <a:avLst/>
          </a:prstGeom>
          <a:noFill/>
          <a:ln cap="flat" cmpd="sng" w="19050">
            <a:solidFill>
              <a:schemeClr val="dk1"/>
            </a:solidFill>
            <a:prstDash val="solid"/>
            <a:round/>
            <a:headEnd len="sm" w="sm" type="none"/>
            <a:tailEnd len="sm" w="sm" type="none"/>
          </a:ln>
        </p:spPr>
      </p:pic>
      <p:pic>
        <p:nvPicPr>
          <p:cNvPr id="338" name="Google Shape;338;p37"/>
          <p:cNvPicPr preferRelativeResize="0"/>
          <p:nvPr/>
        </p:nvPicPr>
        <p:blipFill rotWithShape="1">
          <a:blip r:embed="rId5">
            <a:alphaModFix/>
          </a:blip>
          <a:srcRect b="0" l="7234" r="9231" t="0"/>
          <a:stretch/>
        </p:blipFill>
        <p:spPr>
          <a:xfrm>
            <a:off x="875000" y="1668300"/>
            <a:ext cx="3483049" cy="30471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2" name="Shape 342"/>
        <p:cNvGrpSpPr/>
        <p:nvPr/>
      </p:nvGrpSpPr>
      <p:grpSpPr>
        <a:xfrm>
          <a:off x="0" y="0"/>
          <a:ext cx="0" cy="0"/>
          <a:chOff x="0" y="0"/>
          <a:chExt cx="0" cy="0"/>
        </a:xfrm>
      </p:grpSpPr>
      <p:sp>
        <p:nvSpPr>
          <p:cNvPr id="343" name="Google Shape;343;p3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4" name="Google Shape;344;p38"/>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45" name="Google Shape;345;p38"/>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FLOAT</a:t>
            </a:r>
            <a:r>
              <a:rPr lang="en" sz="3000">
                <a:solidFill>
                  <a:schemeClr val="lt1"/>
                </a:solidFill>
                <a:latin typeface="Balthazar"/>
                <a:ea typeface="Balthazar"/>
                <a:cs typeface="Balthazar"/>
                <a:sym typeface="Balthazar"/>
              </a:rPr>
              <a:t> Battery</a:t>
            </a:r>
            <a:endParaRPr sz="3000">
              <a:solidFill>
                <a:schemeClr val="lt1"/>
              </a:solidFill>
              <a:latin typeface="Balthazar"/>
              <a:ea typeface="Balthazar"/>
              <a:cs typeface="Balthazar"/>
              <a:sym typeface="Balthazar"/>
            </a:endParaRPr>
          </a:p>
        </p:txBody>
      </p:sp>
      <p:pic>
        <p:nvPicPr>
          <p:cNvPr id="346" name="Google Shape;346;p38"/>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47" name="Google Shape;347;p3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sp>
        <p:nvSpPr>
          <p:cNvPr id="348" name="Google Shape;348;p38"/>
          <p:cNvSpPr txBox="1"/>
          <p:nvPr/>
        </p:nvSpPr>
        <p:spPr>
          <a:xfrm>
            <a:off x="2980625" y="913225"/>
            <a:ext cx="3091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lt1"/>
                </a:solidFill>
                <a:latin typeface="Cambria"/>
                <a:ea typeface="Cambria"/>
                <a:cs typeface="Cambria"/>
                <a:sym typeface="Cambria"/>
              </a:rPr>
              <a:t>Tenergy NiMH 12V 2000mAh Battery Pack</a:t>
            </a:r>
            <a:endParaRPr sz="1600">
              <a:solidFill>
                <a:schemeClr val="lt1"/>
              </a:solidFill>
              <a:latin typeface="Cambria"/>
              <a:ea typeface="Cambria"/>
              <a:cs typeface="Cambria"/>
              <a:sym typeface="Cambria"/>
            </a:endParaRPr>
          </a:p>
        </p:txBody>
      </p:sp>
      <p:pic>
        <p:nvPicPr>
          <p:cNvPr id="349" name="Google Shape;349;p38"/>
          <p:cNvPicPr preferRelativeResize="0"/>
          <p:nvPr/>
        </p:nvPicPr>
        <p:blipFill>
          <a:blip r:embed="rId4">
            <a:alphaModFix/>
          </a:blip>
          <a:stretch>
            <a:fillRect/>
          </a:stretch>
        </p:blipFill>
        <p:spPr>
          <a:xfrm>
            <a:off x="2704172" y="1774372"/>
            <a:ext cx="3738000" cy="3094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3" name="Shape 353"/>
        <p:cNvGrpSpPr/>
        <p:nvPr/>
      </p:nvGrpSpPr>
      <p:grpSpPr>
        <a:xfrm>
          <a:off x="0" y="0"/>
          <a:ext cx="0" cy="0"/>
          <a:chOff x="0" y="0"/>
          <a:chExt cx="0" cy="0"/>
        </a:xfrm>
      </p:grpSpPr>
      <p:sp>
        <p:nvSpPr>
          <p:cNvPr id="354" name="Google Shape;354;p3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39"/>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Guidance, Navigation, and Control (GNC)</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356" name="Google Shape;356;p39"/>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357" name="Google Shape;357;p39"/>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358" name="Google Shape;358;p39"/>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359" name="Google Shape;359;p39"/>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3" name="Shape 363"/>
        <p:cNvGrpSpPr/>
        <p:nvPr/>
      </p:nvGrpSpPr>
      <p:grpSpPr>
        <a:xfrm>
          <a:off x="0" y="0"/>
          <a:ext cx="0" cy="0"/>
          <a:chOff x="0" y="0"/>
          <a:chExt cx="0" cy="0"/>
        </a:xfrm>
      </p:grpSpPr>
      <p:sp>
        <p:nvSpPr>
          <p:cNvPr id="364" name="Google Shape;364;p4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5" name="Google Shape;365;p4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66" name="Google Shape;366;p4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Microcontroller for Float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67" name="Google Shape;367;p40"/>
          <p:cNvSpPr txBox="1"/>
          <p:nvPr/>
        </p:nvSpPr>
        <p:spPr>
          <a:xfrm>
            <a:off x="482625" y="1286075"/>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Built in Wi-Fi 4 and Bluetooth 5.2</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MicroPython compatible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Onboard memory + SD card expansion</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368" name="Google Shape;368;p40"/>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69" name="Google Shape;369;p40"/>
          <p:cNvSpPr txBox="1"/>
          <p:nvPr/>
        </p:nvSpPr>
        <p:spPr>
          <a:xfrm>
            <a:off x="6474300" y="1394400"/>
            <a:ext cx="184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Pico 2W</a:t>
            </a:r>
            <a:endParaRPr sz="2000">
              <a:solidFill>
                <a:schemeClr val="lt1"/>
              </a:solidFill>
              <a:latin typeface="Calibri"/>
              <a:ea typeface="Calibri"/>
              <a:cs typeface="Calibri"/>
              <a:sym typeface="Calibri"/>
            </a:endParaRPr>
          </a:p>
        </p:txBody>
      </p:sp>
      <p:sp>
        <p:nvSpPr>
          <p:cNvPr id="370" name="Google Shape;370;p4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pic>
        <p:nvPicPr>
          <p:cNvPr id="371" name="Google Shape;371;p40"/>
          <p:cNvPicPr preferRelativeResize="0"/>
          <p:nvPr/>
        </p:nvPicPr>
        <p:blipFill>
          <a:blip r:embed="rId4">
            <a:alphaModFix/>
          </a:blip>
          <a:stretch>
            <a:fillRect/>
          </a:stretch>
        </p:blipFill>
        <p:spPr>
          <a:xfrm>
            <a:off x="4207850" y="2264900"/>
            <a:ext cx="2838175" cy="2575650"/>
          </a:xfrm>
          <a:prstGeom prst="rect">
            <a:avLst/>
          </a:prstGeom>
          <a:noFill/>
          <a:ln>
            <a:noFill/>
          </a:ln>
        </p:spPr>
      </p:pic>
      <p:pic>
        <p:nvPicPr>
          <p:cNvPr id="372" name="Google Shape;372;p40"/>
          <p:cNvPicPr preferRelativeResize="0"/>
          <p:nvPr/>
        </p:nvPicPr>
        <p:blipFill>
          <a:blip r:embed="rId5">
            <a:alphaModFix/>
          </a:blip>
          <a:stretch>
            <a:fillRect/>
          </a:stretch>
        </p:blipFill>
        <p:spPr>
          <a:xfrm>
            <a:off x="1428325" y="2498700"/>
            <a:ext cx="2038774" cy="20387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6" name="Shape 376"/>
        <p:cNvGrpSpPr/>
        <p:nvPr/>
      </p:nvGrpSpPr>
      <p:grpSpPr>
        <a:xfrm>
          <a:off x="0" y="0"/>
          <a:ext cx="0" cy="0"/>
          <a:chOff x="0" y="0"/>
          <a:chExt cx="0" cy="0"/>
        </a:xfrm>
      </p:grpSpPr>
      <p:sp>
        <p:nvSpPr>
          <p:cNvPr id="377" name="Google Shape;377;p4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78" name="Google Shape;378;p4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79" name="Google Shape;379;p41"/>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Concept of Operations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80" name="Google Shape;380;p41"/>
          <p:cNvSpPr txBox="1"/>
          <p:nvPr/>
        </p:nvSpPr>
        <p:spPr>
          <a:xfrm>
            <a:off x="492350" y="1088950"/>
            <a:ext cx="7919400" cy="3879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500">
                <a:solidFill>
                  <a:schemeClr val="lt1"/>
                </a:solidFill>
                <a:latin typeface="Calibri"/>
                <a:ea typeface="Calibri"/>
                <a:cs typeface="Calibri"/>
                <a:sym typeface="Calibri"/>
              </a:rPr>
              <a:t>ROV Operations</a:t>
            </a:r>
            <a:endParaRPr sz="1500">
              <a:solidFill>
                <a:schemeClr val="lt1"/>
              </a:solidFill>
              <a:latin typeface="Calibri"/>
              <a:ea typeface="Calibri"/>
              <a:cs typeface="Calibri"/>
              <a:sym typeface="Calibri"/>
            </a:endParaRPr>
          </a:p>
          <a:p>
            <a:pPr indent="-323850" lvl="0" marL="4572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General Control Strategy</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Closed-Loop Stabilization: Implement PID control loops fusing IMU and Depth data for state estimation.</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Drift Correction: Active current compensation and "Input Hold" logic to counteract external forces in the Flume tank</a:t>
            </a:r>
            <a:r>
              <a:rPr lang="en" sz="1500">
                <a:solidFill>
                  <a:schemeClr val="lt1"/>
                </a:solidFill>
                <a:latin typeface="Calibri"/>
                <a:ea typeface="Calibri"/>
                <a:cs typeface="Calibri"/>
                <a:sym typeface="Calibri"/>
              </a:rPr>
              <a:t>.</a:t>
            </a:r>
            <a:endParaRPr sz="1500">
              <a:solidFill>
                <a:schemeClr val="lt1"/>
              </a:solidFill>
              <a:latin typeface="Calibri"/>
              <a:ea typeface="Calibri"/>
              <a:cs typeface="Calibri"/>
              <a:sym typeface="Calibri"/>
            </a:endParaRPr>
          </a:p>
          <a:p>
            <a:pPr indent="-323850" lvl="0" marL="4572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Task 1: Coral Garden (Photogrammetry)</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Station-Keeping: Maintain rigid positional fix to minimize motion blur during photogrammetry image capture.</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Fine Maneuvering: Low-speed throttle mapping for precise manipulator alignment during species retrieval.</a:t>
            </a:r>
            <a:endParaRPr sz="1500">
              <a:solidFill>
                <a:schemeClr val="lt1"/>
              </a:solidFill>
              <a:latin typeface="Calibri"/>
              <a:ea typeface="Calibri"/>
              <a:cs typeface="Calibri"/>
              <a:sym typeface="Calibri"/>
            </a:endParaRPr>
          </a:p>
          <a:p>
            <a:pPr indent="-323850" lvl="0" marL="4572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Task 2: Iceberg &amp; Invasive Species</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Keel Geometry Mapping: Synchronize high-res depth readings with IMU heading vectors to profile iceberg dimensions.</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Multi-Point Hover: Execute distinct hold-position commands at five intervals for stable image recognition of invasive species.</a:t>
            </a:r>
            <a:endParaRPr sz="1500">
              <a:solidFill>
                <a:schemeClr val="lt1"/>
              </a:solidFill>
              <a:latin typeface="Calibri"/>
              <a:ea typeface="Calibri"/>
              <a:cs typeface="Calibri"/>
              <a:sym typeface="Calibri"/>
            </a:endParaRPr>
          </a:p>
        </p:txBody>
      </p:sp>
      <p:pic>
        <p:nvPicPr>
          <p:cNvPr id="381" name="Google Shape;381;p41"/>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82" name="Google Shape;382;p4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6" name="Shape 386"/>
        <p:cNvGrpSpPr/>
        <p:nvPr/>
      </p:nvGrpSpPr>
      <p:grpSpPr>
        <a:xfrm>
          <a:off x="0" y="0"/>
          <a:ext cx="0" cy="0"/>
          <a:chOff x="0" y="0"/>
          <a:chExt cx="0" cy="0"/>
        </a:xfrm>
      </p:grpSpPr>
      <p:sp>
        <p:nvSpPr>
          <p:cNvPr id="387" name="Google Shape;387;p4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88" name="Google Shape;388;p4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89" name="Google Shape;389;p4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Concept of Operations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90" name="Google Shape;390;p42"/>
          <p:cNvSpPr txBox="1"/>
          <p:nvPr/>
        </p:nvSpPr>
        <p:spPr>
          <a:xfrm>
            <a:off x="492350" y="1088950"/>
            <a:ext cx="7919400" cy="227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lt1"/>
                </a:solidFill>
                <a:latin typeface="Calibri"/>
                <a:ea typeface="Calibri"/>
                <a:cs typeface="Calibri"/>
                <a:sym typeface="Calibri"/>
              </a:rPr>
              <a:t>Float Operations</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Autonomous Vertical Profiling</a:t>
            </a:r>
            <a:endParaRPr sz="1500">
              <a:solidFill>
                <a:schemeClr val="lt1"/>
              </a:solidFill>
              <a:latin typeface="Calibri"/>
              <a:ea typeface="Calibri"/>
              <a:cs typeface="Calibri"/>
              <a:sym typeface="Calibri"/>
            </a:endParaRPr>
          </a:p>
          <a:p>
            <a:pPr indent="-323850" lvl="1" marL="9144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Buoyancy Logic: Microcontroller-driven ballast adjustments based on real-time depth thresholds.</a:t>
            </a:r>
            <a:endParaRPr sz="1500">
              <a:solidFill>
                <a:schemeClr val="lt1"/>
              </a:solidFill>
              <a:latin typeface="Calibri"/>
              <a:ea typeface="Calibri"/>
              <a:cs typeface="Calibri"/>
              <a:sym typeface="Calibri"/>
            </a:endParaRPr>
          </a:p>
          <a:p>
            <a:pPr indent="-323850" lvl="1" marL="9144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Collision Avoidance: Integration of ultrasonic sensor data to maintain safe standoff distance from ice.</a:t>
            </a:r>
            <a:endParaRPr sz="1500">
              <a:solidFill>
                <a:schemeClr val="lt1"/>
              </a:solidFill>
              <a:latin typeface="Calibri"/>
              <a:ea typeface="Calibri"/>
              <a:cs typeface="Calibri"/>
              <a:sym typeface="Calibri"/>
            </a:endParaRPr>
          </a:p>
          <a:p>
            <a:pPr indent="-323850" lvl="1" marL="9144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Data Telemetry: Logic trigger to initiate Bluetooth data dump immediately upon surface detection.</a:t>
            </a:r>
            <a:endParaRPr sz="1500">
              <a:solidFill>
                <a:schemeClr val="lt1"/>
              </a:solidFill>
              <a:latin typeface="Calibri"/>
              <a:ea typeface="Calibri"/>
              <a:cs typeface="Calibri"/>
              <a:sym typeface="Calibri"/>
            </a:endParaRPr>
          </a:p>
        </p:txBody>
      </p:sp>
      <p:pic>
        <p:nvPicPr>
          <p:cNvPr id="391" name="Google Shape;391;p42"/>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92" name="Google Shape;392;p4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6" name="Shape 396"/>
        <p:cNvGrpSpPr/>
        <p:nvPr/>
      </p:nvGrpSpPr>
      <p:grpSpPr>
        <a:xfrm>
          <a:off x="0" y="0"/>
          <a:ext cx="0" cy="0"/>
          <a:chOff x="0" y="0"/>
          <a:chExt cx="0" cy="0"/>
        </a:xfrm>
      </p:grpSpPr>
      <p:sp>
        <p:nvSpPr>
          <p:cNvPr id="397" name="Google Shape;397;p4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43"/>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Computation and Communications (C&amp;C)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399" name="Google Shape;399;p43"/>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400" name="Google Shape;400;p43"/>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401" name="Google Shape;401;p43"/>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402" name="Google Shape;402;p43"/>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6" name="Shape 406"/>
        <p:cNvGrpSpPr/>
        <p:nvPr/>
      </p:nvGrpSpPr>
      <p:grpSpPr>
        <a:xfrm>
          <a:off x="0" y="0"/>
          <a:ext cx="0" cy="0"/>
          <a:chOff x="0" y="0"/>
          <a:chExt cx="0" cy="0"/>
        </a:xfrm>
      </p:grpSpPr>
      <p:sp>
        <p:nvSpPr>
          <p:cNvPr id="407" name="Google Shape;407;p4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08" name="Google Shape;408;p4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09" name="Google Shape;409;p44"/>
          <p:cNvSpPr txBox="1"/>
          <p:nvPr/>
        </p:nvSpPr>
        <p:spPr>
          <a:xfrm>
            <a:off x="519700" y="354700"/>
            <a:ext cx="6216300" cy="4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Ultrasonic </a:t>
            </a:r>
            <a:r>
              <a:rPr lang="en" sz="3400">
                <a:solidFill>
                  <a:schemeClr val="lt1"/>
                </a:solidFill>
                <a:latin typeface="Balthazar"/>
                <a:ea typeface="Balthazar"/>
                <a:cs typeface="Balthazar"/>
                <a:sym typeface="Balthazar"/>
              </a:rPr>
              <a:t>Sensor with Foam Sheet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410" name="Google Shape;410;p44"/>
          <p:cNvSpPr txBox="1"/>
          <p:nvPr/>
        </p:nvSpPr>
        <p:spPr>
          <a:xfrm>
            <a:off x="595650" y="1181150"/>
            <a:ext cx="5331000" cy="1108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IP68 rating</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6 meter range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-15°C operating temp, fixed with insulation</a:t>
            </a:r>
            <a:endParaRPr sz="1600">
              <a:solidFill>
                <a:schemeClr val="lt1"/>
              </a:solidFill>
              <a:latin typeface="Calibri"/>
              <a:ea typeface="Calibri"/>
              <a:cs typeface="Calibri"/>
              <a:sym typeface="Calibri"/>
            </a:endParaRPr>
          </a:p>
        </p:txBody>
      </p:sp>
      <p:pic>
        <p:nvPicPr>
          <p:cNvPr id="411" name="Google Shape;411;p44"/>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412" name="Google Shape;412;p4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32</a:t>
            </a:r>
            <a:endParaRPr sz="2200">
              <a:solidFill>
                <a:schemeClr val="lt1"/>
              </a:solidFill>
              <a:latin typeface="Balthazar"/>
              <a:ea typeface="Balthazar"/>
              <a:cs typeface="Balthazar"/>
              <a:sym typeface="Balthazar"/>
            </a:endParaRPr>
          </a:p>
        </p:txBody>
      </p:sp>
      <p:pic>
        <p:nvPicPr>
          <p:cNvPr id="413" name="Google Shape;413;p44" title="SEN0599_Main_01_1220x813.jpg-removebg-preview.png"/>
          <p:cNvPicPr preferRelativeResize="0"/>
          <p:nvPr/>
        </p:nvPicPr>
        <p:blipFill>
          <a:blip r:embed="rId4">
            <a:alphaModFix/>
          </a:blip>
          <a:stretch>
            <a:fillRect/>
          </a:stretch>
        </p:blipFill>
        <p:spPr>
          <a:xfrm>
            <a:off x="763250" y="2054575"/>
            <a:ext cx="4422776" cy="2948525"/>
          </a:xfrm>
          <a:prstGeom prst="rect">
            <a:avLst/>
          </a:prstGeom>
          <a:noFill/>
          <a:ln>
            <a:noFill/>
          </a:ln>
        </p:spPr>
      </p:pic>
      <p:pic>
        <p:nvPicPr>
          <p:cNvPr id="414" name="Google Shape;414;p44" title="image-removebg-preview.png"/>
          <p:cNvPicPr preferRelativeResize="0"/>
          <p:nvPr/>
        </p:nvPicPr>
        <p:blipFill>
          <a:blip r:embed="rId5">
            <a:alphaModFix/>
          </a:blip>
          <a:stretch>
            <a:fillRect/>
          </a:stretch>
        </p:blipFill>
        <p:spPr>
          <a:xfrm>
            <a:off x="5242600" y="2589537"/>
            <a:ext cx="1889925" cy="1878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8" name="Shape 418"/>
        <p:cNvGrpSpPr/>
        <p:nvPr/>
      </p:nvGrpSpPr>
      <p:grpSpPr>
        <a:xfrm>
          <a:off x="0" y="0"/>
          <a:ext cx="0" cy="0"/>
          <a:chOff x="0" y="0"/>
          <a:chExt cx="0" cy="0"/>
        </a:xfrm>
      </p:grpSpPr>
      <p:sp>
        <p:nvSpPr>
          <p:cNvPr id="419" name="Google Shape;419;p4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0" name="Google Shape;420;p45"/>
          <p:cNvCxnSpPr/>
          <p:nvPr/>
        </p:nvCxnSpPr>
        <p:spPr>
          <a:xfrm flipH="1" rot="10800000">
            <a:off x="595600" y="891100"/>
            <a:ext cx="2689200" cy="24300"/>
          </a:xfrm>
          <a:prstGeom prst="straightConnector1">
            <a:avLst/>
          </a:prstGeom>
          <a:noFill/>
          <a:ln cap="flat" cmpd="sng" w="19050">
            <a:solidFill>
              <a:schemeClr val="lt1"/>
            </a:solidFill>
            <a:prstDash val="solid"/>
            <a:round/>
            <a:headEnd len="med" w="med" type="none"/>
            <a:tailEnd len="med" w="med" type="none"/>
          </a:ln>
        </p:spPr>
      </p:cxnSp>
      <p:sp>
        <p:nvSpPr>
          <p:cNvPr id="421" name="Google Shape;421;p45"/>
          <p:cNvSpPr txBox="1"/>
          <p:nvPr/>
        </p:nvSpPr>
        <p:spPr>
          <a:xfrm>
            <a:off x="524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Bill of Materials </a:t>
            </a:r>
            <a:endParaRPr sz="3400">
              <a:solidFill>
                <a:schemeClr val="lt1"/>
              </a:solidFill>
              <a:latin typeface="Balthazar"/>
              <a:ea typeface="Balthazar"/>
              <a:cs typeface="Balthazar"/>
              <a:sym typeface="Balthazar"/>
            </a:endParaRPr>
          </a:p>
        </p:txBody>
      </p:sp>
      <p:pic>
        <p:nvPicPr>
          <p:cNvPr id="422" name="Google Shape;422;p45"/>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23" name="Google Shape;423;p45"/>
          <p:cNvPicPr preferRelativeResize="0"/>
          <p:nvPr/>
        </p:nvPicPr>
        <p:blipFill rotWithShape="1">
          <a:blip r:embed="rId4">
            <a:alphaModFix/>
          </a:blip>
          <a:srcRect b="587" l="0" r="0" t="0"/>
          <a:stretch/>
        </p:blipFill>
        <p:spPr>
          <a:xfrm>
            <a:off x="3894925" y="559750"/>
            <a:ext cx="3894725" cy="4223451"/>
          </a:xfrm>
          <a:prstGeom prst="rect">
            <a:avLst/>
          </a:prstGeom>
          <a:solidFill>
            <a:srgbClr val="0A1735"/>
          </a:solidFill>
          <a:ln cap="flat" cmpd="sng" w="9525">
            <a:solidFill>
              <a:schemeClr val="lt1"/>
            </a:solidFill>
            <a:prstDash val="solid"/>
            <a:round/>
            <a:headEnd len="sm" w="sm" type="none"/>
            <a:tailEnd len="sm" w="sm" type="none"/>
          </a:ln>
        </p:spPr>
      </p:pic>
      <p:sp>
        <p:nvSpPr>
          <p:cNvPr id="424" name="Google Shape;424;p45"/>
          <p:cNvSpPr txBox="1"/>
          <p:nvPr/>
        </p:nvSpPr>
        <p:spPr>
          <a:xfrm>
            <a:off x="492350" y="1088950"/>
            <a:ext cx="3296100" cy="121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lt1"/>
                </a:solidFill>
                <a:latin typeface="Calibri"/>
                <a:ea typeface="Calibri"/>
                <a:cs typeface="Calibri"/>
                <a:sym typeface="Calibri"/>
              </a:rPr>
              <a:t>INSERT TEXT THAT SHOWS UPDATED TOTAL EXPENDING AND ANY INSIGHTS YOU FIND IMPORTANT </a:t>
            </a:r>
            <a:endParaRPr sz="15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rPr lang="en" sz="1500">
                <a:solidFill>
                  <a:schemeClr val="lt1"/>
                </a:solidFill>
                <a:latin typeface="Calibri"/>
                <a:ea typeface="Calibri"/>
                <a:cs typeface="Calibri"/>
                <a:sym typeface="Calibri"/>
              </a:rPr>
              <a:t>FEEL FREE TO CHANGE THE FIGURE -&gt;</a:t>
            </a:r>
            <a:endParaRPr sz="15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1"/>
        </a:solidFill>
      </p:bgPr>
    </p:bg>
    <p:spTree>
      <p:nvGrpSpPr>
        <p:cNvPr id="428" name="Shape 428"/>
        <p:cNvGrpSpPr/>
        <p:nvPr/>
      </p:nvGrpSpPr>
      <p:grpSpPr>
        <a:xfrm>
          <a:off x="0" y="0"/>
          <a:ext cx="0" cy="0"/>
          <a:chOff x="0" y="0"/>
          <a:chExt cx="0" cy="0"/>
        </a:xfrm>
      </p:grpSpPr>
      <p:sp>
        <p:nvSpPr>
          <p:cNvPr id="429" name="Google Shape;429;p4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30" name="Google Shape;430;p4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31" name="Google Shape;431;p46"/>
          <p:cNvSpPr txBox="1"/>
          <p:nvPr/>
        </p:nvSpPr>
        <p:spPr>
          <a:xfrm>
            <a:off x="519700" y="354700"/>
            <a:ext cx="63006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Adafruit Feather RP2040 LoRa Radio</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432" name="Google Shape;432;p46"/>
          <p:cNvSpPr txBox="1"/>
          <p:nvPr/>
        </p:nvSpPr>
        <p:spPr>
          <a:xfrm>
            <a:off x="595650" y="1358725"/>
            <a:ext cx="53310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Easily send data packets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Compatible with Raspberry Pi</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1.8V~3.7V</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433" name="Google Shape;433;p46"/>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34" name="Google Shape;434;p46"/>
          <p:cNvPicPr preferRelativeResize="0"/>
          <p:nvPr/>
        </p:nvPicPr>
        <p:blipFill>
          <a:blip r:embed="rId4">
            <a:alphaModFix/>
          </a:blip>
          <a:stretch>
            <a:fillRect/>
          </a:stretch>
        </p:blipFill>
        <p:spPr>
          <a:xfrm>
            <a:off x="519700" y="2865575"/>
            <a:ext cx="6203349" cy="1952825"/>
          </a:xfrm>
          <a:prstGeom prst="rect">
            <a:avLst/>
          </a:prstGeom>
          <a:noFill/>
          <a:ln>
            <a:noFill/>
          </a:ln>
        </p:spPr>
      </p:pic>
      <p:pic>
        <p:nvPicPr>
          <p:cNvPr id="435" name="Google Shape;435;p46" title="5714-05-removebg-preview.png"/>
          <p:cNvPicPr preferRelativeResize="0"/>
          <p:nvPr/>
        </p:nvPicPr>
        <p:blipFill>
          <a:blip r:embed="rId5">
            <a:alphaModFix/>
          </a:blip>
          <a:stretch>
            <a:fillRect/>
          </a:stretch>
        </p:blipFill>
        <p:spPr>
          <a:xfrm>
            <a:off x="5506325" y="754184"/>
            <a:ext cx="3398250" cy="2550165"/>
          </a:xfrm>
          <a:prstGeom prst="rect">
            <a:avLst/>
          </a:prstGeom>
          <a:noFill/>
          <a:ln>
            <a:noFill/>
          </a:ln>
        </p:spPr>
      </p:pic>
      <p:sp>
        <p:nvSpPr>
          <p:cNvPr id="436" name="Google Shape;436;p4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34</a:t>
            </a:r>
            <a:endParaRPr sz="2200">
              <a:solidFill>
                <a:schemeClr val="lt1"/>
              </a:solidFill>
              <a:latin typeface="Balthazar"/>
              <a:ea typeface="Balthazar"/>
              <a:cs typeface="Balthazar"/>
              <a:sym typeface="Balthaz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0" name="Shape 440"/>
        <p:cNvGrpSpPr/>
        <p:nvPr/>
      </p:nvGrpSpPr>
      <p:grpSpPr>
        <a:xfrm>
          <a:off x="0" y="0"/>
          <a:ext cx="0" cy="0"/>
          <a:chOff x="0" y="0"/>
          <a:chExt cx="0" cy="0"/>
        </a:xfrm>
      </p:grpSpPr>
      <p:sp>
        <p:nvSpPr>
          <p:cNvPr id="441" name="Google Shape;441;p4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42" name="Google Shape;442;p4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43" name="Google Shape;443;p4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Future Work</a:t>
            </a:r>
            <a:endParaRPr sz="3400">
              <a:solidFill>
                <a:schemeClr val="lt1"/>
              </a:solidFill>
              <a:latin typeface="Balthazar"/>
              <a:ea typeface="Balthazar"/>
              <a:cs typeface="Balthazar"/>
              <a:sym typeface="Balthazar"/>
            </a:endParaRPr>
          </a:p>
        </p:txBody>
      </p:sp>
      <p:sp>
        <p:nvSpPr>
          <p:cNvPr id="444" name="Google Shape;444;p47"/>
          <p:cNvSpPr txBox="1"/>
          <p:nvPr/>
        </p:nvSpPr>
        <p:spPr>
          <a:xfrm>
            <a:off x="492350" y="1088950"/>
            <a:ext cx="7919400" cy="2366700"/>
          </a:xfrm>
          <a:prstGeom prst="rect">
            <a:avLst/>
          </a:prstGeom>
          <a:noFill/>
          <a:ln>
            <a:noFill/>
          </a:ln>
        </p:spPr>
        <p:txBody>
          <a:bodyPr anchorCtr="0" anchor="t" bIns="91425" lIns="91425" spcFirstLastPara="1" rIns="91425" wrap="square" tIns="91425">
            <a:spAutoFit/>
          </a:bodyPr>
          <a:lstStyle/>
          <a:p>
            <a:pPr indent="-361950" lvl="1" marL="914400" rtl="0" algn="l">
              <a:lnSpc>
                <a:spcPct val="115000"/>
              </a:lnSpc>
              <a:spcBef>
                <a:spcPts val="0"/>
              </a:spcBef>
              <a:spcAft>
                <a:spcPts val="0"/>
              </a:spcAft>
              <a:buClr>
                <a:schemeClr val="lt1"/>
              </a:buClr>
              <a:buSzPts val="2100"/>
              <a:buFont typeface="Calibri"/>
              <a:buChar char="○"/>
            </a:pPr>
            <a:r>
              <a:rPr lang="en" sz="2100">
                <a:solidFill>
                  <a:schemeClr val="lt1"/>
                </a:solidFill>
                <a:latin typeface="Calibri"/>
                <a:ea typeface="Calibri"/>
                <a:cs typeface="Calibri"/>
                <a:sym typeface="Calibri"/>
              </a:rPr>
              <a:t>ORGANIZATIONAL GOALS</a:t>
            </a:r>
            <a:endParaRPr sz="2100">
              <a:solidFill>
                <a:schemeClr val="lt1"/>
              </a:solidFill>
              <a:latin typeface="Calibri"/>
              <a:ea typeface="Calibri"/>
              <a:cs typeface="Calibri"/>
              <a:sym typeface="Calibri"/>
            </a:endParaRPr>
          </a:p>
          <a:p>
            <a:pPr indent="-361950" lvl="1" marL="914400" rtl="0" algn="l">
              <a:lnSpc>
                <a:spcPct val="115000"/>
              </a:lnSpc>
              <a:spcBef>
                <a:spcPts val="0"/>
              </a:spcBef>
              <a:spcAft>
                <a:spcPts val="0"/>
              </a:spcAft>
              <a:buClr>
                <a:schemeClr val="lt1"/>
              </a:buClr>
              <a:buSzPts val="2100"/>
              <a:buFont typeface="Calibri"/>
              <a:buChar char="○"/>
            </a:pPr>
            <a:r>
              <a:rPr lang="en" sz="2100">
                <a:solidFill>
                  <a:schemeClr val="lt1"/>
                </a:solidFill>
                <a:latin typeface="Calibri"/>
                <a:ea typeface="Calibri"/>
                <a:cs typeface="Calibri"/>
                <a:sym typeface="Calibri"/>
              </a:rPr>
              <a:t>TMS</a:t>
            </a:r>
            <a:endParaRPr sz="2100">
              <a:solidFill>
                <a:schemeClr val="lt1"/>
              </a:solidFill>
              <a:latin typeface="Calibri"/>
              <a:ea typeface="Calibri"/>
              <a:cs typeface="Calibri"/>
              <a:sym typeface="Calibri"/>
            </a:endParaRPr>
          </a:p>
          <a:p>
            <a:pPr indent="-361950" lvl="1" marL="914400" rtl="0" algn="l">
              <a:lnSpc>
                <a:spcPct val="115000"/>
              </a:lnSpc>
              <a:spcBef>
                <a:spcPts val="0"/>
              </a:spcBef>
              <a:spcAft>
                <a:spcPts val="0"/>
              </a:spcAft>
              <a:buClr>
                <a:schemeClr val="lt1"/>
              </a:buClr>
              <a:buSzPts val="2100"/>
              <a:buFont typeface="Calibri"/>
              <a:buChar char="○"/>
            </a:pPr>
            <a:r>
              <a:rPr lang="en" sz="2100">
                <a:solidFill>
                  <a:schemeClr val="lt1"/>
                </a:solidFill>
                <a:latin typeface="Calibri"/>
                <a:ea typeface="Calibri"/>
                <a:cs typeface="Calibri"/>
                <a:sym typeface="Calibri"/>
              </a:rPr>
              <a:t>F&amp;P</a:t>
            </a:r>
            <a:endParaRPr sz="2100">
              <a:solidFill>
                <a:schemeClr val="lt1"/>
              </a:solidFill>
              <a:latin typeface="Calibri"/>
              <a:ea typeface="Calibri"/>
              <a:cs typeface="Calibri"/>
              <a:sym typeface="Calibri"/>
            </a:endParaRPr>
          </a:p>
          <a:p>
            <a:pPr indent="-361950" lvl="1" marL="914400" rtl="0" algn="l">
              <a:lnSpc>
                <a:spcPct val="115000"/>
              </a:lnSpc>
              <a:spcBef>
                <a:spcPts val="0"/>
              </a:spcBef>
              <a:spcAft>
                <a:spcPts val="0"/>
              </a:spcAft>
              <a:buClr>
                <a:schemeClr val="lt1"/>
              </a:buClr>
              <a:buSzPts val="2100"/>
              <a:buFont typeface="Calibri"/>
              <a:buChar char="○"/>
            </a:pPr>
            <a:r>
              <a:rPr lang="en" sz="2100">
                <a:solidFill>
                  <a:schemeClr val="lt1"/>
                </a:solidFill>
                <a:latin typeface="Calibri"/>
                <a:ea typeface="Calibri"/>
                <a:cs typeface="Calibri"/>
                <a:sym typeface="Calibri"/>
              </a:rPr>
              <a:t>EPS</a:t>
            </a:r>
            <a:endParaRPr sz="2100">
              <a:solidFill>
                <a:schemeClr val="lt1"/>
              </a:solidFill>
              <a:latin typeface="Calibri"/>
              <a:ea typeface="Calibri"/>
              <a:cs typeface="Calibri"/>
              <a:sym typeface="Calibri"/>
            </a:endParaRPr>
          </a:p>
          <a:p>
            <a:pPr indent="-361950" lvl="1" marL="914400" rtl="0" algn="l">
              <a:lnSpc>
                <a:spcPct val="115000"/>
              </a:lnSpc>
              <a:spcBef>
                <a:spcPts val="0"/>
              </a:spcBef>
              <a:spcAft>
                <a:spcPts val="0"/>
              </a:spcAft>
              <a:buClr>
                <a:schemeClr val="lt1"/>
              </a:buClr>
              <a:buSzPts val="2100"/>
              <a:buFont typeface="Calibri"/>
              <a:buChar char="○"/>
            </a:pPr>
            <a:r>
              <a:rPr lang="en" sz="2100">
                <a:solidFill>
                  <a:schemeClr val="lt1"/>
                </a:solidFill>
                <a:latin typeface="Calibri"/>
                <a:ea typeface="Calibri"/>
                <a:cs typeface="Calibri"/>
                <a:sym typeface="Calibri"/>
              </a:rPr>
              <a:t>GNC</a:t>
            </a:r>
            <a:endParaRPr sz="2100">
              <a:solidFill>
                <a:schemeClr val="lt1"/>
              </a:solidFill>
              <a:latin typeface="Calibri"/>
              <a:ea typeface="Calibri"/>
              <a:cs typeface="Calibri"/>
              <a:sym typeface="Calibri"/>
            </a:endParaRPr>
          </a:p>
          <a:p>
            <a:pPr indent="-361950" lvl="1" marL="914400" rtl="0" algn="l">
              <a:lnSpc>
                <a:spcPct val="115000"/>
              </a:lnSpc>
              <a:spcBef>
                <a:spcPts val="0"/>
              </a:spcBef>
              <a:spcAft>
                <a:spcPts val="0"/>
              </a:spcAft>
              <a:buClr>
                <a:schemeClr val="lt1"/>
              </a:buClr>
              <a:buSzPts val="2100"/>
              <a:buFont typeface="Calibri"/>
              <a:buChar char="○"/>
            </a:pPr>
            <a:r>
              <a:rPr lang="en" sz="2100">
                <a:solidFill>
                  <a:schemeClr val="lt1"/>
                </a:solidFill>
                <a:latin typeface="Calibri"/>
                <a:ea typeface="Calibri"/>
                <a:cs typeface="Calibri"/>
                <a:sym typeface="Calibri"/>
              </a:rPr>
              <a:t>C&amp;C</a:t>
            </a:r>
            <a:endParaRPr sz="2100">
              <a:solidFill>
                <a:schemeClr val="lt1"/>
              </a:solidFill>
              <a:latin typeface="Calibri"/>
              <a:ea typeface="Calibri"/>
              <a:cs typeface="Calibri"/>
              <a:sym typeface="Calibri"/>
            </a:endParaRPr>
          </a:p>
        </p:txBody>
      </p:sp>
      <p:pic>
        <p:nvPicPr>
          <p:cNvPr id="445" name="Google Shape;445;p47"/>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446" name="Google Shape;446;p4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0" name="Shape 450"/>
        <p:cNvGrpSpPr/>
        <p:nvPr/>
      </p:nvGrpSpPr>
      <p:grpSpPr>
        <a:xfrm>
          <a:off x="0" y="0"/>
          <a:ext cx="0" cy="0"/>
          <a:chOff x="0" y="0"/>
          <a:chExt cx="0" cy="0"/>
        </a:xfrm>
      </p:grpSpPr>
      <p:sp>
        <p:nvSpPr>
          <p:cNvPr id="451" name="Google Shape;451;p4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48"/>
          <p:cNvSpPr txBox="1"/>
          <p:nvPr/>
        </p:nvSpPr>
        <p:spPr>
          <a:xfrm>
            <a:off x="2416350" y="2023218"/>
            <a:ext cx="43554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800">
                <a:solidFill>
                  <a:schemeClr val="lt1"/>
                </a:solidFill>
                <a:latin typeface="Balthazar"/>
                <a:ea typeface="Balthazar"/>
                <a:cs typeface="Balthazar"/>
                <a:sym typeface="Balthazar"/>
              </a:rPr>
              <a:t>Q&amp;A</a:t>
            </a:r>
            <a:endParaRPr sz="38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453" name="Google Shape;453;p48"/>
          <p:cNvCxnSpPr/>
          <p:nvPr/>
        </p:nvCxnSpPr>
        <p:spPr>
          <a:xfrm flipH="1" rot="10800000">
            <a:off x="2450600" y="2659825"/>
            <a:ext cx="4179600" cy="8100"/>
          </a:xfrm>
          <a:prstGeom prst="straightConnector1">
            <a:avLst/>
          </a:prstGeom>
          <a:noFill/>
          <a:ln cap="flat" cmpd="sng" w="19050">
            <a:solidFill>
              <a:schemeClr val="lt1"/>
            </a:solidFill>
            <a:prstDash val="solid"/>
            <a:round/>
            <a:headEnd len="med" w="med" type="none"/>
            <a:tailEnd len="med" w="med" type="none"/>
          </a:ln>
        </p:spPr>
      </p:cxnSp>
      <p:sp>
        <p:nvSpPr>
          <p:cNvPr id="454" name="Google Shape;454;p48"/>
          <p:cNvSpPr txBox="1"/>
          <p:nvPr/>
        </p:nvSpPr>
        <p:spPr>
          <a:xfrm>
            <a:off x="2395475" y="2715640"/>
            <a:ext cx="43554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lt1"/>
                </a:solidFill>
                <a:latin typeface="Oswald"/>
                <a:ea typeface="Oswald"/>
                <a:cs typeface="Oswald"/>
                <a:sym typeface="Oswald"/>
              </a:rPr>
              <a:t>Thank you for your time!</a:t>
            </a:r>
            <a:endParaRPr sz="1600">
              <a:solidFill>
                <a:schemeClr val="lt1"/>
              </a:solidFill>
              <a:latin typeface="Oswald"/>
              <a:ea typeface="Oswald"/>
              <a:cs typeface="Oswald"/>
              <a:sym typeface="Oswald"/>
            </a:endParaRPr>
          </a:p>
        </p:txBody>
      </p:sp>
      <p:pic>
        <p:nvPicPr>
          <p:cNvPr id="455" name="Google Shape;455;p48"/>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456" name="Google Shape;456;p48"/>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457" name="Google Shape;457;p48"/>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1" name="Shape 461"/>
        <p:cNvGrpSpPr/>
        <p:nvPr/>
      </p:nvGrpSpPr>
      <p:grpSpPr>
        <a:xfrm>
          <a:off x="0" y="0"/>
          <a:ext cx="0" cy="0"/>
          <a:chOff x="0" y="0"/>
          <a:chExt cx="0" cy="0"/>
        </a:xfrm>
      </p:grpSpPr>
      <p:sp>
        <p:nvSpPr>
          <p:cNvPr id="462" name="Google Shape;462;p4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63" name="Google Shape;463;p4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64" name="Google Shape;464;p4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Appendix A: Gantt Chart</a:t>
            </a:r>
            <a:endParaRPr sz="3400">
              <a:solidFill>
                <a:schemeClr val="lt1"/>
              </a:solidFill>
              <a:latin typeface="Balthazar"/>
              <a:ea typeface="Balthazar"/>
              <a:cs typeface="Balthazar"/>
              <a:sym typeface="Balthazar"/>
            </a:endParaRPr>
          </a:p>
        </p:txBody>
      </p:sp>
      <p:pic>
        <p:nvPicPr>
          <p:cNvPr id="465" name="Google Shape;465;p49"/>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66" name="Google Shape;466;p49"/>
          <p:cNvPicPr preferRelativeResize="0"/>
          <p:nvPr/>
        </p:nvPicPr>
        <p:blipFill>
          <a:blip r:embed="rId4">
            <a:alphaModFix/>
          </a:blip>
          <a:stretch>
            <a:fillRect/>
          </a:stretch>
        </p:blipFill>
        <p:spPr>
          <a:xfrm>
            <a:off x="32288" y="1119867"/>
            <a:ext cx="9074049" cy="388578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0" name="Shape 470"/>
        <p:cNvGrpSpPr/>
        <p:nvPr/>
      </p:nvGrpSpPr>
      <p:grpSpPr>
        <a:xfrm>
          <a:off x="0" y="0"/>
          <a:ext cx="0" cy="0"/>
          <a:chOff x="0" y="0"/>
          <a:chExt cx="0" cy="0"/>
        </a:xfrm>
      </p:grpSpPr>
      <p:sp>
        <p:nvSpPr>
          <p:cNvPr id="471" name="Google Shape;471;p5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72" name="Google Shape;472;p5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73" name="Google Shape;473;p5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Appendix B</a:t>
            </a:r>
            <a:endParaRPr sz="3400">
              <a:solidFill>
                <a:schemeClr val="lt1"/>
              </a:solidFill>
              <a:latin typeface="Balthazar"/>
              <a:ea typeface="Balthazar"/>
              <a:cs typeface="Balthazar"/>
              <a:sym typeface="Balthazar"/>
            </a:endParaRPr>
          </a:p>
        </p:txBody>
      </p:sp>
      <p:sp>
        <p:nvSpPr>
          <p:cNvPr id="474" name="Google Shape;474;p50"/>
          <p:cNvSpPr txBox="1"/>
          <p:nvPr/>
        </p:nvSpPr>
        <p:spPr>
          <a:xfrm>
            <a:off x="595650" y="1358725"/>
            <a:ext cx="2479200" cy="720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lt1"/>
                </a:solidFill>
                <a:latin typeface="Calibri"/>
                <a:ea typeface="Calibri"/>
                <a:cs typeface="Calibri"/>
                <a:sym typeface="Calibri"/>
              </a:rPr>
              <a:t>Bill of Materials:</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3"/>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GitHub:</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4"/>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3 Environments:</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5"/>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p:txBody>
      </p:sp>
      <p:pic>
        <p:nvPicPr>
          <p:cNvPr id="475" name="Google Shape;475;p50"/>
          <p:cNvPicPr preferRelativeResize="0"/>
          <p:nvPr/>
        </p:nvPicPr>
        <p:blipFill>
          <a:blip r:embed="rId6">
            <a:alphaModFix/>
          </a:blip>
          <a:stretch>
            <a:fillRect/>
          </a:stretch>
        </p:blipFill>
        <p:spPr>
          <a:xfrm>
            <a:off x="8322900" y="403175"/>
            <a:ext cx="451625" cy="451625"/>
          </a:xfrm>
          <a:prstGeom prst="rect">
            <a:avLst/>
          </a:prstGeom>
          <a:noFill/>
          <a:ln>
            <a:noFill/>
          </a:ln>
        </p:spPr>
      </p:pic>
      <p:sp>
        <p:nvSpPr>
          <p:cNvPr id="476" name="Google Shape;476;p50"/>
          <p:cNvSpPr txBox="1"/>
          <p:nvPr/>
        </p:nvSpPr>
        <p:spPr>
          <a:xfrm>
            <a:off x="3718575" y="1358725"/>
            <a:ext cx="2479200" cy="609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lt1"/>
                </a:solidFill>
                <a:latin typeface="Calibri"/>
                <a:ea typeface="Calibri"/>
                <a:cs typeface="Calibri"/>
                <a:sym typeface="Calibri"/>
              </a:rPr>
              <a:t>Team Notebook:</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7"/>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Oceanus SOP:</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8"/>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0" name="Shape 480"/>
        <p:cNvGrpSpPr/>
        <p:nvPr/>
      </p:nvGrpSpPr>
      <p:grpSpPr>
        <a:xfrm>
          <a:off x="0" y="0"/>
          <a:ext cx="0" cy="0"/>
          <a:chOff x="0" y="0"/>
          <a:chExt cx="0" cy="0"/>
        </a:xfrm>
      </p:grpSpPr>
      <p:sp>
        <p:nvSpPr>
          <p:cNvPr id="481" name="Google Shape;481;p5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2" name="Google Shape;482;p5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83" name="Google Shape;483;p51"/>
          <p:cNvSpPr txBox="1"/>
          <p:nvPr>
            <p:ph type="title"/>
          </p:nvPr>
        </p:nvSpPr>
        <p:spPr>
          <a:xfrm>
            <a:off x="311700" y="1509798"/>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Appendix C</a:t>
            </a:r>
            <a:endParaRPr>
              <a:solidFill>
                <a:schemeClr val="lt1"/>
              </a:solidFill>
            </a:endParaRPr>
          </a:p>
        </p:txBody>
      </p:sp>
      <p:sp>
        <p:nvSpPr>
          <p:cNvPr id="484" name="Google Shape;484;p51"/>
          <p:cNvSpPr txBox="1"/>
          <p:nvPr>
            <p:ph type="title"/>
          </p:nvPr>
        </p:nvSpPr>
        <p:spPr>
          <a:xfrm>
            <a:off x="312875" y="227618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Thermals</a:t>
            </a:r>
            <a:r>
              <a:rPr lang="en">
                <a:solidFill>
                  <a:schemeClr val="lt1"/>
                </a:solidFill>
              </a:rPr>
              <a:t> Library</a:t>
            </a:r>
            <a:endParaRPr>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8" name="Shape 488"/>
        <p:cNvGrpSpPr/>
        <p:nvPr/>
      </p:nvGrpSpPr>
      <p:grpSpPr>
        <a:xfrm>
          <a:off x="0" y="0"/>
          <a:ext cx="0" cy="0"/>
          <a:chOff x="0" y="0"/>
          <a:chExt cx="0" cy="0"/>
        </a:xfrm>
      </p:grpSpPr>
      <p:sp>
        <p:nvSpPr>
          <p:cNvPr id="489" name="Google Shape;489;p52"/>
          <p:cNvSpPr/>
          <p:nvPr/>
        </p:nvSpPr>
        <p:spPr>
          <a:xfrm>
            <a:off x="240600" y="23160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90" name="Google Shape;490;p5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91" name="Google Shape;491;p5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Float Enclosure </a:t>
            </a:r>
            <a:endParaRPr sz="3400">
              <a:solidFill>
                <a:schemeClr val="lt1"/>
              </a:solidFill>
              <a:latin typeface="Balthazar"/>
              <a:ea typeface="Balthazar"/>
              <a:cs typeface="Balthazar"/>
              <a:sym typeface="Balthazar"/>
            </a:endParaRPr>
          </a:p>
        </p:txBody>
      </p:sp>
      <p:pic>
        <p:nvPicPr>
          <p:cNvPr id="492" name="Google Shape;492;p52" title="Screenshot 2026-02-06 013752.png"/>
          <p:cNvPicPr preferRelativeResize="0"/>
          <p:nvPr/>
        </p:nvPicPr>
        <p:blipFill>
          <a:blip r:embed="rId3">
            <a:alphaModFix/>
          </a:blip>
          <a:stretch>
            <a:fillRect/>
          </a:stretch>
        </p:blipFill>
        <p:spPr>
          <a:xfrm>
            <a:off x="595647" y="1125450"/>
            <a:ext cx="4373974" cy="3359099"/>
          </a:xfrm>
          <a:prstGeom prst="rect">
            <a:avLst/>
          </a:prstGeom>
          <a:noFill/>
          <a:ln>
            <a:noFill/>
          </a:ln>
        </p:spPr>
      </p:pic>
      <p:sp>
        <p:nvSpPr>
          <p:cNvPr id="493" name="Google Shape;493;p52"/>
          <p:cNvSpPr txBox="1"/>
          <p:nvPr/>
        </p:nvSpPr>
        <p:spPr>
          <a:xfrm>
            <a:off x="5164050" y="1125450"/>
            <a:ext cx="31395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Parameters:</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-25 C external </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9 C target internal</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4mm foam</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a:t>
            </a:r>
            <a:r>
              <a:rPr lang="en" sz="1800">
                <a:solidFill>
                  <a:schemeClr val="lt1"/>
                </a:solidFill>
              </a:rPr>
              <a:t>6mm</a:t>
            </a:r>
            <a:r>
              <a:rPr lang="en" sz="1800">
                <a:solidFill>
                  <a:schemeClr val="lt1"/>
                </a:solidFill>
              </a:rPr>
              <a:t> acrylic thickness</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13.75 W electronics</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5 W added heat</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13.75 + 5 = 18.75 &gt; 18.5 req.</a:t>
            </a:r>
            <a:endParaRPr sz="1800">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7" name="Shape 497"/>
        <p:cNvGrpSpPr/>
        <p:nvPr/>
      </p:nvGrpSpPr>
      <p:grpSpPr>
        <a:xfrm>
          <a:off x="0" y="0"/>
          <a:ext cx="0" cy="0"/>
          <a:chOff x="0" y="0"/>
          <a:chExt cx="0" cy="0"/>
        </a:xfrm>
      </p:grpSpPr>
      <p:sp>
        <p:nvSpPr>
          <p:cNvPr id="498" name="Google Shape;498;p53"/>
          <p:cNvSpPr/>
          <p:nvPr/>
        </p:nvSpPr>
        <p:spPr>
          <a:xfrm>
            <a:off x="240600" y="23160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99" name="Google Shape;499;p5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00" name="Google Shape;500;p53"/>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ROV</a:t>
            </a:r>
            <a:r>
              <a:rPr lang="en" sz="3400">
                <a:solidFill>
                  <a:schemeClr val="lt1"/>
                </a:solidFill>
                <a:latin typeface="Balthazar"/>
                <a:ea typeface="Balthazar"/>
                <a:cs typeface="Balthazar"/>
                <a:sym typeface="Balthazar"/>
              </a:rPr>
              <a:t> Enclosure </a:t>
            </a:r>
            <a:endParaRPr sz="3400">
              <a:solidFill>
                <a:schemeClr val="lt1"/>
              </a:solidFill>
              <a:latin typeface="Balthazar"/>
              <a:ea typeface="Balthazar"/>
              <a:cs typeface="Balthazar"/>
              <a:sym typeface="Balthazar"/>
            </a:endParaRPr>
          </a:p>
        </p:txBody>
      </p:sp>
      <p:sp>
        <p:nvSpPr>
          <p:cNvPr id="501" name="Google Shape;501;p53"/>
          <p:cNvSpPr txBox="1"/>
          <p:nvPr/>
        </p:nvSpPr>
        <p:spPr>
          <a:xfrm>
            <a:off x="5164050" y="1125450"/>
            <a:ext cx="31395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Notes</a:t>
            </a:r>
            <a:r>
              <a:rPr lang="en" sz="1800">
                <a:solidFill>
                  <a:schemeClr val="lt1"/>
                </a:solidFill>
              </a:rPr>
              <a:t>:</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25 W </a:t>
            </a:r>
            <a:r>
              <a:rPr lang="en" sz="1800">
                <a:solidFill>
                  <a:schemeClr val="lt1"/>
                </a:solidFill>
              </a:rPr>
              <a:t>accounts</a:t>
            </a:r>
            <a:r>
              <a:rPr lang="en" sz="1800">
                <a:solidFill>
                  <a:schemeClr val="lt1"/>
                </a:solidFill>
              </a:rPr>
              <a:t> for electronics inside enclosure</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0.406 C is the calculated temp. rise</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23.406 C is the calculated internal resting temp. while submerged</a:t>
            </a:r>
            <a:endParaRPr sz="1800">
              <a:solidFill>
                <a:schemeClr val="lt1"/>
              </a:solidFill>
            </a:endParaRPr>
          </a:p>
          <a:p>
            <a:pPr indent="0" lvl="0" marL="457200" rtl="0" algn="l">
              <a:spcBef>
                <a:spcPts val="0"/>
              </a:spcBef>
              <a:spcAft>
                <a:spcPts val="0"/>
              </a:spcAft>
              <a:buNone/>
            </a:pPr>
            <a:r>
              <a:t/>
            </a:r>
            <a:endParaRPr sz="1800">
              <a:solidFill>
                <a:schemeClr val="lt1"/>
              </a:solidFill>
            </a:endParaRPr>
          </a:p>
        </p:txBody>
      </p:sp>
      <p:pic>
        <p:nvPicPr>
          <p:cNvPr id="502" name="Google Shape;502;p53" title="Screenshot 2026-02-08 010653.png"/>
          <p:cNvPicPr preferRelativeResize="0"/>
          <p:nvPr/>
        </p:nvPicPr>
        <p:blipFill>
          <a:blip r:embed="rId3">
            <a:alphaModFix/>
          </a:blip>
          <a:stretch>
            <a:fillRect/>
          </a:stretch>
        </p:blipFill>
        <p:spPr>
          <a:xfrm>
            <a:off x="1336601" y="1125450"/>
            <a:ext cx="2955451" cy="36387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6" name="Shape 506"/>
        <p:cNvGrpSpPr/>
        <p:nvPr/>
      </p:nvGrpSpPr>
      <p:grpSpPr>
        <a:xfrm>
          <a:off x="0" y="0"/>
          <a:ext cx="0" cy="0"/>
          <a:chOff x="0" y="0"/>
          <a:chExt cx="0" cy="0"/>
        </a:xfrm>
      </p:grpSpPr>
      <p:sp>
        <p:nvSpPr>
          <p:cNvPr id="507" name="Google Shape;507;p5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08" name="Google Shape;508;p5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09" name="Google Shape;509;p54"/>
          <p:cNvSpPr txBox="1"/>
          <p:nvPr>
            <p:ph type="title"/>
          </p:nvPr>
        </p:nvSpPr>
        <p:spPr>
          <a:xfrm>
            <a:off x="311700" y="1509798"/>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Appendix D</a:t>
            </a:r>
            <a:endParaRPr>
              <a:solidFill>
                <a:schemeClr val="lt1"/>
              </a:solidFill>
            </a:endParaRPr>
          </a:p>
        </p:txBody>
      </p:sp>
      <p:sp>
        <p:nvSpPr>
          <p:cNvPr id="510" name="Google Shape;510;p54"/>
          <p:cNvSpPr txBox="1"/>
          <p:nvPr>
            <p:ph type="title"/>
          </p:nvPr>
        </p:nvSpPr>
        <p:spPr>
          <a:xfrm>
            <a:off x="312875" y="227618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Trade Study Library</a:t>
            </a:r>
            <a:endParaRPr>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4" name="Shape 514"/>
        <p:cNvGrpSpPr/>
        <p:nvPr/>
      </p:nvGrpSpPr>
      <p:grpSpPr>
        <a:xfrm>
          <a:off x="0" y="0"/>
          <a:ext cx="0" cy="0"/>
          <a:chOff x="0" y="0"/>
          <a:chExt cx="0" cy="0"/>
        </a:xfrm>
      </p:grpSpPr>
      <p:sp>
        <p:nvSpPr>
          <p:cNvPr id="515" name="Google Shape;515;p5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16" name="Google Shape;516;p5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17" name="Google Shape;517;p55"/>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Enclosure Heating Methods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18" name="Google Shape;518;p55"/>
          <p:cNvSpPr txBox="1"/>
          <p:nvPr/>
        </p:nvSpPr>
        <p:spPr>
          <a:xfrm>
            <a:off x="595650" y="1358725"/>
            <a:ext cx="4755600" cy="4371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Integrated thermostat</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Self regulating temperature to keep above ambient</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Anti-condensation</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519" name="Google Shape;519;p55"/>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20" name="Google Shape;520;p55"/>
          <p:cNvPicPr preferRelativeResize="0"/>
          <p:nvPr/>
        </p:nvPicPr>
        <p:blipFill>
          <a:blip r:embed="rId4">
            <a:alphaModFix/>
          </a:blip>
          <a:stretch>
            <a:fillRect/>
          </a:stretch>
        </p:blipFill>
        <p:spPr>
          <a:xfrm>
            <a:off x="6438559" y="1248252"/>
            <a:ext cx="2263233" cy="2225751"/>
          </a:xfrm>
          <a:prstGeom prst="rect">
            <a:avLst/>
          </a:prstGeom>
          <a:noFill/>
          <a:ln>
            <a:noFill/>
          </a:ln>
        </p:spPr>
      </p:pic>
      <p:sp>
        <p:nvSpPr>
          <p:cNvPr id="521" name="Google Shape;521;p55"/>
          <p:cNvSpPr txBox="1"/>
          <p:nvPr/>
        </p:nvSpPr>
        <p:spPr>
          <a:xfrm>
            <a:off x="6433275" y="3474018"/>
            <a:ext cx="2273700" cy="626100"/>
          </a:xfrm>
          <a:prstGeom prst="rect">
            <a:avLst/>
          </a:prstGeom>
          <a:noFill/>
          <a:ln>
            <a:noFill/>
          </a:ln>
        </p:spPr>
        <p:txBody>
          <a:bodyPr anchorCtr="0" anchor="t" bIns="78875" lIns="78875" spcFirstLastPara="1" rIns="78875" wrap="square" tIns="78875">
            <a:noAutofit/>
          </a:bodyPr>
          <a:lstStyle/>
          <a:p>
            <a:pPr indent="0" lvl="0" marL="0" rtl="0" algn="l">
              <a:spcBef>
                <a:spcPts val="0"/>
              </a:spcBef>
              <a:spcAft>
                <a:spcPts val="0"/>
              </a:spcAft>
              <a:buNone/>
            </a:pPr>
            <a:r>
              <a:rPr lang="en" sz="1035">
                <a:solidFill>
                  <a:srgbClr val="FFFFFF"/>
                </a:solidFill>
              </a:rPr>
              <a:t>Control Cabinet Heater Super - Mini</a:t>
            </a:r>
            <a:endParaRPr sz="1035">
              <a:solidFill>
                <a:srgbClr val="FFFFFF"/>
              </a:solidFill>
            </a:endParaRPr>
          </a:p>
        </p:txBody>
      </p:sp>
      <p:pic>
        <p:nvPicPr>
          <p:cNvPr id="522" name="Google Shape;522;p55"/>
          <p:cNvPicPr preferRelativeResize="0"/>
          <p:nvPr/>
        </p:nvPicPr>
        <p:blipFill>
          <a:blip r:embed="rId5">
            <a:alphaModFix/>
          </a:blip>
          <a:stretch>
            <a:fillRect/>
          </a:stretch>
        </p:blipFill>
        <p:spPr>
          <a:xfrm>
            <a:off x="354775" y="2910148"/>
            <a:ext cx="5571875" cy="2517926"/>
          </a:xfrm>
          <a:prstGeom prst="rect">
            <a:avLst/>
          </a:prstGeom>
          <a:noFill/>
          <a:ln>
            <a:noFill/>
          </a:ln>
        </p:spPr>
      </p:pic>
      <p:sp>
        <p:nvSpPr>
          <p:cNvPr id="523" name="Google Shape;523;p5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10</a:t>
            </a:r>
            <a:endParaRPr sz="2200">
              <a:solidFill>
                <a:srgbClr val="FFFFFF"/>
              </a:solidFill>
              <a:latin typeface="Balthazar"/>
              <a:ea typeface="Balthazar"/>
              <a:cs typeface="Balthazar"/>
              <a:sym typeface="Balthaz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7" name="Shape 527"/>
        <p:cNvGrpSpPr/>
        <p:nvPr/>
      </p:nvGrpSpPr>
      <p:grpSpPr>
        <a:xfrm>
          <a:off x="0" y="0"/>
          <a:ext cx="0" cy="0"/>
          <a:chOff x="0" y="0"/>
          <a:chExt cx="0" cy="0"/>
        </a:xfrm>
      </p:grpSpPr>
      <p:sp>
        <p:nvSpPr>
          <p:cNvPr id="528" name="Google Shape;528;p5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9" name="Google Shape;529;p5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30" name="Google Shape;530;p56"/>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Operating System on ROV</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31" name="Google Shape;531;p56"/>
          <p:cNvSpPr txBox="1"/>
          <p:nvPr/>
        </p:nvSpPr>
        <p:spPr>
          <a:xfrm>
            <a:off x="421513" y="1197275"/>
            <a:ext cx="5331000" cy="1108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Compatible with our SBC</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Python coding</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532" name="Google Shape;532;p56"/>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33" name="Google Shape;533;p56"/>
          <p:cNvPicPr preferRelativeResize="0"/>
          <p:nvPr/>
        </p:nvPicPr>
        <p:blipFill>
          <a:blip r:embed="rId4">
            <a:alphaModFix/>
          </a:blip>
          <a:stretch>
            <a:fillRect/>
          </a:stretch>
        </p:blipFill>
        <p:spPr>
          <a:xfrm>
            <a:off x="4979675" y="1035950"/>
            <a:ext cx="3343216" cy="1803713"/>
          </a:xfrm>
          <a:prstGeom prst="rect">
            <a:avLst/>
          </a:prstGeom>
          <a:noFill/>
          <a:ln>
            <a:noFill/>
          </a:ln>
        </p:spPr>
      </p:pic>
      <p:pic>
        <p:nvPicPr>
          <p:cNvPr id="534" name="Google Shape;534;p56"/>
          <p:cNvPicPr preferRelativeResize="0"/>
          <p:nvPr/>
        </p:nvPicPr>
        <p:blipFill>
          <a:blip r:embed="rId5">
            <a:alphaModFix/>
          </a:blip>
          <a:stretch>
            <a:fillRect/>
          </a:stretch>
        </p:blipFill>
        <p:spPr>
          <a:xfrm>
            <a:off x="372350" y="2958563"/>
            <a:ext cx="5330999" cy="1873236"/>
          </a:xfrm>
          <a:prstGeom prst="rect">
            <a:avLst/>
          </a:prstGeom>
          <a:noFill/>
          <a:ln>
            <a:noFill/>
          </a:ln>
        </p:spPr>
      </p:pic>
      <p:pic>
        <p:nvPicPr>
          <p:cNvPr id="535" name="Google Shape;535;p56"/>
          <p:cNvPicPr preferRelativeResize="0"/>
          <p:nvPr/>
        </p:nvPicPr>
        <p:blipFill>
          <a:blip r:embed="rId6">
            <a:alphaModFix/>
          </a:blip>
          <a:stretch>
            <a:fillRect/>
          </a:stretch>
        </p:blipFill>
        <p:spPr>
          <a:xfrm>
            <a:off x="1296475" y="2172400"/>
            <a:ext cx="1978575" cy="601500"/>
          </a:xfrm>
          <a:prstGeom prst="rect">
            <a:avLst/>
          </a:prstGeom>
          <a:noFill/>
          <a:ln>
            <a:noFill/>
          </a:ln>
        </p:spPr>
      </p:pic>
      <p:sp>
        <p:nvSpPr>
          <p:cNvPr id="536" name="Google Shape;536;p5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28</a:t>
            </a:r>
            <a:endParaRPr sz="2200">
              <a:solidFill>
                <a:schemeClr val="lt1"/>
              </a:solidFill>
              <a:latin typeface="Balthazar"/>
              <a:ea typeface="Balthazar"/>
              <a:cs typeface="Balthazar"/>
              <a:sym typeface="Balthaz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0" name="Shape 540"/>
        <p:cNvGrpSpPr/>
        <p:nvPr/>
      </p:nvGrpSpPr>
      <p:grpSpPr>
        <a:xfrm>
          <a:off x="0" y="0"/>
          <a:ext cx="0" cy="0"/>
          <a:chOff x="0" y="0"/>
          <a:chExt cx="0" cy="0"/>
        </a:xfrm>
      </p:grpSpPr>
      <p:sp>
        <p:nvSpPr>
          <p:cNvPr id="541" name="Google Shape;541;p5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42" name="Google Shape;542;p5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43" name="Google Shape;543;p5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Single Board Computer (SBC)</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44" name="Google Shape;544;p57"/>
          <p:cNvSpPr txBox="1"/>
          <p:nvPr/>
        </p:nvSpPr>
        <p:spPr>
          <a:xfrm>
            <a:off x="482625" y="1286075"/>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8 GB RAM</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2.4 Ghz CPU</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Ethernet (1 Gbps) connectivity</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545" name="Google Shape;545;p57"/>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46" name="Google Shape;546;p57"/>
          <p:cNvPicPr preferRelativeResize="0"/>
          <p:nvPr/>
        </p:nvPicPr>
        <p:blipFill>
          <a:blip r:embed="rId4">
            <a:alphaModFix/>
          </a:blip>
          <a:stretch>
            <a:fillRect/>
          </a:stretch>
        </p:blipFill>
        <p:spPr>
          <a:xfrm>
            <a:off x="6699971" y="917050"/>
            <a:ext cx="2074553" cy="1561100"/>
          </a:xfrm>
          <a:prstGeom prst="rect">
            <a:avLst/>
          </a:prstGeom>
          <a:noFill/>
          <a:ln>
            <a:noFill/>
          </a:ln>
        </p:spPr>
      </p:pic>
      <p:pic>
        <p:nvPicPr>
          <p:cNvPr id="547" name="Google Shape;547;p57"/>
          <p:cNvPicPr preferRelativeResize="0"/>
          <p:nvPr/>
        </p:nvPicPr>
        <p:blipFill>
          <a:blip r:embed="rId5">
            <a:alphaModFix/>
          </a:blip>
          <a:stretch>
            <a:fillRect/>
          </a:stretch>
        </p:blipFill>
        <p:spPr>
          <a:xfrm>
            <a:off x="367999" y="2403050"/>
            <a:ext cx="6039401" cy="2431450"/>
          </a:xfrm>
          <a:prstGeom prst="rect">
            <a:avLst/>
          </a:prstGeom>
          <a:noFill/>
          <a:ln>
            <a:noFill/>
          </a:ln>
        </p:spPr>
      </p:pic>
      <p:sp>
        <p:nvSpPr>
          <p:cNvPr id="548" name="Google Shape;548;p57"/>
          <p:cNvSpPr txBox="1"/>
          <p:nvPr/>
        </p:nvSpPr>
        <p:spPr>
          <a:xfrm>
            <a:off x="4737750" y="1482050"/>
            <a:ext cx="184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Raspberry Pi 5</a:t>
            </a:r>
            <a:endParaRPr sz="2000">
              <a:solidFill>
                <a:schemeClr val="lt1"/>
              </a:solidFill>
              <a:latin typeface="Calibri"/>
              <a:ea typeface="Calibri"/>
              <a:cs typeface="Calibri"/>
              <a:sym typeface="Calibri"/>
            </a:endParaRPr>
          </a:p>
        </p:txBody>
      </p:sp>
      <p:sp>
        <p:nvSpPr>
          <p:cNvPr id="549" name="Google Shape;549;p5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3" name="Shape 553"/>
        <p:cNvGrpSpPr/>
        <p:nvPr/>
      </p:nvGrpSpPr>
      <p:grpSpPr>
        <a:xfrm>
          <a:off x="0" y="0"/>
          <a:ext cx="0" cy="0"/>
          <a:chOff x="0" y="0"/>
          <a:chExt cx="0" cy="0"/>
        </a:xfrm>
      </p:grpSpPr>
      <p:sp>
        <p:nvSpPr>
          <p:cNvPr id="554" name="Google Shape;554;p5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55" name="Google Shape;555;p5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56" name="Google Shape;556;p5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Inertial Measurement Unit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57" name="Google Shape;557;p58"/>
          <p:cNvSpPr txBox="1"/>
          <p:nvPr/>
        </p:nvSpPr>
        <p:spPr>
          <a:xfrm>
            <a:off x="519700" y="1164950"/>
            <a:ext cx="38112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Compatible with BlueOS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Has more than IMU, compass and barometer</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6 DOF</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558" name="Google Shape;558;p58"/>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59" name="Google Shape;559;p58" title="aslkdalksjdkals.png"/>
          <p:cNvPicPr preferRelativeResize="0"/>
          <p:nvPr/>
        </p:nvPicPr>
        <p:blipFill>
          <a:blip r:embed="rId4">
            <a:alphaModFix/>
          </a:blip>
          <a:stretch>
            <a:fillRect/>
          </a:stretch>
        </p:blipFill>
        <p:spPr>
          <a:xfrm>
            <a:off x="6198775" y="1022525"/>
            <a:ext cx="2672626" cy="1866226"/>
          </a:xfrm>
          <a:prstGeom prst="rect">
            <a:avLst/>
          </a:prstGeom>
          <a:noFill/>
          <a:ln>
            <a:noFill/>
          </a:ln>
        </p:spPr>
      </p:pic>
      <p:pic>
        <p:nvPicPr>
          <p:cNvPr id="560" name="Google Shape;560;p58" title="Screenshot 2025-10-25 at 8.44.28 AM.png"/>
          <p:cNvPicPr preferRelativeResize="0"/>
          <p:nvPr/>
        </p:nvPicPr>
        <p:blipFill>
          <a:blip r:embed="rId5">
            <a:alphaModFix/>
          </a:blip>
          <a:stretch>
            <a:fillRect/>
          </a:stretch>
        </p:blipFill>
        <p:spPr>
          <a:xfrm>
            <a:off x="406375" y="2742450"/>
            <a:ext cx="6281226" cy="2051825"/>
          </a:xfrm>
          <a:prstGeom prst="rect">
            <a:avLst/>
          </a:prstGeom>
          <a:noFill/>
          <a:ln>
            <a:noFill/>
          </a:ln>
        </p:spPr>
      </p:pic>
      <p:sp>
        <p:nvSpPr>
          <p:cNvPr id="561" name="Google Shape;561;p58"/>
          <p:cNvSpPr txBox="1"/>
          <p:nvPr/>
        </p:nvSpPr>
        <p:spPr>
          <a:xfrm>
            <a:off x="4776000" y="1398425"/>
            <a:ext cx="1850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BlueRobotics Navigator</a:t>
            </a:r>
            <a:endParaRPr sz="2000">
              <a:solidFill>
                <a:schemeClr val="lt1"/>
              </a:solidFill>
              <a:latin typeface="Calibri"/>
              <a:ea typeface="Calibri"/>
              <a:cs typeface="Calibri"/>
              <a:sym typeface="Calibri"/>
            </a:endParaRPr>
          </a:p>
        </p:txBody>
      </p:sp>
      <p:sp>
        <p:nvSpPr>
          <p:cNvPr id="562" name="Google Shape;562;p5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29</a:t>
            </a:r>
            <a:endParaRPr sz="2200">
              <a:solidFill>
                <a:schemeClr val="lt1"/>
              </a:solidFill>
              <a:latin typeface="Balthazar"/>
              <a:ea typeface="Balthazar"/>
              <a:cs typeface="Balthazar"/>
              <a:sym typeface="Balthaz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66" name="Shape 566"/>
        <p:cNvGrpSpPr/>
        <p:nvPr/>
      </p:nvGrpSpPr>
      <p:grpSpPr>
        <a:xfrm>
          <a:off x="0" y="0"/>
          <a:ext cx="0" cy="0"/>
          <a:chOff x="0" y="0"/>
          <a:chExt cx="0" cy="0"/>
        </a:xfrm>
      </p:grpSpPr>
      <p:sp>
        <p:nvSpPr>
          <p:cNvPr id="567" name="Google Shape;567;p5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68" name="Google Shape;568;p5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69" name="Google Shape;569;p5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Camera</a:t>
            </a:r>
            <a:endParaRPr sz="3400">
              <a:solidFill>
                <a:schemeClr val="lt1"/>
              </a:solidFill>
              <a:latin typeface="Balthazar"/>
              <a:ea typeface="Balthazar"/>
              <a:cs typeface="Balthazar"/>
              <a:sym typeface="Balthazar"/>
            </a:endParaRPr>
          </a:p>
        </p:txBody>
      </p:sp>
      <p:sp>
        <p:nvSpPr>
          <p:cNvPr id="570" name="Google Shape;570;p59"/>
          <p:cNvSpPr txBox="1"/>
          <p:nvPr/>
        </p:nvSpPr>
        <p:spPr>
          <a:xfrm>
            <a:off x="450350" y="1264750"/>
            <a:ext cx="5331000" cy="1662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One camera (4K) for photogrammetry</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12 MP, Max 15 fps, Photo mode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Other camera for video feed</a:t>
            </a:r>
            <a:endParaRPr sz="2000">
              <a:solidFill>
                <a:schemeClr val="lt1"/>
              </a:solidFill>
              <a:latin typeface="Calibri"/>
              <a:ea typeface="Calibri"/>
              <a:cs typeface="Calibri"/>
              <a:sym typeface="Calibri"/>
            </a:endParaRPr>
          </a:p>
          <a:p>
            <a:pPr indent="-355600" lvl="1" marL="9144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1080p, 60 fps</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571" name="Google Shape;571;p59"/>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72" name="Google Shape;572;p59" title="Screenshot 2025-10-26 at 12.42.57 PM.png"/>
          <p:cNvPicPr preferRelativeResize="0"/>
          <p:nvPr/>
        </p:nvPicPr>
        <p:blipFill>
          <a:blip r:embed="rId4">
            <a:alphaModFix/>
          </a:blip>
          <a:stretch>
            <a:fillRect/>
          </a:stretch>
        </p:blipFill>
        <p:spPr>
          <a:xfrm>
            <a:off x="327175" y="2842300"/>
            <a:ext cx="7697526" cy="2029625"/>
          </a:xfrm>
          <a:prstGeom prst="rect">
            <a:avLst/>
          </a:prstGeom>
          <a:noFill/>
          <a:ln>
            <a:noFill/>
          </a:ln>
        </p:spPr>
      </p:pic>
      <p:pic>
        <p:nvPicPr>
          <p:cNvPr id="573" name="Google Shape;573;p59"/>
          <p:cNvPicPr preferRelativeResize="0"/>
          <p:nvPr/>
        </p:nvPicPr>
        <p:blipFill>
          <a:blip r:embed="rId5">
            <a:alphaModFix/>
          </a:blip>
          <a:stretch>
            <a:fillRect/>
          </a:stretch>
        </p:blipFill>
        <p:spPr>
          <a:xfrm>
            <a:off x="6940350" y="1310300"/>
            <a:ext cx="1648505" cy="1412150"/>
          </a:xfrm>
          <a:prstGeom prst="rect">
            <a:avLst/>
          </a:prstGeom>
          <a:noFill/>
          <a:ln>
            <a:noFill/>
          </a:ln>
        </p:spPr>
      </p:pic>
      <p:pic>
        <p:nvPicPr>
          <p:cNvPr id="574" name="Google Shape;574;p59" title="dasdasdasda.png"/>
          <p:cNvPicPr preferRelativeResize="0"/>
          <p:nvPr/>
        </p:nvPicPr>
        <p:blipFill>
          <a:blip r:embed="rId6">
            <a:alphaModFix/>
          </a:blip>
          <a:stretch>
            <a:fillRect/>
          </a:stretch>
        </p:blipFill>
        <p:spPr>
          <a:xfrm>
            <a:off x="5488601" y="1469350"/>
            <a:ext cx="1511575" cy="1147676"/>
          </a:xfrm>
          <a:prstGeom prst="rect">
            <a:avLst/>
          </a:prstGeom>
          <a:noFill/>
          <a:ln>
            <a:noFill/>
          </a:ln>
        </p:spPr>
      </p:pic>
      <p:sp>
        <p:nvSpPr>
          <p:cNvPr id="575" name="Google Shape;575;p59"/>
          <p:cNvSpPr txBox="1"/>
          <p:nvPr/>
        </p:nvSpPr>
        <p:spPr>
          <a:xfrm>
            <a:off x="5181600" y="887436"/>
            <a:ext cx="3962400" cy="56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Balthazar"/>
                <a:ea typeface="Balthazar"/>
                <a:cs typeface="Balthazar"/>
                <a:sym typeface="Balthazar"/>
              </a:rPr>
              <a:t>ArduCam 4K/BRIO 100</a:t>
            </a:r>
            <a:endParaRPr sz="2400">
              <a:solidFill>
                <a:srgbClr val="FFFFFF"/>
              </a:solidFill>
              <a:latin typeface="Balthazar"/>
              <a:ea typeface="Balthazar"/>
              <a:cs typeface="Balthazar"/>
              <a:sym typeface="Balthazar"/>
            </a:endParaRPr>
          </a:p>
        </p:txBody>
      </p:sp>
      <p:sp>
        <p:nvSpPr>
          <p:cNvPr id="576" name="Google Shape;576;p5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30</a:t>
            </a:r>
            <a:endParaRPr sz="2200">
              <a:solidFill>
                <a:schemeClr val="lt1"/>
              </a:solidFill>
              <a:latin typeface="Balthazar"/>
              <a:ea typeface="Balthazar"/>
              <a:cs typeface="Balthazar"/>
              <a:sym typeface="Balthaz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0" name="Shape 580"/>
        <p:cNvGrpSpPr/>
        <p:nvPr/>
      </p:nvGrpSpPr>
      <p:grpSpPr>
        <a:xfrm>
          <a:off x="0" y="0"/>
          <a:ext cx="0" cy="0"/>
          <a:chOff x="0" y="0"/>
          <a:chExt cx="0" cy="0"/>
        </a:xfrm>
      </p:grpSpPr>
      <p:sp>
        <p:nvSpPr>
          <p:cNvPr id="581" name="Google Shape;581;p6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2" name="Google Shape;582;p6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83" name="Google Shape;583;p6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Lights</a:t>
            </a:r>
            <a:endParaRPr sz="3400">
              <a:solidFill>
                <a:schemeClr val="lt1"/>
              </a:solidFill>
              <a:latin typeface="Balthazar"/>
              <a:ea typeface="Balthazar"/>
              <a:cs typeface="Balthazar"/>
              <a:sym typeface="Balthazar"/>
            </a:endParaRPr>
          </a:p>
        </p:txBody>
      </p:sp>
      <p:sp>
        <p:nvSpPr>
          <p:cNvPr id="584" name="Google Shape;584;p60"/>
          <p:cNvSpPr txBox="1"/>
          <p:nvPr/>
        </p:nvSpPr>
        <p:spPr>
          <a:xfrm>
            <a:off x="595650" y="1155750"/>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Diffused LEDs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Each side of camera</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b="1" lang="en" sz="2000">
                <a:solidFill>
                  <a:schemeClr val="lt1"/>
                </a:solidFill>
                <a:latin typeface="Calibri"/>
                <a:ea typeface="Calibri"/>
                <a:cs typeface="Calibri"/>
                <a:sym typeface="Calibri"/>
              </a:rPr>
              <a:t>1430 </a:t>
            </a:r>
            <a:r>
              <a:rPr lang="en" sz="2000">
                <a:solidFill>
                  <a:schemeClr val="lt1"/>
                </a:solidFill>
                <a:latin typeface="Calibri"/>
                <a:ea typeface="Calibri"/>
                <a:cs typeface="Calibri"/>
                <a:sym typeface="Calibri"/>
              </a:rPr>
              <a:t>lumens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b="1" lang="en" sz="2000">
                <a:solidFill>
                  <a:schemeClr val="lt1"/>
                </a:solidFill>
                <a:latin typeface="Calibri"/>
                <a:ea typeface="Calibri"/>
                <a:cs typeface="Calibri"/>
                <a:sym typeface="Calibri"/>
              </a:rPr>
              <a:t>12V</a:t>
            </a:r>
            <a:endParaRPr b="1" sz="2000">
              <a:solidFill>
                <a:schemeClr val="lt1"/>
              </a:solidFill>
              <a:latin typeface="Calibri"/>
              <a:ea typeface="Calibri"/>
              <a:cs typeface="Calibri"/>
              <a:sym typeface="Calibri"/>
            </a:endParaRPr>
          </a:p>
        </p:txBody>
      </p:sp>
      <p:pic>
        <p:nvPicPr>
          <p:cNvPr id="585" name="Google Shape;585;p60"/>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86" name="Google Shape;586;p60"/>
          <p:cNvPicPr preferRelativeResize="0"/>
          <p:nvPr/>
        </p:nvPicPr>
        <p:blipFill>
          <a:blip r:embed="rId4">
            <a:alphaModFix/>
          </a:blip>
          <a:stretch>
            <a:fillRect/>
          </a:stretch>
        </p:blipFill>
        <p:spPr>
          <a:xfrm>
            <a:off x="519700" y="2571742"/>
            <a:ext cx="5979525" cy="2281884"/>
          </a:xfrm>
          <a:prstGeom prst="rect">
            <a:avLst/>
          </a:prstGeom>
          <a:noFill/>
          <a:ln>
            <a:noFill/>
          </a:ln>
        </p:spPr>
      </p:pic>
      <p:pic>
        <p:nvPicPr>
          <p:cNvPr id="587" name="Google Shape;587;p60" title="image-removebg-preview.png"/>
          <p:cNvPicPr preferRelativeResize="0"/>
          <p:nvPr/>
        </p:nvPicPr>
        <p:blipFill>
          <a:blip r:embed="rId5">
            <a:alphaModFix/>
          </a:blip>
          <a:stretch>
            <a:fillRect/>
          </a:stretch>
        </p:blipFill>
        <p:spPr>
          <a:xfrm>
            <a:off x="6223025" y="769300"/>
            <a:ext cx="2869775" cy="2445425"/>
          </a:xfrm>
          <a:prstGeom prst="rect">
            <a:avLst/>
          </a:prstGeom>
          <a:noFill/>
          <a:ln>
            <a:noFill/>
          </a:ln>
        </p:spPr>
      </p:pic>
      <p:sp>
        <p:nvSpPr>
          <p:cNvPr id="588" name="Google Shape;588;p6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33</a:t>
            </a:r>
            <a:endParaRPr sz="2200">
              <a:solidFill>
                <a:schemeClr val="lt1"/>
              </a:solidFill>
              <a:latin typeface="Balthazar"/>
              <a:ea typeface="Balthazar"/>
              <a:cs typeface="Balthazar"/>
              <a:sym typeface="Balthaz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2" name="Shape 592"/>
        <p:cNvGrpSpPr/>
        <p:nvPr/>
      </p:nvGrpSpPr>
      <p:grpSpPr>
        <a:xfrm>
          <a:off x="0" y="0"/>
          <a:ext cx="0" cy="0"/>
          <a:chOff x="0" y="0"/>
          <a:chExt cx="0" cy="0"/>
        </a:xfrm>
      </p:grpSpPr>
      <p:sp>
        <p:nvSpPr>
          <p:cNvPr id="593" name="Google Shape;593;p6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94" name="Google Shape;594;p6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95" name="Google Shape;595;p61"/>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Logitech Controller for C3 Station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96" name="Google Shape;596;p61"/>
          <p:cNvSpPr txBox="1"/>
          <p:nvPr/>
        </p:nvSpPr>
        <p:spPr>
          <a:xfrm>
            <a:off x="595650" y="1173075"/>
            <a:ext cx="5331000" cy="12006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Cost-efficient </a:t>
            </a:r>
            <a:r>
              <a:rPr b="1" lang="en" sz="2200">
                <a:solidFill>
                  <a:schemeClr val="lt1"/>
                </a:solidFill>
                <a:latin typeface="Calibri"/>
                <a:ea typeface="Calibri"/>
                <a:cs typeface="Calibri"/>
                <a:sym typeface="Calibri"/>
              </a:rPr>
              <a:t>($15)</a:t>
            </a:r>
            <a:endParaRPr b="1"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Easily programmable</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p:txBody>
      </p:sp>
      <p:pic>
        <p:nvPicPr>
          <p:cNvPr id="597" name="Google Shape;597;p61"/>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98" name="Google Shape;598;p61" title="ba5b5e27-b658-45e2-ae7c-35b0944a7487-removebg-preview.png"/>
          <p:cNvPicPr preferRelativeResize="0"/>
          <p:nvPr/>
        </p:nvPicPr>
        <p:blipFill>
          <a:blip r:embed="rId4">
            <a:alphaModFix/>
          </a:blip>
          <a:stretch>
            <a:fillRect/>
          </a:stretch>
        </p:blipFill>
        <p:spPr>
          <a:xfrm>
            <a:off x="6570100" y="854800"/>
            <a:ext cx="2018775" cy="2018775"/>
          </a:xfrm>
          <a:prstGeom prst="rect">
            <a:avLst/>
          </a:prstGeom>
          <a:noFill/>
          <a:ln>
            <a:noFill/>
          </a:ln>
        </p:spPr>
      </p:pic>
      <p:pic>
        <p:nvPicPr>
          <p:cNvPr id="599" name="Google Shape;599;p61"/>
          <p:cNvPicPr preferRelativeResize="0"/>
          <p:nvPr/>
        </p:nvPicPr>
        <p:blipFill rotWithShape="1">
          <a:blip r:embed="rId5">
            <a:alphaModFix/>
          </a:blip>
          <a:srcRect b="0" l="0" r="478" t="0"/>
          <a:stretch/>
        </p:blipFill>
        <p:spPr>
          <a:xfrm>
            <a:off x="519700" y="2240950"/>
            <a:ext cx="6704223" cy="2563525"/>
          </a:xfrm>
          <a:prstGeom prst="rect">
            <a:avLst/>
          </a:prstGeom>
          <a:noFill/>
          <a:ln>
            <a:noFill/>
          </a:ln>
        </p:spPr>
      </p:pic>
      <p:sp>
        <p:nvSpPr>
          <p:cNvPr id="600" name="Google Shape;600;p6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35</a:t>
            </a:r>
            <a:endParaRPr sz="2200">
              <a:solidFill>
                <a:schemeClr val="lt1"/>
              </a:solidFill>
              <a:latin typeface="Balthazar"/>
              <a:ea typeface="Balthazar"/>
              <a:cs typeface="Balthazar"/>
              <a:sym typeface="Balthaz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4" name="Shape 604"/>
        <p:cNvGrpSpPr/>
        <p:nvPr/>
      </p:nvGrpSpPr>
      <p:grpSpPr>
        <a:xfrm>
          <a:off x="0" y="0"/>
          <a:ext cx="0" cy="0"/>
          <a:chOff x="0" y="0"/>
          <a:chExt cx="0" cy="0"/>
        </a:xfrm>
      </p:grpSpPr>
      <p:sp>
        <p:nvSpPr>
          <p:cNvPr id="605" name="Google Shape;605;p6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06" name="Google Shape;606;p6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607" name="Google Shape;607;p6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Guard Design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608" name="Google Shape;608;p62"/>
          <p:cNvSpPr txBox="1"/>
          <p:nvPr/>
        </p:nvSpPr>
        <p:spPr>
          <a:xfrm>
            <a:off x="354775" y="977800"/>
            <a:ext cx="3537000" cy="5356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Protruding, concentric mesh </a:t>
            </a:r>
            <a:r>
              <a:rPr b="1" lang="en" sz="1600">
                <a:solidFill>
                  <a:schemeClr val="lt1"/>
                </a:solidFill>
                <a:latin typeface="Calibri"/>
                <a:ea typeface="Calibri"/>
                <a:cs typeface="Calibri"/>
                <a:sym typeface="Calibri"/>
              </a:rPr>
              <a:t>20</a:t>
            </a:r>
            <a:r>
              <a:rPr lang="en" sz="1600">
                <a:solidFill>
                  <a:schemeClr val="lt1"/>
                </a:solidFill>
                <a:latin typeface="Calibri"/>
                <a:ea typeface="Calibri"/>
                <a:cs typeface="Calibri"/>
                <a:sym typeface="Calibri"/>
              </a:rPr>
              <a:t> mm from motor with IP-</a:t>
            </a:r>
            <a:r>
              <a:rPr b="1" lang="en" sz="1600">
                <a:solidFill>
                  <a:schemeClr val="lt1"/>
                </a:solidFill>
                <a:latin typeface="Calibri"/>
                <a:ea typeface="Calibri"/>
                <a:cs typeface="Calibri"/>
                <a:sym typeface="Calibri"/>
              </a:rPr>
              <a:t>20</a:t>
            </a:r>
            <a:r>
              <a:rPr lang="en"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Mesh will be made out of HDPE.</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HDPE is compatible with Diamond Dynamics Thruster guard shroud.</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Mesh has a high tolerance.</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609" name="Google Shape;609;p62"/>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610" name="Google Shape;610;p6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10</a:t>
            </a:r>
            <a:endParaRPr sz="2200">
              <a:solidFill>
                <a:srgbClr val="FFFFFF"/>
              </a:solidFill>
              <a:latin typeface="Balthazar"/>
              <a:ea typeface="Balthazar"/>
              <a:cs typeface="Balthazar"/>
              <a:sym typeface="Balthazar"/>
            </a:endParaRPr>
          </a:p>
        </p:txBody>
      </p:sp>
      <p:pic>
        <p:nvPicPr>
          <p:cNvPr id="611" name="Google Shape;611;p62" title="Screenshot 2025-12-02 at 1.20.28 PM.png"/>
          <p:cNvPicPr preferRelativeResize="0"/>
          <p:nvPr/>
        </p:nvPicPr>
        <p:blipFill>
          <a:blip r:embed="rId4">
            <a:alphaModFix/>
          </a:blip>
          <a:stretch>
            <a:fillRect/>
          </a:stretch>
        </p:blipFill>
        <p:spPr>
          <a:xfrm>
            <a:off x="3811056" y="2912575"/>
            <a:ext cx="4947333" cy="1555700"/>
          </a:xfrm>
          <a:prstGeom prst="rect">
            <a:avLst/>
          </a:prstGeom>
          <a:noFill/>
          <a:ln>
            <a:noFill/>
          </a:ln>
        </p:spPr>
      </p:pic>
      <p:pic>
        <p:nvPicPr>
          <p:cNvPr id="612" name="Google Shape;612;p62" title="Screenshot 2025-12-02 at 1.28.58 PM.png"/>
          <p:cNvPicPr preferRelativeResize="0"/>
          <p:nvPr/>
        </p:nvPicPr>
        <p:blipFill rotWithShape="1">
          <a:blip r:embed="rId5">
            <a:alphaModFix/>
          </a:blip>
          <a:srcRect b="2686" l="0" r="0" t="0"/>
          <a:stretch/>
        </p:blipFill>
        <p:spPr>
          <a:xfrm>
            <a:off x="3827200" y="1017750"/>
            <a:ext cx="4915049" cy="1513875"/>
          </a:xfrm>
          <a:prstGeom prst="rect">
            <a:avLst/>
          </a:prstGeom>
          <a:noFill/>
          <a:ln>
            <a:noFill/>
          </a:ln>
        </p:spPr>
      </p:pic>
      <p:sp>
        <p:nvSpPr>
          <p:cNvPr id="613" name="Google Shape;613;p62"/>
          <p:cNvSpPr txBox="1"/>
          <p:nvPr/>
        </p:nvSpPr>
        <p:spPr>
          <a:xfrm>
            <a:off x="4163263" y="2527663"/>
            <a:ext cx="42429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chemeClr val="lt1"/>
                </a:solidFill>
              </a:rPr>
              <a:t>Thruster Guard Mesh Material Selection</a:t>
            </a:r>
            <a:endParaRPr/>
          </a:p>
        </p:txBody>
      </p:sp>
      <p:sp>
        <p:nvSpPr>
          <p:cNvPr id="614" name="Google Shape;614;p62"/>
          <p:cNvSpPr txBox="1"/>
          <p:nvPr/>
        </p:nvSpPr>
        <p:spPr>
          <a:xfrm>
            <a:off x="4277576" y="4468275"/>
            <a:ext cx="4014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i="1" lang="en" sz="1300">
                <a:solidFill>
                  <a:schemeClr val="lt1"/>
                </a:solidFill>
              </a:rPr>
              <a:t>Thruster Guard Mesh Design Considerations</a:t>
            </a:r>
            <a:r>
              <a:rPr lang="en" sz="1300">
                <a:solidFill>
                  <a:schemeClr val="lt1"/>
                </a:solidFill>
              </a:rPr>
              <a:t>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