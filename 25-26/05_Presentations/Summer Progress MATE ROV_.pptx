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lay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Reflecting over how effective were this tasks, what we need to improve, what changes we need to make, and how we will implement them</a:t>
            </a:r>
            <a:endParaRPr/>
          </a:p>
        </p:txBody>
      </p:sp>
      <p:sp>
        <p:nvSpPr>
          <p:cNvPr id="225" name="Google Shape;2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8265140b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From the week of 25th, subteams were expected to have weekly meetings with their peers to work on research or assigned tasks.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  <p:sp>
        <p:nvSpPr>
          <p:cNvPr id="231" name="Google Shape;231;g378265140bd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8265140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78265140b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8265140b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(top): Image of a basic KiCAD schematic for an LED circuit, created for the purpose of learning how to use KiCAD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(bottom): Image of a completed PCB used by another ROV</a:t>
            </a:r>
            <a:endParaRPr/>
          </a:p>
        </p:txBody>
      </p:sp>
      <p:sp>
        <p:nvSpPr>
          <p:cNvPr id="254" name="Google Shape;254;g378265140bd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78265140b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78265140bd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44c06f0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g3744c06f0c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744c06f0c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3744c06f0c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78265140b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g378265140bd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8265140b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378265140bd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8265140b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Software Stack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Architecture: Switched from LabVIEW to Python.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Operating System: Selected BlueOS for the main computer.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Testing: Successfully installed and tested BlueOS on a Raspberry Pi 3B.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Hardware Research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SBC: Researched Arduino, Raspberry Pi, and NVIDIA Jetson. The Raspberry Pi 4B is the top choice.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Flight Controller: The Blue Robotics Navigator is the recommended option.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Cameras: A multi-camera system (2-3 cameras) is planned for navigation and manipulation.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Sensors: Core sensors identified include an IMU, magnetometer, and pressure sensor.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378265140bd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8265140b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378265140bd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8265140b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Solidworks 2024 Essential Training is a 9 hour course that teaches you the basics of solidworks without going into specifics like FEA or CFD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Introduction to Ansys Fluent teaches you the basics of the software </a:t>
            </a:r>
            <a:endParaRPr/>
          </a:p>
        </p:txBody>
      </p:sp>
      <p:sp>
        <p:nvSpPr>
          <p:cNvPr id="313" name="Google Shape;313;g378265140bd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8265140b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g378265140bd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8265140b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g378265140bd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634adaa7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7634adaa74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a81e0292a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7a81e0292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364" name="Google Shape;3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"/>
          <p:cNvGrpSpPr/>
          <p:nvPr/>
        </p:nvGrpSpPr>
        <p:grpSpPr>
          <a:xfrm>
            <a:off x="-161903" y="-167749"/>
            <a:ext cx="6786369" cy="7140871"/>
            <a:chOff x="-161903" y="-167749"/>
            <a:chExt cx="6786369" cy="7140871"/>
          </a:xfrm>
        </p:grpSpPr>
        <p:sp>
          <p:nvSpPr>
            <p:cNvPr id="13" name="Google Shape;13;p2"/>
            <p:cNvSpPr/>
            <p:nvPr/>
          </p:nvSpPr>
          <p:spPr>
            <a:xfrm>
              <a:off x="-161903" y="-167749"/>
              <a:ext cx="6736299" cy="7025749"/>
            </a:xfrm>
            <a:prstGeom prst="rtTriangle">
              <a:avLst/>
            </a:pr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111833" y="-52627"/>
              <a:ext cx="6736299" cy="7025749"/>
            </a:xfrm>
            <a:custGeom>
              <a:rect b="b" l="l" r="r" t="t"/>
              <a:pathLst>
                <a:path extrusionOk="0" h="7025749" w="6736299">
                  <a:moveTo>
                    <a:pt x="0" y="0"/>
                  </a:moveTo>
                  <a:cubicBezTo>
                    <a:pt x="789958" y="66332"/>
                    <a:pt x="1579917" y="132664"/>
                    <a:pt x="2065623" y="480224"/>
                  </a:cubicBezTo>
                  <a:cubicBezTo>
                    <a:pt x="2551330" y="827784"/>
                    <a:pt x="2454846" y="1702713"/>
                    <a:pt x="2914239" y="2085358"/>
                  </a:cubicBezTo>
                  <a:cubicBezTo>
                    <a:pt x="3373632" y="2468003"/>
                    <a:pt x="4477710" y="2356170"/>
                    <a:pt x="4821980" y="2776092"/>
                  </a:cubicBezTo>
                  <a:cubicBezTo>
                    <a:pt x="5166250" y="3196014"/>
                    <a:pt x="4801148" y="4123571"/>
                    <a:pt x="4979862" y="4604892"/>
                  </a:cubicBezTo>
                  <a:cubicBezTo>
                    <a:pt x="5158576" y="5086213"/>
                    <a:pt x="5601523" y="5260541"/>
                    <a:pt x="5894262" y="5664017"/>
                  </a:cubicBezTo>
                  <a:cubicBezTo>
                    <a:pt x="6187001" y="6067493"/>
                    <a:pt x="6589381" y="6796601"/>
                    <a:pt x="6736299" y="7025749"/>
                  </a:cubicBezTo>
                </a:path>
              </a:pathLst>
            </a:cu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-1552506" y="1270690"/>
            <a:ext cx="15025287" cy="5702432"/>
            <a:chOff x="-1028062" y="1775602"/>
            <a:chExt cx="14500843" cy="5255670"/>
          </a:xfrm>
        </p:grpSpPr>
        <p:sp>
          <p:nvSpPr>
            <p:cNvPr id="16" name="Google Shape;16;p2"/>
            <p:cNvSpPr/>
            <p:nvPr/>
          </p:nvSpPr>
          <p:spPr>
            <a:xfrm>
              <a:off x="-1028062" y="1775602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875662" y="18930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23262" y="20454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570862" y="21978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418462" y="23502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266062" y="25026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15671" y="26771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6729" y="28295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9129" y="29819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2"/>
          <p:cNvSpPr txBox="1"/>
          <p:nvPr>
            <p:ph type="ctrTitle"/>
          </p:nvPr>
        </p:nvSpPr>
        <p:spPr>
          <a:xfrm>
            <a:off x="208317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208317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2"/>
          <p:cNvSpPr txBox="1"/>
          <p:nvPr>
            <p:ph idx="10" type="dt"/>
          </p:nvPr>
        </p:nvSpPr>
        <p:spPr>
          <a:xfrm>
            <a:off x="-92098" y="63563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1" type="ftr"/>
          </p:nvPr>
        </p:nvSpPr>
        <p:spPr>
          <a:xfrm>
            <a:off x="5237517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2" type="sldNum"/>
          </p:nvPr>
        </p:nvSpPr>
        <p:spPr>
          <a:xfrm>
            <a:off x="935231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2"/>
          <p:cNvCxnSpPr/>
          <p:nvPr/>
        </p:nvCxnSpPr>
        <p:spPr>
          <a:xfrm>
            <a:off x="306993" y="4052305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5" name="Google Shape;35;p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6" name="Google Shape;36;p3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40" name="Google Shape;40;p3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-177799" y="-109041"/>
            <a:ext cx="9175240" cy="7125395"/>
          </a:xfrm>
          <a:custGeom>
            <a:rect b="b" l="l" r="r" t="t"/>
            <a:pathLst>
              <a:path extrusionOk="0" h="7125395" w="9175240">
                <a:moveTo>
                  <a:pt x="165100" y="39191"/>
                </a:moveTo>
                <a:cubicBezTo>
                  <a:pt x="318558" y="1620"/>
                  <a:pt x="472017" y="-35951"/>
                  <a:pt x="838200" y="64591"/>
                </a:cubicBezTo>
                <a:cubicBezTo>
                  <a:pt x="1204383" y="165133"/>
                  <a:pt x="1951567" y="157724"/>
                  <a:pt x="2362200" y="642441"/>
                </a:cubicBezTo>
                <a:cubicBezTo>
                  <a:pt x="2772833" y="1127158"/>
                  <a:pt x="2586567" y="2382341"/>
                  <a:pt x="3302000" y="2972891"/>
                </a:cubicBezTo>
                <a:cubicBezTo>
                  <a:pt x="4017433" y="3563441"/>
                  <a:pt x="5977467" y="3719016"/>
                  <a:pt x="6654800" y="4185741"/>
                </a:cubicBezTo>
                <a:cubicBezTo>
                  <a:pt x="7332133" y="4652466"/>
                  <a:pt x="6946900" y="5306516"/>
                  <a:pt x="7366000" y="5773241"/>
                </a:cubicBezTo>
                <a:cubicBezTo>
                  <a:pt x="7785100" y="6239966"/>
                  <a:pt x="8897408" y="6775483"/>
                  <a:pt x="9169400" y="6986091"/>
                </a:cubicBezTo>
                <a:cubicBezTo>
                  <a:pt x="9441392" y="7196699"/>
                  <a:pt x="123296" y="7110445"/>
                  <a:pt x="0" y="7094041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" name="Google Shape;55;p4"/>
          <p:cNvGrpSpPr/>
          <p:nvPr/>
        </p:nvGrpSpPr>
        <p:grpSpPr>
          <a:xfrm>
            <a:off x="8185150" y="-762001"/>
            <a:ext cx="4876800" cy="8997555"/>
            <a:chOff x="8185150" y="-762001"/>
            <a:chExt cx="4876800" cy="8997555"/>
          </a:xfrm>
        </p:grpSpPr>
        <p:sp>
          <p:nvSpPr>
            <p:cNvPr id="56" name="Google Shape;56;p4"/>
            <p:cNvSpPr/>
            <p:nvPr/>
          </p:nvSpPr>
          <p:spPr>
            <a:xfrm>
              <a:off x="8185150" y="-7620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8337550" y="-6096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489950" y="-4572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642350" y="-3048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794750" y="-1524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8947150" y="-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9115662" y="1523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9268062" y="3047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9420462" y="4571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5" name="Google Shape;65;p4"/>
          <p:cNvCxnSpPr/>
          <p:nvPr/>
        </p:nvCxnSpPr>
        <p:spPr>
          <a:xfrm>
            <a:off x="948343" y="1353555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5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69" name="Google Shape;69;p5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-304800" y="488951"/>
            <a:ext cx="7928762" cy="6507786"/>
          </a:xfrm>
          <a:custGeom>
            <a:rect b="b" l="l" r="r" t="t"/>
            <a:pathLst>
              <a:path extrusionOk="0" h="6507786" w="7928762">
                <a:moveTo>
                  <a:pt x="158750" y="0"/>
                </a:moveTo>
                <a:cubicBezTo>
                  <a:pt x="861483" y="268816"/>
                  <a:pt x="1564217" y="537633"/>
                  <a:pt x="1905000" y="1003300"/>
                </a:cubicBezTo>
                <a:cubicBezTo>
                  <a:pt x="2245783" y="1468967"/>
                  <a:pt x="1994958" y="2437342"/>
                  <a:pt x="2203450" y="2794000"/>
                </a:cubicBezTo>
                <a:cubicBezTo>
                  <a:pt x="2411942" y="3150658"/>
                  <a:pt x="2684992" y="2909358"/>
                  <a:pt x="3155950" y="3143250"/>
                </a:cubicBezTo>
                <a:cubicBezTo>
                  <a:pt x="3626908" y="3377142"/>
                  <a:pt x="4639733" y="3816350"/>
                  <a:pt x="5029200" y="4197350"/>
                </a:cubicBezTo>
                <a:cubicBezTo>
                  <a:pt x="5418667" y="4578350"/>
                  <a:pt x="5012267" y="5064125"/>
                  <a:pt x="5492750" y="5429250"/>
                </a:cubicBezTo>
                <a:cubicBezTo>
                  <a:pt x="5973233" y="5794375"/>
                  <a:pt x="7477125" y="6224058"/>
                  <a:pt x="7912100" y="6388100"/>
                </a:cubicBezTo>
                <a:cubicBezTo>
                  <a:pt x="8347075" y="6552142"/>
                  <a:pt x="122237" y="6520921"/>
                  <a:pt x="0" y="6451600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928817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6"/>
          <p:cNvSpPr/>
          <p:nvPr/>
        </p:nvSpPr>
        <p:spPr>
          <a:xfrm rot="-242220">
            <a:off x="163285" y="38916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 rot="-242220">
            <a:off x="315685" y="40440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 rot="-242220">
            <a:off x="468085" y="41964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 rot="-242220">
            <a:off x="620485" y="43488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 rot="-242220">
            <a:off x="772885" y="45012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 rot="-242220">
            <a:off x="925285" y="46536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 rot="-242220">
            <a:off x="1077685" y="48060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>
            <a:off x="948343" y="5063783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TT_layout_blank">
  <p:cSld name="1_TTT_layout_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7"/>
          <p:cNvGrpSpPr/>
          <p:nvPr/>
        </p:nvGrpSpPr>
        <p:grpSpPr>
          <a:xfrm>
            <a:off x="-161903" y="-167749"/>
            <a:ext cx="6786369" cy="7140871"/>
            <a:chOff x="-161903" y="-167749"/>
            <a:chExt cx="6786369" cy="7140871"/>
          </a:xfrm>
        </p:grpSpPr>
        <p:sp>
          <p:nvSpPr>
            <p:cNvPr id="98" name="Google Shape;98;p7"/>
            <p:cNvSpPr/>
            <p:nvPr/>
          </p:nvSpPr>
          <p:spPr>
            <a:xfrm>
              <a:off x="-161903" y="-167749"/>
              <a:ext cx="6736299" cy="7025749"/>
            </a:xfrm>
            <a:prstGeom prst="rtTriangle">
              <a:avLst/>
            </a:pr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-111833" y="-52627"/>
              <a:ext cx="6736299" cy="7025749"/>
            </a:xfrm>
            <a:custGeom>
              <a:rect b="b" l="l" r="r" t="t"/>
              <a:pathLst>
                <a:path extrusionOk="0" h="7025749" w="6736299">
                  <a:moveTo>
                    <a:pt x="0" y="0"/>
                  </a:moveTo>
                  <a:cubicBezTo>
                    <a:pt x="789958" y="66332"/>
                    <a:pt x="1579917" y="132664"/>
                    <a:pt x="2065623" y="480224"/>
                  </a:cubicBezTo>
                  <a:cubicBezTo>
                    <a:pt x="2551330" y="827784"/>
                    <a:pt x="2454846" y="1702713"/>
                    <a:pt x="2914239" y="2085358"/>
                  </a:cubicBezTo>
                  <a:cubicBezTo>
                    <a:pt x="3373632" y="2468003"/>
                    <a:pt x="4477710" y="2356170"/>
                    <a:pt x="4821980" y="2776092"/>
                  </a:cubicBezTo>
                  <a:cubicBezTo>
                    <a:pt x="5166250" y="3196014"/>
                    <a:pt x="4801148" y="4123571"/>
                    <a:pt x="4979862" y="4604892"/>
                  </a:cubicBezTo>
                  <a:cubicBezTo>
                    <a:pt x="5158576" y="5086213"/>
                    <a:pt x="5601523" y="5260541"/>
                    <a:pt x="5894262" y="5664017"/>
                  </a:cubicBezTo>
                  <a:cubicBezTo>
                    <a:pt x="6187001" y="6067493"/>
                    <a:pt x="6589381" y="6796601"/>
                    <a:pt x="6736299" y="7025749"/>
                  </a:cubicBezTo>
                </a:path>
              </a:pathLst>
            </a:cu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-1552506" y="1270690"/>
            <a:ext cx="15025287" cy="5702432"/>
            <a:chOff x="-1028062" y="1775602"/>
            <a:chExt cx="14500843" cy="5255670"/>
          </a:xfrm>
        </p:grpSpPr>
        <p:sp>
          <p:nvSpPr>
            <p:cNvPr id="101" name="Google Shape;101;p7"/>
            <p:cNvSpPr/>
            <p:nvPr/>
          </p:nvSpPr>
          <p:spPr>
            <a:xfrm>
              <a:off x="-1028062" y="1775602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-875662" y="18930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7"/>
            <p:cNvSpPr/>
            <p:nvPr/>
          </p:nvSpPr>
          <p:spPr>
            <a:xfrm>
              <a:off x="-723262" y="20454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-570862" y="21978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-418462" y="23502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-266062" y="25026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-115671" y="26771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36729" y="28295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189129" y="29819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-177799" y="-109041"/>
            <a:ext cx="9175240" cy="7125395"/>
          </a:xfrm>
          <a:custGeom>
            <a:rect b="b" l="l" r="r" t="t"/>
            <a:pathLst>
              <a:path extrusionOk="0" h="7125395" w="9175240">
                <a:moveTo>
                  <a:pt x="165100" y="39191"/>
                </a:moveTo>
                <a:cubicBezTo>
                  <a:pt x="318558" y="1620"/>
                  <a:pt x="472017" y="-35951"/>
                  <a:pt x="838200" y="64591"/>
                </a:cubicBezTo>
                <a:cubicBezTo>
                  <a:pt x="1204383" y="165133"/>
                  <a:pt x="1951567" y="157724"/>
                  <a:pt x="2362200" y="642441"/>
                </a:cubicBezTo>
                <a:cubicBezTo>
                  <a:pt x="2772833" y="1127158"/>
                  <a:pt x="2586567" y="2382341"/>
                  <a:pt x="3302000" y="2972891"/>
                </a:cubicBezTo>
                <a:cubicBezTo>
                  <a:pt x="4017433" y="3563441"/>
                  <a:pt x="5977467" y="3719016"/>
                  <a:pt x="6654800" y="4185741"/>
                </a:cubicBezTo>
                <a:cubicBezTo>
                  <a:pt x="7332133" y="4652466"/>
                  <a:pt x="6946900" y="5306516"/>
                  <a:pt x="7366000" y="5773241"/>
                </a:cubicBezTo>
                <a:cubicBezTo>
                  <a:pt x="7785100" y="6239966"/>
                  <a:pt x="8897408" y="6775483"/>
                  <a:pt x="9169400" y="6986091"/>
                </a:cubicBezTo>
                <a:cubicBezTo>
                  <a:pt x="9441392" y="7196699"/>
                  <a:pt x="123296" y="7110445"/>
                  <a:pt x="0" y="7094041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8"/>
          <p:cNvGrpSpPr/>
          <p:nvPr/>
        </p:nvGrpSpPr>
        <p:grpSpPr>
          <a:xfrm>
            <a:off x="8185150" y="-762001"/>
            <a:ext cx="4876800" cy="8997555"/>
            <a:chOff x="8185150" y="-762001"/>
            <a:chExt cx="4876800" cy="8997555"/>
          </a:xfrm>
        </p:grpSpPr>
        <p:sp>
          <p:nvSpPr>
            <p:cNvPr id="113" name="Google Shape;113;p8"/>
            <p:cNvSpPr/>
            <p:nvPr/>
          </p:nvSpPr>
          <p:spPr>
            <a:xfrm>
              <a:off x="8185150" y="-7620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8337550" y="-6096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8489950" y="-4572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8642350" y="-3048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8794750" y="-1524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8947150" y="-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9115662" y="1523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9268062" y="3047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9420462" y="4571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8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8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8" name="Google Shape;128;p8"/>
          <p:cNvCxnSpPr/>
          <p:nvPr/>
        </p:nvCxnSpPr>
        <p:spPr>
          <a:xfrm>
            <a:off x="948343" y="1353555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-177799" y="-109041"/>
            <a:ext cx="9175240" cy="7125395"/>
          </a:xfrm>
          <a:custGeom>
            <a:rect b="b" l="l" r="r" t="t"/>
            <a:pathLst>
              <a:path extrusionOk="0" h="7125395" w="9175240">
                <a:moveTo>
                  <a:pt x="165100" y="39191"/>
                </a:moveTo>
                <a:cubicBezTo>
                  <a:pt x="318558" y="1620"/>
                  <a:pt x="472017" y="-35951"/>
                  <a:pt x="838200" y="64591"/>
                </a:cubicBezTo>
                <a:cubicBezTo>
                  <a:pt x="1204383" y="165133"/>
                  <a:pt x="1951567" y="157724"/>
                  <a:pt x="2362200" y="642441"/>
                </a:cubicBezTo>
                <a:cubicBezTo>
                  <a:pt x="2772833" y="1127158"/>
                  <a:pt x="2586567" y="2382341"/>
                  <a:pt x="3302000" y="2972891"/>
                </a:cubicBezTo>
                <a:cubicBezTo>
                  <a:pt x="4017433" y="3563441"/>
                  <a:pt x="5977467" y="3719016"/>
                  <a:pt x="6654800" y="4185741"/>
                </a:cubicBezTo>
                <a:cubicBezTo>
                  <a:pt x="7332133" y="4652466"/>
                  <a:pt x="6946900" y="5306516"/>
                  <a:pt x="7366000" y="5773241"/>
                </a:cubicBezTo>
                <a:cubicBezTo>
                  <a:pt x="7785100" y="6239966"/>
                  <a:pt x="8897408" y="6775483"/>
                  <a:pt x="9169400" y="6986091"/>
                </a:cubicBezTo>
                <a:cubicBezTo>
                  <a:pt x="9441392" y="7196699"/>
                  <a:pt x="123296" y="7110445"/>
                  <a:pt x="0" y="7094041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9"/>
          <p:cNvGrpSpPr/>
          <p:nvPr/>
        </p:nvGrpSpPr>
        <p:grpSpPr>
          <a:xfrm>
            <a:off x="8185150" y="-762001"/>
            <a:ext cx="4876800" cy="8997555"/>
            <a:chOff x="8185150" y="-762001"/>
            <a:chExt cx="4876800" cy="8997555"/>
          </a:xfrm>
        </p:grpSpPr>
        <p:sp>
          <p:nvSpPr>
            <p:cNvPr id="132" name="Google Shape;132;p9"/>
            <p:cNvSpPr/>
            <p:nvPr/>
          </p:nvSpPr>
          <p:spPr>
            <a:xfrm>
              <a:off x="8185150" y="-7620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8337550" y="-6096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8489950" y="-4572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8642350" y="-3048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8794750" y="-1524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8947150" y="-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9115662" y="1523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9268062" y="3047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9420462" y="4571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3" name="Google Shape;1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9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9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9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0"/>
          <p:cNvGrpSpPr/>
          <p:nvPr/>
        </p:nvGrpSpPr>
        <p:grpSpPr>
          <a:xfrm>
            <a:off x="-161903" y="-167749"/>
            <a:ext cx="6786369" cy="7140871"/>
            <a:chOff x="-161903" y="-167749"/>
            <a:chExt cx="6786369" cy="7140871"/>
          </a:xfrm>
        </p:grpSpPr>
        <p:sp>
          <p:nvSpPr>
            <p:cNvPr id="151" name="Google Shape;151;p10"/>
            <p:cNvSpPr/>
            <p:nvPr/>
          </p:nvSpPr>
          <p:spPr>
            <a:xfrm>
              <a:off x="-161903" y="-167749"/>
              <a:ext cx="6736299" cy="7025749"/>
            </a:xfrm>
            <a:prstGeom prst="rtTriangle">
              <a:avLst/>
            </a:pr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0"/>
            <p:cNvSpPr/>
            <p:nvPr/>
          </p:nvSpPr>
          <p:spPr>
            <a:xfrm>
              <a:off x="-111833" y="-52627"/>
              <a:ext cx="6736299" cy="7025749"/>
            </a:xfrm>
            <a:custGeom>
              <a:rect b="b" l="l" r="r" t="t"/>
              <a:pathLst>
                <a:path extrusionOk="0" h="7025749" w="6736299">
                  <a:moveTo>
                    <a:pt x="0" y="0"/>
                  </a:moveTo>
                  <a:cubicBezTo>
                    <a:pt x="789958" y="66332"/>
                    <a:pt x="1579917" y="132664"/>
                    <a:pt x="2065623" y="480224"/>
                  </a:cubicBezTo>
                  <a:cubicBezTo>
                    <a:pt x="2551330" y="827784"/>
                    <a:pt x="2454846" y="1702713"/>
                    <a:pt x="2914239" y="2085358"/>
                  </a:cubicBezTo>
                  <a:cubicBezTo>
                    <a:pt x="3373632" y="2468003"/>
                    <a:pt x="4477710" y="2356170"/>
                    <a:pt x="4821980" y="2776092"/>
                  </a:cubicBezTo>
                  <a:cubicBezTo>
                    <a:pt x="5166250" y="3196014"/>
                    <a:pt x="4801148" y="4123571"/>
                    <a:pt x="4979862" y="4604892"/>
                  </a:cubicBezTo>
                  <a:cubicBezTo>
                    <a:pt x="5158576" y="5086213"/>
                    <a:pt x="5601523" y="5260541"/>
                    <a:pt x="5894262" y="5664017"/>
                  </a:cubicBezTo>
                  <a:cubicBezTo>
                    <a:pt x="6187001" y="6067493"/>
                    <a:pt x="6589381" y="6796601"/>
                    <a:pt x="6736299" y="7025749"/>
                  </a:cubicBezTo>
                </a:path>
              </a:pathLst>
            </a:cu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10"/>
          <p:cNvGrpSpPr/>
          <p:nvPr/>
        </p:nvGrpSpPr>
        <p:grpSpPr>
          <a:xfrm>
            <a:off x="-1552506" y="1328840"/>
            <a:ext cx="15025287" cy="5702432"/>
            <a:chOff x="-1028062" y="1775602"/>
            <a:chExt cx="14500843" cy="5255670"/>
          </a:xfrm>
        </p:grpSpPr>
        <p:sp>
          <p:nvSpPr>
            <p:cNvPr id="154" name="Google Shape;154;p10"/>
            <p:cNvSpPr/>
            <p:nvPr/>
          </p:nvSpPr>
          <p:spPr>
            <a:xfrm>
              <a:off x="-1028062" y="1775602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-875662" y="18930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0"/>
            <p:cNvSpPr/>
            <p:nvPr/>
          </p:nvSpPr>
          <p:spPr>
            <a:xfrm>
              <a:off x="-723262" y="20454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0"/>
            <p:cNvSpPr/>
            <p:nvPr/>
          </p:nvSpPr>
          <p:spPr>
            <a:xfrm>
              <a:off x="-570862" y="21978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0"/>
            <p:cNvSpPr/>
            <p:nvPr/>
          </p:nvSpPr>
          <p:spPr>
            <a:xfrm>
              <a:off x="-418462" y="23502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0"/>
            <p:cNvSpPr/>
            <p:nvPr/>
          </p:nvSpPr>
          <p:spPr>
            <a:xfrm>
              <a:off x="-266062" y="25026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-115671" y="26771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36729" y="28295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0"/>
            <p:cNvSpPr/>
            <p:nvPr/>
          </p:nvSpPr>
          <p:spPr>
            <a:xfrm>
              <a:off x="189129" y="29819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0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0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11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169" name="Google Shape;169;p11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0" name="Google Shape;180;p11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1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1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12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186" name="Google Shape;186;p12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2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13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202" name="Google Shape;202;p13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C2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presentation/d/1mEEtwJk5H_J54g_6_oBVKTzxP9rWNEi9pmoKbwa9syY/edit?slide=id.g36718e12757_0_5#slide=id.g36718e12757_0_5" TargetMode="External"/><Relationship Id="rId4" Type="http://schemas.openxmlformats.org/officeDocument/2006/relationships/hyperlink" Target="https://docs.google.com/spreadsheets/d/1JF6UBcYgKU9pV3GLEVTwKg3vcEIHs_3r3b77TJNh8W0/edit?gid=0#gid=0" TargetMode="External"/><Relationship Id="rId5" Type="http://schemas.openxmlformats.org/officeDocument/2006/relationships/hyperlink" Target="https://www.canva.com/design/DAGux2aoSIM/DCZV5TolSOhoMDXiNapw9w/edit" TargetMode="External"/><Relationship Id="rId6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spreadsheets/d/1JF6UBcYgKU9pV3GLEVTwKg3vcEIHs_3r3b77TJNh8W0/edit" TargetMode="External"/><Relationship Id="rId4" Type="http://schemas.openxmlformats.org/officeDocument/2006/relationships/hyperlink" Target="https://docs.google.com/spreadsheets/d/19EdeWCCkDyA0lSw4WXv6Jv_AmPkHYWJRYy4mXB8njL0/edit?gid=211352714#gid=211352714" TargetMode="External"/><Relationship Id="rId5" Type="http://schemas.openxmlformats.org/officeDocument/2006/relationships/hyperlink" Target="https://docs.google.com/spreadsheets/d/1JF6UBcYgKU9pV3GLEVTwKg3vcEIHs_3r3b77TJNh8W0/edi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remove.bg/" TargetMode="External"/><Relationship Id="rId4" Type="http://schemas.openxmlformats.org/officeDocument/2006/relationships/image" Target="../media/image12.jp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>
            <p:ph type="ctrTitle"/>
          </p:nvPr>
        </p:nvSpPr>
        <p:spPr>
          <a:xfrm>
            <a:off x="208317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MATE ROV </a:t>
            </a:r>
            <a:endParaRPr/>
          </a:p>
        </p:txBody>
      </p:sp>
      <p:sp>
        <p:nvSpPr>
          <p:cNvPr id="220" name="Google Shape;220;p14"/>
          <p:cNvSpPr txBox="1"/>
          <p:nvPr>
            <p:ph idx="1" type="subTitle"/>
          </p:nvPr>
        </p:nvSpPr>
        <p:spPr>
          <a:xfrm>
            <a:off x="208317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Oceanus 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90700" y="963670"/>
            <a:ext cx="1219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222" name="Google Shape;222;p14" title="IMG_35131-removebg-preview.png"/>
          <p:cNvPicPr preferRelativeResize="0"/>
          <p:nvPr/>
        </p:nvPicPr>
        <p:blipFill rotWithShape="1">
          <a:blip r:embed="rId3">
            <a:alphaModFix/>
          </a:blip>
          <a:srcRect b="25914" l="0" r="0" t="7587"/>
          <a:stretch/>
        </p:blipFill>
        <p:spPr>
          <a:xfrm>
            <a:off x="5289850" y="1350375"/>
            <a:ext cx="4724400" cy="318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Overview: Assigned Tasks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8" name="Google Shape;228;p15"/>
          <p:cNvSpPr txBox="1"/>
          <p:nvPr>
            <p:ph idx="1" type="body"/>
          </p:nvPr>
        </p:nvSpPr>
        <p:spPr>
          <a:xfrm>
            <a:off x="838200" y="1825625"/>
            <a:ext cx="964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Engineering Notebook for all subteams and whole team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Weekly general and sub team meetings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 FEDC membership and Red badge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Monthly Submission of work and why these were productive: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-"/>
            </a:pPr>
            <a:r>
              <a:rPr lang="en-US"/>
              <a:t>Needs 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-"/>
            </a:pPr>
            <a:r>
              <a:rPr lang="en-US"/>
              <a:t>Requirements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-"/>
            </a:pPr>
            <a:r>
              <a:rPr lang="en-US"/>
              <a:t>50 Ideas </a:t>
            </a:r>
            <a:r>
              <a:rPr lang="en-US"/>
              <a:t>Assignment</a:t>
            </a:r>
            <a:r>
              <a:rPr lang="en-US"/>
              <a:t> 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Overview: Timeline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4" name="Google Shape;234;p16"/>
          <p:cNvSpPr txBox="1"/>
          <p:nvPr>
            <p:ph idx="1" type="body"/>
          </p:nvPr>
        </p:nvSpPr>
        <p:spPr>
          <a:xfrm>
            <a:off x="838200" y="1825625"/>
            <a:ext cx="964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" name="Google Shape;235;p16"/>
          <p:cNvCxnSpPr/>
          <p:nvPr/>
        </p:nvCxnSpPr>
        <p:spPr>
          <a:xfrm>
            <a:off x="1008225" y="3887875"/>
            <a:ext cx="9643200" cy="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16"/>
          <p:cNvCxnSpPr/>
          <p:nvPr/>
        </p:nvCxnSpPr>
        <p:spPr>
          <a:xfrm rot="10800000">
            <a:off x="1531500" y="3278500"/>
            <a:ext cx="11400" cy="5781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16"/>
          <p:cNvSpPr txBox="1"/>
          <p:nvPr/>
        </p:nvSpPr>
        <p:spPr>
          <a:xfrm>
            <a:off x="726725" y="2405650"/>
            <a:ext cx="17685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576300" y="2097400"/>
            <a:ext cx="1921800" cy="118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900"/>
              <a:t>May 26th</a:t>
            </a:r>
            <a:endParaRPr b="1"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/>
              <a:t>First General Meeting </a:t>
            </a:r>
            <a:endParaRPr sz="1900"/>
          </a:p>
        </p:txBody>
      </p:sp>
      <p:cxnSp>
        <p:nvCxnSpPr>
          <p:cNvPr id="239" name="Google Shape;239;p16"/>
          <p:cNvCxnSpPr/>
          <p:nvPr/>
        </p:nvCxnSpPr>
        <p:spPr>
          <a:xfrm rot="10800000">
            <a:off x="3338925" y="3887875"/>
            <a:ext cx="11400" cy="5781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16"/>
          <p:cNvSpPr/>
          <p:nvPr/>
        </p:nvSpPr>
        <p:spPr>
          <a:xfrm>
            <a:off x="2383725" y="4497250"/>
            <a:ext cx="1921800" cy="118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900"/>
              <a:t>June 20th</a:t>
            </a:r>
            <a:endParaRPr b="1"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/>
              <a:t>Deadline for “Needs” </a:t>
            </a:r>
            <a:endParaRPr sz="1900"/>
          </a:p>
        </p:txBody>
      </p:sp>
      <p:cxnSp>
        <p:nvCxnSpPr>
          <p:cNvPr id="241" name="Google Shape;241;p16"/>
          <p:cNvCxnSpPr/>
          <p:nvPr/>
        </p:nvCxnSpPr>
        <p:spPr>
          <a:xfrm rot="10800000">
            <a:off x="5064438" y="3278488"/>
            <a:ext cx="11400" cy="5781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16"/>
          <p:cNvSpPr/>
          <p:nvPr/>
        </p:nvSpPr>
        <p:spPr>
          <a:xfrm>
            <a:off x="4178125" y="2198800"/>
            <a:ext cx="1988100" cy="118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900"/>
              <a:t>July 20th</a:t>
            </a:r>
            <a:endParaRPr b="1"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/>
              <a:t>Deadline for “Requirements”</a:t>
            </a:r>
            <a:endParaRPr sz="1900"/>
          </a:p>
        </p:txBody>
      </p:sp>
      <p:cxnSp>
        <p:nvCxnSpPr>
          <p:cNvPr id="243" name="Google Shape;243;p16"/>
          <p:cNvCxnSpPr/>
          <p:nvPr/>
        </p:nvCxnSpPr>
        <p:spPr>
          <a:xfrm rot="10800000">
            <a:off x="7073325" y="3887875"/>
            <a:ext cx="11400" cy="5781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16"/>
          <p:cNvSpPr/>
          <p:nvPr/>
        </p:nvSpPr>
        <p:spPr>
          <a:xfrm>
            <a:off x="6084975" y="4497250"/>
            <a:ext cx="1988100" cy="118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900"/>
              <a:t>August 20th</a:t>
            </a:r>
            <a:endParaRPr b="1" sz="19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/>
              <a:t>Deadline for “50 Ideas”</a:t>
            </a:r>
            <a:endParaRPr sz="1900"/>
          </a:p>
        </p:txBody>
      </p:sp>
      <p:cxnSp>
        <p:nvCxnSpPr>
          <p:cNvPr id="245" name="Google Shape;245;p16"/>
          <p:cNvCxnSpPr/>
          <p:nvPr/>
        </p:nvCxnSpPr>
        <p:spPr>
          <a:xfrm rot="10800000">
            <a:off x="9243475" y="3309763"/>
            <a:ext cx="11400" cy="5781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16"/>
          <p:cNvSpPr/>
          <p:nvPr/>
        </p:nvSpPr>
        <p:spPr>
          <a:xfrm>
            <a:off x="8255125" y="2097400"/>
            <a:ext cx="1988100" cy="118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Sept. 7th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Summer Progress Presentation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 txBox="1"/>
          <p:nvPr/>
        </p:nvSpPr>
        <p:spPr>
          <a:xfrm>
            <a:off x="720300" y="1664650"/>
            <a:ext cx="10751400" cy="2068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47625">
              <a:srgbClr val="FFFFFF">
                <a:alpha val="6588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FFFFF"/>
                </a:solidFill>
              </a:rPr>
              <a:t>Subteam Progress &amp; Experience </a:t>
            </a:r>
            <a:endParaRPr b="0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EPS: Progress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7" name="Google Shape;257;p18"/>
          <p:cNvSpPr txBox="1"/>
          <p:nvPr>
            <p:ph idx="1" type="body"/>
          </p:nvPr>
        </p:nvSpPr>
        <p:spPr>
          <a:xfrm>
            <a:off x="838200" y="1825625"/>
            <a:ext cx="7629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Used trade studies to select LT Spice and KiCAD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/>
              <a:t>Practiced with KiCAD PCB software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Identified critical power supply data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Developed basic requirements from fundamental needs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Brainstormed 50+ potential schematics and ideas</a:t>
            </a:r>
            <a:endParaRPr sz="2200"/>
          </a:p>
        </p:txBody>
      </p:sp>
      <p:pic>
        <p:nvPicPr>
          <p:cNvPr id="258" name="Google Shape;2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7492" y="858942"/>
            <a:ext cx="3574850" cy="2191725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9" name="Google Shape;25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7500" y="3726656"/>
            <a:ext cx="3574850" cy="2378893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EPS: Future Plans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5" name="Google Shape;265;p19"/>
          <p:cNvSpPr txBox="1"/>
          <p:nvPr>
            <p:ph idx="1" type="body"/>
          </p:nvPr>
        </p:nvSpPr>
        <p:spPr>
          <a:xfrm>
            <a:off x="838200" y="1825625"/>
            <a:ext cx="964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/>
              <a:t>Narrow down voltage and power draw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Settle on a standard color coding and system architecture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Gather data on other subsystems and their requirements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Design circuit systems based on ROV system </a:t>
            </a:r>
            <a:r>
              <a:rPr lang="en-US" sz="2200"/>
              <a:t>requirements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Print and develop PCBs for the ROV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Design and waterproof a housing for electronics</a:t>
            </a:r>
            <a:endParaRPr sz="2200"/>
          </a:p>
        </p:txBody>
      </p:sp>
      <p:pic>
        <p:nvPicPr>
          <p:cNvPr id="266" name="Google Shape;26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3277" y="786625"/>
            <a:ext cx="3108975" cy="31090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TMS: Progress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2" name="Google Shape;272;p20"/>
          <p:cNvSpPr txBox="1"/>
          <p:nvPr>
            <p:ph idx="1" type="body"/>
          </p:nvPr>
        </p:nvSpPr>
        <p:spPr>
          <a:xfrm>
            <a:off x="838200" y="1825625"/>
            <a:ext cx="964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2200"/>
              <a:t>Inspected the 2025 manual </a:t>
            </a:r>
            <a:endParaRPr sz="2200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2200"/>
              <a:t>Reviewed past technical reports </a:t>
            </a:r>
            <a:endParaRPr sz="2200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2200"/>
              <a:t>Derived project requirements from needs and manual</a:t>
            </a:r>
            <a:endParaRPr sz="2200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2200"/>
              <a:t>Brainstormed 50 potential </a:t>
            </a:r>
            <a:r>
              <a:rPr lang="en-US" sz="2200"/>
              <a:t>solutions</a:t>
            </a:r>
            <a:r>
              <a:rPr lang="en-US" sz="2200"/>
              <a:t> to the project requirements</a:t>
            </a:r>
            <a:endParaRPr sz="2200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2200"/>
              <a:t>Solidworks certifications</a:t>
            </a:r>
            <a:endParaRPr sz="22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8263" y="36511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TMS: Future Plans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 txBox="1"/>
          <p:nvPr>
            <p:ph idx="1" type="body"/>
          </p:nvPr>
        </p:nvSpPr>
        <p:spPr>
          <a:xfrm>
            <a:off x="838200" y="1825625"/>
            <a:ext cx="964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General/Scholarly Research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Decision Matrixes 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Develop Mass/Weight Estimates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Chassis design development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Prototyping</a:t>
            </a:r>
            <a:endParaRPr sz="2200"/>
          </a:p>
        </p:txBody>
      </p:sp>
      <p:pic>
        <p:nvPicPr>
          <p:cNvPr id="280" name="Google Shape;2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1875" y="1574075"/>
            <a:ext cx="5993776" cy="337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C&amp;C: Progress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6" name="Google Shape;286;p22"/>
          <p:cNvSpPr txBox="1"/>
          <p:nvPr>
            <p:ph idx="1" type="body"/>
          </p:nvPr>
        </p:nvSpPr>
        <p:spPr>
          <a:xfrm>
            <a:off x="12494750" y="365125"/>
            <a:ext cx="9643200" cy="53025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</a:rPr>
              <a:t>You’re presenting these slides in front of people</a:t>
            </a:r>
            <a:endParaRPr>
              <a:solidFill>
                <a:schemeClr val="dk1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not to use so many words on screen!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Instead, limit yourself to as little words as possible on the slide</a:t>
            </a:r>
            <a:endParaRPr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 speaking the most and practicing public speech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use speaker notes below to hide all your speaking words from the audience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Basically show how we had a productive summer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2"/>
          <p:cNvSpPr txBox="1"/>
          <p:nvPr>
            <p:ph idx="1" type="body"/>
          </p:nvPr>
        </p:nvSpPr>
        <p:spPr>
          <a:xfrm>
            <a:off x="838200" y="1825625"/>
            <a:ext cx="964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Gained a basic understanding of the different OS, processors, and motor controllers we could use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Researched different wiring diagram softwares for future reference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Collaborated with other subteams to better understand our roles and responsibilities</a:t>
            </a:r>
            <a:endParaRPr/>
          </a:p>
        </p:txBody>
      </p:sp>
      <p:sp>
        <p:nvSpPr>
          <p:cNvPr id="288" name="Google Shape;288;p22"/>
          <p:cNvSpPr txBox="1"/>
          <p:nvPr>
            <p:ph idx="1" type="body"/>
          </p:nvPr>
        </p:nvSpPr>
        <p:spPr>
          <a:xfrm>
            <a:off x="-9945950" y="777750"/>
            <a:ext cx="9643200" cy="53025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Extra things to talk about: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Mention looking at past teams when talking about the first 2 points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Go in more depth of what our roles and responsibilities are supposed to be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C&amp;C: Future Plans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4" name="Google Shape;294;p23"/>
          <p:cNvSpPr txBox="1"/>
          <p:nvPr>
            <p:ph idx="1" type="body"/>
          </p:nvPr>
        </p:nvSpPr>
        <p:spPr>
          <a:xfrm>
            <a:off x="838200" y="1842725"/>
            <a:ext cx="626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Work hands-on with motors and </a:t>
            </a:r>
            <a:r>
              <a:rPr lang="en-US"/>
              <a:t>microcontrollers</a:t>
            </a:r>
            <a:r>
              <a:rPr lang="en-US"/>
              <a:t> to build a more </a:t>
            </a:r>
            <a:r>
              <a:rPr lang="en-US"/>
              <a:t>in-depth</a:t>
            </a:r>
            <a:r>
              <a:rPr lang="en-US"/>
              <a:t> understanding of the ROV’s </a:t>
            </a:r>
            <a:r>
              <a:rPr lang="en-US"/>
              <a:t>systems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Create an in-depth and easy-to-read wiring diagram for our ROV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Develop a way of connecting the ROV to the C3 station</a:t>
            </a:r>
            <a:endParaRPr/>
          </a:p>
        </p:txBody>
      </p:sp>
      <p:sp>
        <p:nvSpPr>
          <p:cNvPr id="295" name="Google Shape;295;p23"/>
          <p:cNvSpPr txBox="1"/>
          <p:nvPr>
            <p:ph idx="1" type="body"/>
          </p:nvPr>
        </p:nvSpPr>
        <p:spPr>
          <a:xfrm>
            <a:off x="-9945950" y="777750"/>
            <a:ext cx="9643200" cy="53025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Extra t</a:t>
            </a:r>
            <a:r>
              <a:rPr lang="en-US">
                <a:solidFill>
                  <a:schemeClr val="dk1"/>
                </a:solidFill>
              </a:rPr>
              <a:t>hings to talk about: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Deciding what lights/camera we need to use on the ROV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Discuss how we found out that our subteam mostly works alongside other subteams so a lot of our jobs will be in collaboration with others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6" name="Google Shape;296;p23"/>
          <p:cNvSpPr txBox="1"/>
          <p:nvPr>
            <p:ph idx="1" type="body"/>
          </p:nvPr>
        </p:nvSpPr>
        <p:spPr>
          <a:xfrm>
            <a:off x="12494750" y="365125"/>
            <a:ext cx="9643200" cy="53025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</a:rPr>
              <a:t>You’re presenting these slides in front of people</a:t>
            </a:r>
            <a:endParaRPr>
              <a:solidFill>
                <a:schemeClr val="dk1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not to use so many words on screen!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chemeClr val="dk1"/>
                </a:solidFill>
              </a:rPr>
              <a:t>Instead, limit yourself to as little words as possible on the slide</a:t>
            </a:r>
            <a:endParaRPr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 speaking the most and practicing public speech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use speaker notes below to hide all your speaking words from the audience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Basically show how we had a productive summer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9550" y="2401563"/>
            <a:ext cx="3233525" cy="32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GNC: Progress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03" name="Google Shape;30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8425" y="4585549"/>
            <a:ext cx="2183725" cy="16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 txBox="1"/>
          <p:nvPr>
            <p:ph idx="1" type="body"/>
          </p:nvPr>
        </p:nvSpPr>
        <p:spPr>
          <a:xfrm>
            <a:off x="742250" y="1620425"/>
            <a:ext cx="10924800" cy="3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Looked through different programming environments for potential usage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Researched on potential camera systems, sensors, and types of flight controllers to be used from past </a:t>
            </a:r>
            <a:r>
              <a:rPr lang="en-US"/>
              <a:t>technical</a:t>
            </a:r>
            <a:r>
              <a:rPr lang="en-US"/>
              <a:t> reports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Requirements to be considered in terms of precision, motion, and control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Communicated with other subteams to better understand our role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GNC: Future Plans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0" name="Google Shape;310;p25"/>
          <p:cNvSpPr txBox="1"/>
          <p:nvPr>
            <p:ph idx="1" type="body"/>
          </p:nvPr>
        </p:nvSpPr>
        <p:spPr>
          <a:xfrm>
            <a:off x="838200" y="1825625"/>
            <a:ext cx="964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/>
              <a:t>Learn Blue OS. Most likely sticking to Raspberry Pi.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/>
              <a:t>Decide what components should be manually controlled vs. </a:t>
            </a:r>
            <a:r>
              <a:rPr lang="en-US"/>
              <a:t>autonomously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Work with C&amp;C and EPS to cause motion, write logic, and coordinate electrical needs.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Be as robust as possible, give C&amp;C a good toolbox for automation.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F&amp;P: Progress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6" name="Google Shape;316;p26"/>
          <p:cNvSpPr txBox="1"/>
          <p:nvPr>
            <p:ph idx="1" type="body"/>
          </p:nvPr>
        </p:nvSpPr>
        <p:spPr>
          <a:xfrm>
            <a:off x="838200" y="1757550"/>
            <a:ext cx="5275200" cy="47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Relevant Courses: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*Solidworks 2024 Essential Training - Linkedin Learning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*Introduction To Ansys Fluent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*Mesh Generation using Ansys fluent Watertight Workflow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*Ansys Physics Setup - Ansys Youtube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*Ansys Solution Setup - Ansys Youtube </a:t>
            </a:r>
            <a:endParaRPr sz="2300"/>
          </a:p>
        </p:txBody>
      </p:sp>
      <p:sp>
        <p:nvSpPr>
          <p:cNvPr id="317" name="Google Shape;317;p26"/>
          <p:cNvSpPr txBox="1"/>
          <p:nvPr/>
        </p:nvSpPr>
        <p:spPr>
          <a:xfrm>
            <a:off x="6421800" y="1690825"/>
            <a:ext cx="4932000" cy="50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</a:rPr>
              <a:t>Deliverables: 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u="sng">
                <a:solidFill>
                  <a:schemeClr val="hlink"/>
                </a:solidFill>
                <a:hlinkClick r:id="rId3"/>
              </a:rPr>
              <a:t> F&amp;P Subteam NB</a:t>
            </a:r>
            <a:r>
              <a:rPr lang="en-US" sz="2300">
                <a:solidFill>
                  <a:schemeClr val="lt1"/>
                </a:solidFill>
              </a:rPr>
              <a:t> 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u="sng">
                <a:solidFill>
                  <a:schemeClr val="hlink"/>
                </a:solidFill>
                <a:hlinkClick r:id="rId4"/>
              </a:rPr>
              <a:t>Needs and Requirements</a:t>
            </a:r>
            <a:r>
              <a:rPr lang="en-US" sz="2300">
                <a:solidFill>
                  <a:schemeClr val="lt1"/>
                </a:solidFill>
              </a:rPr>
              <a:t> 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u="sng">
                <a:solidFill>
                  <a:schemeClr val="hlink"/>
                </a:solidFill>
                <a:hlinkClick r:id="rId5"/>
              </a:rPr>
              <a:t>50 Ideas</a:t>
            </a:r>
            <a:r>
              <a:rPr lang="en-US" sz="2300">
                <a:solidFill>
                  <a:schemeClr val="lt1"/>
                </a:solidFill>
              </a:rPr>
              <a:t> </a:t>
            </a:r>
            <a:endParaRPr sz="2300">
              <a:solidFill>
                <a:schemeClr val="lt1"/>
              </a:solidFill>
            </a:endParaRPr>
          </a:p>
        </p:txBody>
      </p:sp>
      <p:pic>
        <p:nvPicPr>
          <p:cNvPr id="318" name="Google Shape;31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8148" y="4521625"/>
            <a:ext cx="3709524" cy="208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F&amp;P: Future Plans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4" name="Google Shape;324;p27"/>
          <p:cNvSpPr txBox="1"/>
          <p:nvPr>
            <p:ph idx="1" type="body"/>
          </p:nvPr>
        </p:nvSpPr>
        <p:spPr>
          <a:xfrm>
            <a:off x="746875" y="1785050"/>
            <a:ext cx="7895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Monte Carlo Simulations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Solidworks File Conversion to Ansys Fluent using Ansys Workbench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Fluid Dynamics Simulations through Ansys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Basic Fluid Mechanics and Equations though Ansys Learning</a:t>
            </a:r>
            <a:endParaRPr sz="2000"/>
          </a:p>
        </p:txBody>
      </p:sp>
      <p:pic>
        <p:nvPicPr>
          <p:cNvPr id="325" name="Google Shape;3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8430" y="2379400"/>
            <a:ext cx="3223143" cy="209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7"/>
          <p:cNvSpPr txBox="1"/>
          <p:nvPr>
            <p:ph idx="1" type="body"/>
          </p:nvPr>
        </p:nvSpPr>
        <p:spPr>
          <a:xfrm>
            <a:off x="746875" y="4663000"/>
            <a:ext cx="7895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Trade studies on Turbines, Brushed vs. Brushless Motors, Optimal Structural Architecture of ROV, </a:t>
            </a:r>
            <a:r>
              <a:rPr lang="en-US" sz="2000"/>
              <a:t>Propellers</a:t>
            </a:r>
            <a:r>
              <a:rPr lang="en-US" sz="2000"/>
              <a:t>, low power consumption design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Future </a:t>
            </a:r>
            <a:r>
              <a:rPr lang="en-US"/>
              <a:t>Competition </a:t>
            </a:r>
            <a:r>
              <a:rPr lang="en-US"/>
              <a:t>Work </a:t>
            </a:r>
            <a:endParaRPr/>
          </a:p>
        </p:txBody>
      </p:sp>
      <p:sp>
        <p:nvSpPr>
          <p:cNvPr id="332" name="Google Shape;332;p28"/>
          <p:cNvSpPr txBox="1"/>
          <p:nvPr>
            <p:ph idx="1" type="body"/>
          </p:nvPr>
        </p:nvSpPr>
        <p:spPr>
          <a:xfrm>
            <a:off x="838200" y="1825625"/>
            <a:ext cx="9270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Corporate Responsibility:</a:t>
            </a:r>
            <a:endParaRPr/>
          </a:p>
          <a:p>
            <a:pPr indent="-32702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Outreach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2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Community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2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Other MATE ROV teams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702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Documentation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2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Open-sourced coding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2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Public CAD Files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Marketing:</a:t>
            </a:r>
            <a:endParaRPr/>
          </a:p>
          <a:p>
            <a:pPr indent="-32702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Set up an Instagram account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702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Creating an identity for the team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3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Name ✅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3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Logo ✅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3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Merch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Font typeface="Arial"/>
              <a:buChar char="•"/>
            </a:pPr>
            <a:r>
              <a:rPr lang="en-US"/>
              <a:t>Financial Planning</a:t>
            </a:r>
            <a:endParaRPr/>
          </a:p>
          <a:p>
            <a:pPr indent="-34671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Meet with the ThinkTank finance officers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Future Work:  Design Phase Timeline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814350" y="1814300"/>
            <a:ext cx="964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9" name="Google Shape;339;p29"/>
          <p:cNvCxnSpPr/>
          <p:nvPr/>
        </p:nvCxnSpPr>
        <p:spPr>
          <a:xfrm>
            <a:off x="1008225" y="3887875"/>
            <a:ext cx="9643200" cy="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29"/>
          <p:cNvCxnSpPr/>
          <p:nvPr/>
        </p:nvCxnSpPr>
        <p:spPr>
          <a:xfrm rot="10800000">
            <a:off x="1769550" y="3278500"/>
            <a:ext cx="11400" cy="5781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29"/>
          <p:cNvSpPr txBox="1"/>
          <p:nvPr/>
        </p:nvSpPr>
        <p:spPr>
          <a:xfrm>
            <a:off x="726725" y="2405650"/>
            <a:ext cx="17685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814350" y="2097400"/>
            <a:ext cx="1921800" cy="118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800"/>
              <a:t>Trade Study for Components</a:t>
            </a:r>
            <a:endParaRPr sz="1800"/>
          </a:p>
        </p:txBody>
      </p:sp>
      <p:cxnSp>
        <p:nvCxnSpPr>
          <p:cNvPr id="343" name="Google Shape;343;p29"/>
          <p:cNvCxnSpPr/>
          <p:nvPr/>
        </p:nvCxnSpPr>
        <p:spPr>
          <a:xfrm rot="10800000">
            <a:off x="3678975" y="3887863"/>
            <a:ext cx="11400" cy="5781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29"/>
          <p:cNvSpPr/>
          <p:nvPr/>
        </p:nvSpPr>
        <p:spPr>
          <a:xfrm>
            <a:off x="2591175" y="4497250"/>
            <a:ext cx="2187000" cy="118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800"/>
              <a:t>Digital prototyping for 2025 Components </a:t>
            </a:r>
            <a:endParaRPr sz="1800"/>
          </a:p>
        </p:txBody>
      </p:sp>
      <p:cxnSp>
        <p:nvCxnSpPr>
          <p:cNvPr id="345" name="Google Shape;345;p29"/>
          <p:cNvCxnSpPr/>
          <p:nvPr/>
        </p:nvCxnSpPr>
        <p:spPr>
          <a:xfrm rot="10800000">
            <a:off x="5710763" y="3325413"/>
            <a:ext cx="11400" cy="5781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29"/>
          <p:cNvSpPr/>
          <p:nvPr/>
        </p:nvSpPr>
        <p:spPr>
          <a:xfrm>
            <a:off x="4722425" y="2198800"/>
            <a:ext cx="1988100" cy="118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Comparing changes from 2025 to 2026 guidelines</a:t>
            </a:r>
            <a:endParaRPr sz="1800"/>
          </a:p>
        </p:txBody>
      </p:sp>
      <p:cxnSp>
        <p:nvCxnSpPr>
          <p:cNvPr id="347" name="Google Shape;347;p29"/>
          <p:cNvCxnSpPr/>
          <p:nvPr/>
        </p:nvCxnSpPr>
        <p:spPr>
          <a:xfrm rot="10800000">
            <a:off x="9368150" y="3325413"/>
            <a:ext cx="11400" cy="5781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" name="Google Shape;348;p29"/>
          <p:cNvSpPr/>
          <p:nvPr/>
        </p:nvSpPr>
        <p:spPr>
          <a:xfrm>
            <a:off x="8379800" y="2198800"/>
            <a:ext cx="1988100" cy="118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December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Registration Opens</a:t>
            </a:r>
            <a:endParaRPr b="1" sz="1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/>
          </a:p>
        </p:txBody>
      </p:sp>
      <p:cxnSp>
        <p:nvCxnSpPr>
          <p:cNvPr id="349" name="Google Shape;349;p29"/>
          <p:cNvCxnSpPr/>
          <p:nvPr/>
        </p:nvCxnSpPr>
        <p:spPr>
          <a:xfrm rot="10800000">
            <a:off x="7676838" y="3919138"/>
            <a:ext cx="11400" cy="5781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29"/>
          <p:cNvSpPr/>
          <p:nvPr/>
        </p:nvSpPr>
        <p:spPr>
          <a:xfrm>
            <a:off x="6688500" y="4465975"/>
            <a:ext cx="1988100" cy="118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Start on Digital Prototyping for 2026 Components 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0"/>
          <p:cNvSpPr txBox="1"/>
          <p:nvPr>
            <p:ph type="title"/>
          </p:nvPr>
        </p:nvSpPr>
        <p:spPr>
          <a:xfrm>
            <a:off x="2725800" y="2091850"/>
            <a:ext cx="6740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7000"/>
              <a:t>Any Questions?</a:t>
            </a:r>
            <a:endParaRPr sz="7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361" name="Google Shape;361;p31"/>
          <p:cNvSpPr txBox="1"/>
          <p:nvPr/>
        </p:nvSpPr>
        <p:spPr>
          <a:xfrm>
            <a:off x="1039750" y="1812425"/>
            <a:ext cx="6066600" cy="3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hlink"/>
                </a:solidFill>
                <a:hlinkClick r:id="rId3"/>
              </a:rPr>
              <a:t>Requirements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SOP (Soon…)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hlink"/>
                </a:solidFill>
                <a:hlinkClick r:id="rId4"/>
              </a:rPr>
              <a:t>Summer Meetings Attendance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hlink"/>
                </a:solidFill>
                <a:hlinkClick r:id="rId5"/>
              </a:rPr>
              <a:t>MATE ROV Needs &amp; Requirements  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Images </a:t>
            </a:r>
            <a:endParaRPr/>
          </a:p>
        </p:txBody>
      </p:sp>
      <p:sp>
        <p:nvSpPr>
          <p:cNvPr id="367" name="Google Shape;367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IMAGES SHOULD LOOK LIKE ONE OF THE FOLLOWING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Non transparent images should have a blue outline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Transparent ones do not require an outline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Remove background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.com: Kunfund Touhou Project Plushie Stuffed Doll Hakurei Reimu Anime  Figure Xmas Gift Fumo 20cm : Toys &amp; Games" id="368" name="Google Shape;36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1258" y="3691079"/>
            <a:ext cx="2000488" cy="2954565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isen fumo png : r/fumotouhou" id="369" name="Google Shape;36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7254" y="3691071"/>
            <a:ext cx="2000488" cy="2801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TT_Palet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