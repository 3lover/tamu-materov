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Spinnaker"/>
      <p:regular r:id="rId13"/>
    </p:embeddedFont>
    <p:embeddedFont>
      <p:font typeface="Montserrat SemiBold"/>
      <p:regular r:id="rId14"/>
      <p:bold r:id="rId15"/>
      <p:italic r:id="rId16"/>
      <p:boldItalic r:id="rId17"/>
    </p:embeddedFont>
    <p:embeddedFont>
      <p:font typeface="Potta One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Spinnaker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PottaOn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d04b93c0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d04b93c0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d04b93c0c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d04b93c0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d04b93c0c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d04b93c0c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d04b93c0c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d04b93c0c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d1564721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d1564721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d04b93c0c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d04b93c0c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jpg"/><Relationship Id="rId5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hyperlink" Target="https://drive.google.com/open?id=1LZyCfJdQIRkKgLNY-m7rnkFrqNmz_I16&amp;usp=drive_copy" TargetMode="External"/><Relationship Id="rId5" Type="http://schemas.openxmlformats.org/officeDocument/2006/relationships/hyperlink" Target="https://drive.google.com/open?id=1RaTC9esZb_0DxGx3tOXmPzRHyeDziQ8O&amp;usp=drive_copy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s://drive.google.com/open?id=10lJJ23DcxkzKNyZJaF9ervk8WQLrAVgy&amp;usp=drive_copy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1469550" y="1996050"/>
            <a:ext cx="62049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800">
                <a:solidFill>
                  <a:srgbClr val="BFE4EA"/>
                </a:solidFill>
                <a:latin typeface="Potta One"/>
                <a:ea typeface="Potta One"/>
                <a:cs typeface="Potta One"/>
                <a:sym typeface="Potta One"/>
              </a:rPr>
              <a:t>Buoyancy</a:t>
            </a:r>
            <a:endParaRPr sz="4200">
              <a:solidFill>
                <a:srgbClr val="BFE4EA"/>
              </a:solidFill>
              <a:latin typeface="Potta One"/>
              <a:ea typeface="Potta One"/>
              <a:cs typeface="Potta One"/>
              <a:sym typeface="Potta One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FF"/>
                </a:solidFill>
                <a:latin typeface="Spinnaker"/>
                <a:ea typeface="Spinnaker"/>
                <a:cs typeface="Spinnaker"/>
                <a:sym typeface="Spinnaker"/>
              </a:rPr>
              <a:t> Presentation by ThinkTank Oceanus</a:t>
            </a:r>
            <a:endParaRPr sz="1900">
              <a:solidFill>
                <a:srgbClr val="FFFFFF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/>
        </p:nvSpPr>
        <p:spPr>
          <a:xfrm>
            <a:off x="2678700" y="264475"/>
            <a:ext cx="3786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Spinnaker"/>
                <a:ea typeface="Spinnaker"/>
                <a:cs typeface="Spinnaker"/>
                <a:sym typeface="Spinnaker"/>
              </a:rPr>
              <a:t>What is Buoyancy?</a:t>
            </a:r>
            <a:endParaRPr b="1" sz="2900">
              <a:solidFill>
                <a:schemeClr val="lt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105" name="Google Shape;105;p26"/>
          <p:cNvSpPr txBox="1"/>
          <p:nvPr/>
        </p:nvSpPr>
        <p:spPr>
          <a:xfrm>
            <a:off x="185325" y="2178663"/>
            <a:ext cx="5151000" cy="12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Buoyancy is a force done by a liquid that makes things float. We will be examining how changing the shape of a boat or changing the liquid that a boat is in will change how much the buoyant force changes. 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File:A close up picture of boat on water.jpg - Wikimedia Commons" id="106" name="Google Shape;106;p26"/>
          <p:cNvPicPr preferRelativeResize="0"/>
          <p:nvPr/>
        </p:nvPicPr>
        <p:blipFill rotWithShape="1">
          <a:blip r:embed="rId4">
            <a:alphaModFix/>
          </a:blip>
          <a:srcRect b="25913" l="17361" r="13635" t="11693"/>
          <a:stretch/>
        </p:blipFill>
        <p:spPr>
          <a:xfrm rot="1305863">
            <a:off x="6683051" y="1103974"/>
            <a:ext cx="2417025" cy="1639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ating in the Apostles - Apostle Islands National Lakeshore (U.S. ..." id="107" name="Google Shape;107;p26"/>
          <p:cNvPicPr preferRelativeResize="0"/>
          <p:nvPr/>
        </p:nvPicPr>
        <p:blipFill rotWithShape="1">
          <a:blip r:embed="rId5">
            <a:alphaModFix/>
          </a:blip>
          <a:srcRect b="36093" l="35488" r="31586" t="36580"/>
          <a:stretch/>
        </p:blipFill>
        <p:spPr>
          <a:xfrm rot="-1036196">
            <a:off x="4750400" y="3211549"/>
            <a:ext cx="3010824" cy="140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/>
        </p:nvSpPr>
        <p:spPr>
          <a:xfrm>
            <a:off x="1615350" y="267000"/>
            <a:ext cx="5913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Spinnaker"/>
                <a:ea typeface="Spinnaker"/>
                <a:cs typeface="Spinnaker"/>
                <a:sym typeface="Spinnaker"/>
              </a:rPr>
              <a:t>Experiment 1: changing liquid</a:t>
            </a:r>
            <a:endParaRPr b="1" sz="2900">
              <a:solidFill>
                <a:schemeClr val="lt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113" name="Google Shape;113;p27"/>
          <p:cNvSpPr txBox="1"/>
          <p:nvPr/>
        </p:nvSpPr>
        <p:spPr>
          <a:xfrm>
            <a:off x="2810225" y="2455538"/>
            <a:ext cx="515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happens if we take a boat that sinks in oil and put it into water? Will it sink or will it float?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5980825" y="3699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C0002_1.mp4</a:t>
            </a:r>
            <a:endParaRPr/>
          </a:p>
        </p:txBody>
      </p:sp>
      <p:sp>
        <p:nvSpPr>
          <p:cNvPr id="115" name="Google Shape;115;p27"/>
          <p:cNvSpPr txBox="1"/>
          <p:nvPr/>
        </p:nvSpPr>
        <p:spPr>
          <a:xfrm>
            <a:off x="3776775" y="334482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hlink"/>
                </a:solidFill>
                <a:hlinkClick r:id="rId5"/>
              </a:rPr>
              <a:t>C0002.mp4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/>
        </p:nvSpPr>
        <p:spPr>
          <a:xfrm>
            <a:off x="1615350" y="267000"/>
            <a:ext cx="5913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Spinnaker"/>
                <a:ea typeface="Spinnaker"/>
                <a:cs typeface="Spinnaker"/>
                <a:sym typeface="Spinnaker"/>
              </a:rPr>
              <a:t>Experiment 1: results</a:t>
            </a:r>
            <a:endParaRPr b="1" sz="2900">
              <a:solidFill>
                <a:schemeClr val="lt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2976375" y="1868538"/>
            <a:ext cx="515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This experiment shows that the buoyant force B is related to the density of the liquid the boat is in. 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2" name="Google Shape;122;p28"/>
          <p:cNvSpPr txBox="1"/>
          <p:nvPr/>
        </p:nvSpPr>
        <p:spPr>
          <a:xfrm>
            <a:off x="3413025" y="2717425"/>
            <a:ext cx="42777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 = 𝜌 x _ x g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funny looking p is the density of the water and the g is the </a:t>
            </a: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gravitational</a:t>
            </a: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constant, 9.81 m/s</a:t>
            </a:r>
            <a:r>
              <a:rPr baseline="30000"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682650" y="252025"/>
            <a:ext cx="6047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Spinnaker"/>
                <a:ea typeface="Spinnaker"/>
                <a:cs typeface="Spinnaker"/>
                <a:sym typeface="Spinnaker"/>
              </a:rPr>
              <a:t>Experiment 2: Changing Shape</a:t>
            </a:r>
            <a:endParaRPr b="1" sz="2900">
              <a:solidFill>
                <a:schemeClr val="lt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128" name="Google Shape;128;p29"/>
          <p:cNvSpPr txBox="1"/>
          <p:nvPr/>
        </p:nvSpPr>
        <p:spPr>
          <a:xfrm>
            <a:off x="2608375" y="1969630"/>
            <a:ext cx="5913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happens if we change the shape of our boat. The weight has not changed so should it still float? Will it sink or will it float?</a:t>
            </a:r>
            <a:endParaRPr sz="17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9" name="Google Shape;129;p29"/>
          <p:cNvSpPr txBox="1"/>
          <p:nvPr/>
        </p:nvSpPr>
        <p:spPr>
          <a:xfrm>
            <a:off x="5238750" y="3599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C0002_2.mp4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/>
          <p:nvPr/>
        </p:nvSpPr>
        <p:spPr>
          <a:xfrm>
            <a:off x="1682650" y="252025"/>
            <a:ext cx="6047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Spinnaker"/>
                <a:ea typeface="Spinnaker"/>
                <a:cs typeface="Spinnaker"/>
                <a:sym typeface="Spinnaker"/>
              </a:rPr>
              <a:t>Experiment 2: Results</a:t>
            </a:r>
            <a:endParaRPr b="1" sz="2900">
              <a:solidFill>
                <a:schemeClr val="lt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135" name="Google Shape;135;p30"/>
          <p:cNvSpPr txBox="1"/>
          <p:nvPr/>
        </p:nvSpPr>
        <p:spPr>
          <a:xfrm>
            <a:off x="2608375" y="1969630"/>
            <a:ext cx="59133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This experiment shows that the buoyancy of an object relies on the volume of water that that object displaces. The bigger the boat, the more water is displaced. </a:t>
            </a:r>
            <a:endParaRPr sz="17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6" name="Google Shape;136;p30"/>
          <p:cNvSpPr txBox="1"/>
          <p:nvPr/>
        </p:nvSpPr>
        <p:spPr>
          <a:xfrm>
            <a:off x="3257950" y="3669925"/>
            <a:ext cx="42777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 = 𝜌 x V x g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