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12192000"/>
  <p:notesSz cx="6858000" cy="9144000"/>
  <p:embeddedFontLst>
    <p:embeddedFont>
      <p:font typeface="Play"/>
      <p:regular r:id="rId49"/>
      <p:bold r:id="rId50"/>
    </p:embeddedFont>
    <p:embeddedFont>
      <p:font typeface="Robot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B189D9-1237-4E64-B087-F602AF38439B}">
  <a:tblStyle styleId="{EFB189D9-1237-4E64-B087-F602AF38439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CEDFED6-B171-44F2-B70F-3FA0125B035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regular.fntdata"/><Relationship Id="rId50" Type="http://schemas.openxmlformats.org/officeDocument/2006/relationships/font" Target="fonts/Play-bold.fntdata"/><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b1508d8b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9b1508d8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d2c155af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d2c155a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d2c155af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d2c155af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b1508d8b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9b1508d8b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9d1d6b022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9d1d6b022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d2682c6c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9d2682c6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d2682c6c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9d2682c6c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9b1508d8b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9b1508d8b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9d0fd0fb7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9d0fd0fb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9d0fd0fb76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9d0fd0fb7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d4758074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9d475807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US">
                <a:solidFill>
                  <a:schemeClr val="dk1"/>
                </a:solidFill>
              </a:rPr>
              <a:t>Resource Requirements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Blue OS: 9</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Designed to be lean (RTOS-like footprint, minimal services), so it runs comfortably on low-power MCUs or small SBCs with tight RAM/flash budgets.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Predictable memory usage (static allocation/common single-process model) and limited background daemons keep CPU load and storage needs very low.</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ROS 2: 5</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Runs atop Linux with multiple services (DDS, discovery, logging, parameter server equivalents, daemonized tools); higher baseline CPU/RAM and storage.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Containerization and language runtimes (C++/Python) plus DDS middleware add overhead that can be significant on Raspberry Pi-class hardware.</a:t>
            </a:r>
            <a:br>
              <a:rPr lang="en-US">
                <a:solidFill>
                  <a:schemeClr val="dk1"/>
                </a:solidFill>
              </a:rPr>
            </a:b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a:solidFill>
                  <a:schemeClr val="dk1"/>
                </a:solidFill>
              </a:rPr>
              <a:t>Performance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Blue OS: 8</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Preemptive, deterministic scheduling typical of embedded/RTOS designs yields low and consistent latency for control loops and IO.</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Minimal user-space/service layers between drivers and application reduce jitter under load.</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ROS 2: 7</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With PREEMPT-RT kernels and tuned DDS (Cyclone/FastDDS QoS), ROS 2 can meet many soft real-time needs, but extra middleware layers and message serialization introduce more latency/jitter than a slim RTOS stack.</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Throughput is strong, but timing consistency under heavy pub/sub traffic can require careful QoS and executor tuning.</a:t>
            </a:r>
            <a:br>
              <a:rPr lang="en-US">
                <a:solidFill>
                  <a:schemeClr val="dk1"/>
                </a:solidFill>
              </a:rPr>
            </a:b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US">
                <a:solidFill>
                  <a:schemeClr val="dk1"/>
                </a:solidFill>
              </a:rPr>
              <a:t>Ease of Development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Blue OS: 6</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Simple APIs and build system, but a smaller ecosystem; fewer ready-made packages, fewer high-level tools, and more DIY for drivers/integration.</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Debugging is closer to bare-metal/embedded (JTAG, serial logs) with less out-of-the-box visualization and recording.</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ROS 2: 9</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Large community and package ecosystem; ready modules for navigation, perception, drivers, and simulation</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Mature tooling (rviz, rqt, rosbag, tf, launch files), multiple client libraries (rclcpp/rclpy), and abundant docs/tutorials make iteration and collaboration fast.</a:t>
            </a:r>
            <a:br>
              <a:rPr lang="en-US">
                <a:solidFill>
                  <a:schemeClr val="dk1"/>
                </a:solidFill>
              </a:rPr>
            </a:br>
            <a:endParaRPr>
              <a:solidFill>
                <a:schemeClr val="dk1"/>
              </a:solidFill>
            </a:endParaRPr>
          </a:p>
          <a:p>
            <a:pPr indent="0" lvl="0" marL="0" rtl="0" algn="l">
              <a:lnSpc>
                <a:spcPct val="115000"/>
              </a:lnSpc>
              <a:spcBef>
                <a:spcPts val="2400"/>
              </a:spcBef>
              <a:spcAft>
                <a:spcPts val="0"/>
              </a:spcAft>
              <a:buNone/>
            </a:pPr>
            <a:r>
              <a:rPr b="1" lang="en-US">
                <a:solidFill>
                  <a:schemeClr val="dk1"/>
                </a:solidFill>
              </a:rPr>
              <a:t>Networking &amp; Communication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Blue OS: 7</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Solid support for core protocols (TCP/UDP, MAVLink/MQTT available via libraries) and straightforward point-to-point comms.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Discovery, QoS controls, and multi-robot coordination usually require additional libraries or custom work.</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ROS 2: 9</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DDS under the hood provides discovery, QoS (reliability, durability, deadlines), and scalable pub/sub out of the box—excellent for multi-node and multi-robot systems.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Rich message types, standard interfaces (sensor_msgs, nav_msgs), and widespread camera/driver support make interop and distributed systems easier.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9d0fd0fb76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9d0fd0fb7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d42e4f1c8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d42e4f1c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d42e4f1c8_2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9d42e4f1c8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9d36c9d0b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9d36c9d0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d42e4f1c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It’s over Vecna, we are the Stranger Things.</a:t>
            </a:r>
            <a:endParaRPr/>
          </a:p>
        </p:txBody>
      </p:sp>
      <p:sp>
        <p:nvSpPr>
          <p:cNvPr id="341" name="Google Shape;341;g39d42e4f1c8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d42e4f1c8_0_6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g39d42e4f1c8_0_6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9d42e4f1c8_0_8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3" name="Google Shape;353;g39d42e4f1c8_0_8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9d42e4f1c8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9" name="Google Shape;359;g39d42e4f1c8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9d42e4f1c8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g39d42e4f1c8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9d42e4f1c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9d42e4f1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9d36c9d0b9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9d36c9d0b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9d36c9d0b9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9d36c9d0b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d3c6591f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9d3c6591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9d3c6591f3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9d3c6591f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9d3c6591f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9d3c6591f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9d3c6591f3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9d3c6591f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*Re was </a:t>
            </a:r>
            <a:r>
              <a:rPr lang="en-US"/>
              <a:t>calculated</a:t>
            </a:r>
            <a:r>
              <a:rPr lang="en-US"/>
              <a:t> using the maximum expected velocity and maximum expected </a:t>
            </a:r>
            <a:r>
              <a:rPr lang="en-US"/>
              <a:t>length from the leading to the trailing edge of the hydrofoil </a:t>
            </a:r>
            <a:endParaRPr/>
          </a:p>
          <a:p>
            <a:pPr indent="0" lvl="0" marL="0" rtl="0" algn="l">
              <a:spcBef>
                <a:spcPts val="0"/>
              </a:spcBef>
              <a:spcAft>
                <a:spcPts val="0"/>
              </a:spcAft>
              <a:buNone/>
            </a:pPr>
            <a:r>
              <a:rPr lang="en-US"/>
              <a:t>*The gain in lift coefficient for the Eppler 800 series outweighed the complexity of manufacturing for the NACA 66 mod </a:t>
            </a:r>
            <a:endParaRPr/>
          </a:p>
          <a:p>
            <a:pPr indent="0" lvl="0" marL="0" rtl="0" algn="l">
              <a:spcBef>
                <a:spcPts val="0"/>
              </a:spcBef>
              <a:spcAft>
                <a:spcPts val="0"/>
              </a:spcAft>
              <a:buNone/>
            </a:pPr>
            <a:r>
              <a:rPr lang="en-US"/>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9d3c6591f3_2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9d3c6591f3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It is evident that the Eppler 817 hydrofoil has a significantly higher coefficient of lift curve compared to the other two choices.This lift gain </a:t>
            </a:r>
            <a:r>
              <a:rPr lang="en-US"/>
              <a:t>outweighs the complexity of manufacturing for the NACA 66 hydrofoil. </a:t>
            </a:r>
            <a:endParaRPr/>
          </a:p>
          <a:p>
            <a:pPr indent="0" lvl="0" marL="0" rtl="0" algn="l">
              <a:spcBef>
                <a:spcPts val="0"/>
              </a:spcBef>
              <a:spcAft>
                <a:spcPts val="0"/>
              </a:spcAft>
              <a:buNone/>
            </a:pPr>
            <a:r>
              <a:rPr lang="en-US"/>
              <a:t>The red curve contributes to a Re of 500,000 while the beige curve contributes to one of 200,000</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d3c6591f3_2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9d3c6591f3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amount of pressure </a:t>
            </a:r>
            <a:r>
              <a:rPr lang="en-US"/>
              <a:t>withstood</a:t>
            </a:r>
            <a:r>
              <a:rPr lang="en-US"/>
              <a:t> at the </a:t>
            </a:r>
            <a:r>
              <a:rPr lang="en-US"/>
              <a:t>maximum</a:t>
            </a:r>
            <a:r>
              <a:rPr lang="en-US"/>
              <a:t> depth of 10 meters does not </a:t>
            </a:r>
            <a:r>
              <a:rPr lang="en-US"/>
              <a:t>justify</a:t>
            </a:r>
            <a:r>
              <a:rPr lang="en-US"/>
              <a:t> using a propeller created out of carbon fiber. The difficulties of dealing with epoxy reinforcement and manufacturing the carbon fiber in the first place is undesirable. </a:t>
            </a:r>
            <a:endParaRPr/>
          </a:p>
          <a:p>
            <a:pPr indent="0" lvl="0" marL="0" rtl="0" algn="l">
              <a:spcBef>
                <a:spcPts val="0"/>
              </a:spcBef>
              <a:spcAft>
                <a:spcPts val="0"/>
              </a:spcAft>
              <a:buNone/>
            </a:pPr>
            <a:r>
              <a:rPr lang="en-US"/>
              <a:t>On the </a:t>
            </a:r>
            <a:r>
              <a:rPr lang="en-US"/>
              <a:t>other</a:t>
            </a:r>
            <a:r>
              <a:rPr lang="en-US"/>
              <a:t> hand, the aluminum propellers would require us to cast the metal, which might not be an available option to us, or to weld parts together. In that case, we can resort to a fiberglass epoxy propeller. </a:t>
            </a:r>
            <a:endParaRPr/>
          </a:p>
          <a:p>
            <a:pPr indent="0" lvl="0" marL="0" rtl="0" algn="l">
              <a:spcBef>
                <a:spcPts val="0"/>
              </a:spcBef>
              <a:spcAft>
                <a:spcPts val="0"/>
              </a:spcAft>
              <a:buNone/>
            </a:pPr>
            <a:r>
              <a:rPr lang="en-US"/>
              <a:t>*NOTE: FEA </a:t>
            </a:r>
            <a:r>
              <a:rPr lang="en-US"/>
              <a:t>analysis</a:t>
            </a:r>
            <a:r>
              <a:rPr lang="en-US"/>
              <a:t> will be done on upcoming designs in order to further justify material choices.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9d36c9d0b9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9d36c9d0b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*NOTE: Number of blades cannot be chosen until </a:t>
            </a:r>
            <a:r>
              <a:rPr lang="en-US"/>
              <a:t>the</a:t>
            </a:r>
            <a:r>
              <a:rPr lang="en-US"/>
              <a:t> shaft power </a:t>
            </a:r>
            <a:r>
              <a:rPr lang="en-US"/>
              <a:t>provided by the motors is available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9d3c6591f3_2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9d3c6591f3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d3c6591f3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d3c6591f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9d3c6591f3_3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9d3c6591f3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9d3c6591f3_3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9d3c6591f3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9d3c6591f3_3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9d3c6591f3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d3c6591f3_3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d3c6591f3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9d3c6591f3_3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9d3c6591f3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grpSp>
        <p:nvGrpSpPr>
          <p:cNvPr id="12" name="Google Shape;12;p2"/>
          <p:cNvGrpSpPr/>
          <p:nvPr/>
        </p:nvGrpSpPr>
        <p:grpSpPr>
          <a:xfrm>
            <a:off x="-161903" y="-167749"/>
            <a:ext cx="6786369" cy="7140871"/>
            <a:chOff x="-161903" y="-167749"/>
            <a:chExt cx="6786369" cy="7140871"/>
          </a:xfrm>
        </p:grpSpPr>
        <p:sp>
          <p:nvSpPr>
            <p:cNvPr id="13" name="Google Shape;13;p2"/>
            <p:cNvSpPr/>
            <p:nvPr/>
          </p:nvSpPr>
          <p:spPr>
            <a:xfrm>
              <a:off x="-161903" y="-167749"/>
              <a:ext cx="6736299" cy="7025749"/>
            </a:xfrm>
            <a:prstGeom prst="rtTriangle">
              <a:avLst/>
            </a:pr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 name="Google Shape;14;p2"/>
            <p:cNvSpPr/>
            <p:nvPr/>
          </p:nvSpPr>
          <p:spPr>
            <a:xfrm>
              <a:off x="-111833" y="-52627"/>
              <a:ext cx="6736299" cy="7025749"/>
            </a:xfrm>
            <a:custGeom>
              <a:rect b="b" l="l" r="r" t="t"/>
              <a:pathLst>
                <a:path extrusionOk="0" h="7025749" w="6736299">
                  <a:moveTo>
                    <a:pt x="0" y="0"/>
                  </a:moveTo>
                  <a:cubicBezTo>
                    <a:pt x="789958" y="66332"/>
                    <a:pt x="1579917" y="132664"/>
                    <a:pt x="2065623" y="480224"/>
                  </a:cubicBezTo>
                  <a:cubicBezTo>
                    <a:pt x="2551330" y="827784"/>
                    <a:pt x="2454846" y="1702713"/>
                    <a:pt x="2914239" y="2085358"/>
                  </a:cubicBezTo>
                  <a:cubicBezTo>
                    <a:pt x="3373632" y="2468003"/>
                    <a:pt x="4477710" y="2356170"/>
                    <a:pt x="4821980" y="2776092"/>
                  </a:cubicBezTo>
                  <a:cubicBezTo>
                    <a:pt x="5166250" y="3196014"/>
                    <a:pt x="4801148" y="4123571"/>
                    <a:pt x="4979862" y="4604892"/>
                  </a:cubicBezTo>
                  <a:cubicBezTo>
                    <a:pt x="5158576" y="5086213"/>
                    <a:pt x="5601523" y="5260541"/>
                    <a:pt x="5894262" y="5664017"/>
                  </a:cubicBezTo>
                  <a:cubicBezTo>
                    <a:pt x="6187001" y="6067493"/>
                    <a:pt x="6589381" y="6796601"/>
                    <a:pt x="6736299" y="7025749"/>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5" name="Google Shape;15;p2"/>
          <p:cNvGrpSpPr/>
          <p:nvPr/>
        </p:nvGrpSpPr>
        <p:grpSpPr>
          <a:xfrm>
            <a:off x="-1552506" y="1270690"/>
            <a:ext cx="15025287" cy="5702432"/>
            <a:chOff x="-1028062" y="1775602"/>
            <a:chExt cx="14500843" cy="5255670"/>
          </a:xfrm>
        </p:grpSpPr>
        <p:sp>
          <p:nvSpPr>
            <p:cNvPr id="16" name="Google Shape;16;p2"/>
            <p:cNvSpPr/>
            <p:nvPr/>
          </p:nvSpPr>
          <p:spPr>
            <a:xfrm>
              <a:off x="-1028062" y="1775602"/>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 name="Google Shape;17;p2"/>
            <p:cNvSpPr/>
            <p:nvPr/>
          </p:nvSpPr>
          <p:spPr>
            <a:xfrm>
              <a:off x="-875662" y="18930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Google Shape;18;p2"/>
            <p:cNvSpPr/>
            <p:nvPr/>
          </p:nvSpPr>
          <p:spPr>
            <a:xfrm>
              <a:off x="-723262" y="20454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2"/>
            <p:cNvSpPr/>
            <p:nvPr/>
          </p:nvSpPr>
          <p:spPr>
            <a:xfrm>
              <a:off x="-570862" y="21978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2"/>
            <p:cNvSpPr/>
            <p:nvPr/>
          </p:nvSpPr>
          <p:spPr>
            <a:xfrm>
              <a:off x="-418462" y="23502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2"/>
            <p:cNvSpPr/>
            <p:nvPr/>
          </p:nvSpPr>
          <p:spPr>
            <a:xfrm>
              <a:off x="-266062" y="25026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Google Shape;22;p2"/>
            <p:cNvSpPr/>
            <p:nvPr/>
          </p:nvSpPr>
          <p:spPr>
            <a:xfrm>
              <a:off x="-115671" y="26771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2"/>
            <p:cNvSpPr/>
            <p:nvPr/>
          </p:nvSpPr>
          <p:spPr>
            <a:xfrm>
              <a:off x="36729" y="28295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2"/>
            <p:cNvSpPr/>
            <p:nvPr/>
          </p:nvSpPr>
          <p:spPr>
            <a:xfrm>
              <a:off x="189129" y="29819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 name="Google Shape;25;p2"/>
          <p:cNvSpPr txBox="1"/>
          <p:nvPr>
            <p:ph type="ctrTitle"/>
          </p:nvPr>
        </p:nvSpPr>
        <p:spPr>
          <a:xfrm>
            <a:off x="208317" y="1122363"/>
            <a:ext cx="9144000"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
          <p:cNvSpPr txBox="1"/>
          <p:nvPr>
            <p:ph idx="1" type="subTitle"/>
          </p:nvPr>
        </p:nvSpPr>
        <p:spPr>
          <a:xfrm>
            <a:off x="208317" y="3602038"/>
            <a:ext cx="9144000"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 name="Google Shape;27;p2"/>
          <p:cNvSpPr txBox="1"/>
          <p:nvPr>
            <p:ph idx="10" type="dt"/>
          </p:nvPr>
        </p:nvSpPr>
        <p:spPr>
          <a:xfrm>
            <a:off x="-92098" y="635634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
          <p:cNvSpPr txBox="1"/>
          <p:nvPr>
            <p:ph idx="11" type="ftr"/>
          </p:nvPr>
        </p:nvSpPr>
        <p:spPr>
          <a:xfrm>
            <a:off x="5237517" y="6356349"/>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
          <p:cNvSpPr txBox="1"/>
          <p:nvPr>
            <p:ph idx="12" type="sldNum"/>
          </p:nvPr>
        </p:nvSpPr>
        <p:spPr>
          <a:xfrm>
            <a:off x="935231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0" name="Google Shape;30;p2"/>
          <p:cNvCxnSpPr/>
          <p:nvPr/>
        </p:nvCxnSpPr>
        <p:spPr>
          <a:xfrm>
            <a:off x="306993" y="4052305"/>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1" name="Shape 31"/>
        <p:cNvGrpSpPr/>
        <p:nvPr/>
      </p:nvGrpSpPr>
      <p:grpSpPr>
        <a:xfrm>
          <a:off x="0" y="0"/>
          <a:ext cx="0" cy="0"/>
          <a:chOff x="0" y="0"/>
          <a:chExt cx="0" cy="0"/>
        </a:xfrm>
      </p:grpSpPr>
      <p:sp>
        <p:nvSpPr>
          <p:cNvPr id="32" name="Google Shape;32;p3"/>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 name="Google Shape;33;p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5" name="Google Shape;35;p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6" name="Google Shape;36;p3"/>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39" name="Google Shape;39;p3"/>
          <p:cNvGrpSpPr/>
          <p:nvPr/>
        </p:nvGrpSpPr>
        <p:grpSpPr>
          <a:xfrm>
            <a:off x="-1341996" y="3657600"/>
            <a:ext cx="14551458" cy="4029984"/>
            <a:chOff x="-1350448" y="3657600"/>
            <a:chExt cx="14078468" cy="4029984"/>
          </a:xfrm>
        </p:grpSpPr>
        <p:sp>
          <p:nvSpPr>
            <p:cNvPr id="40" name="Google Shape;40;p3"/>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 name="Google Shape;41;p3"/>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p3"/>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 name="Google Shape;43;p3"/>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 name="Google Shape;44;p3"/>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3"/>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 name="Google Shape;46;p3"/>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 name="Google Shape;47;p3"/>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8" name="Shape 48"/>
        <p:cNvGrpSpPr/>
        <p:nvPr/>
      </p:nvGrpSpPr>
      <p:grpSpPr>
        <a:xfrm>
          <a:off x="0" y="0"/>
          <a:ext cx="0" cy="0"/>
          <a:chOff x="0" y="0"/>
          <a:chExt cx="0" cy="0"/>
        </a:xfrm>
      </p:grpSpPr>
      <p:sp>
        <p:nvSpPr>
          <p:cNvPr id="49" name="Google Shape;49;p4"/>
          <p:cNvSpPr/>
          <p:nvPr/>
        </p:nvSpPr>
        <p:spPr>
          <a:xfrm>
            <a:off x="-177799" y="-109041"/>
            <a:ext cx="9175240" cy="7125395"/>
          </a:xfrm>
          <a:custGeom>
            <a:rect b="b" l="l" r="r" t="t"/>
            <a:pathLst>
              <a:path extrusionOk="0" h="7125395" w="9175240">
                <a:moveTo>
                  <a:pt x="165100" y="39191"/>
                </a:moveTo>
                <a:cubicBezTo>
                  <a:pt x="318558" y="1620"/>
                  <a:pt x="472017" y="-35951"/>
                  <a:pt x="838200" y="64591"/>
                </a:cubicBezTo>
                <a:cubicBezTo>
                  <a:pt x="1204383" y="165133"/>
                  <a:pt x="1951567" y="157724"/>
                  <a:pt x="2362200" y="642441"/>
                </a:cubicBezTo>
                <a:cubicBezTo>
                  <a:pt x="2772833" y="1127158"/>
                  <a:pt x="2586567" y="2382341"/>
                  <a:pt x="3302000" y="2972891"/>
                </a:cubicBezTo>
                <a:cubicBezTo>
                  <a:pt x="4017433" y="3563441"/>
                  <a:pt x="5977467" y="3719016"/>
                  <a:pt x="6654800" y="4185741"/>
                </a:cubicBezTo>
                <a:cubicBezTo>
                  <a:pt x="7332133" y="4652466"/>
                  <a:pt x="6946900" y="5306516"/>
                  <a:pt x="7366000" y="5773241"/>
                </a:cubicBezTo>
                <a:cubicBezTo>
                  <a:pt x="7785100" y="6239966"/>
                  <a:pt x="8897408" y="6775483"/>
                  <a:pt x="9169400" y="6986091"/>
                </a:cubicBezTo>
                <a:cubicBezTo>
                  <a:pt x="9441392" y="7196699"/>
                  <a:pt x="123296" y="7110445"/>
                  <a:pt x="0" y="7094041"/>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 name="Google Shape;5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81000" lvl="1" marL="914400" algn="l">
              <a:lnSpc>
                <a:spcPct val="90000"/>
              </a:lnSpc>
              <a:spcBef>
                <a:spcPts val="500"/>
              </a:spcBef>
              <a:spcAft>
                <a:spcPts val="0"/>
              </a:spcAft>
              <a:buClr>
                <a:schemeClr val="lt1"/>
              </a:buClr>
              <a:buSzPts val="2400"/>
              <a:buChar char="•"/>
              <a:defRPr>
                <a:latin typeface="Play"/>
                <a:ea typeface="Play"/>
                <a:cs typeface="Play"/>
                <a:sym typeface="Play"/>
              </a:defRPr>
            </a:lvl2pPr>
            <a:lvl3pPr indent="-355600" lvl="2" marL="1371600" algn="l">
              <a:lnSpc>
                <a:spcPct val="90000"/>
              </a:lnSpc>
              <a:spcBef>
                <a:spcPts val="500"/>
              </a:spcBef>
              <a:spcAft>
                <a:spcPts val="0"/>
              </a:spcAft>
              <a:buClr>
                <a:schemeClr val="lt1"/>
              </a:buClr>
              <a:buSzPts val="2000"/>
              <a:buChar char="•"/>
              <a:defRPr>
                <a:latin typeface="Play"/>
                <a:ea typeface="Play"/>
                <a:cs typeface="Play"/>
                <a:sym typeface="Play"/>
              </a:defRPr>
            </a:lvl3pPr>
            <a:lvl4pPr indent="-342900" lvl="3" marL="1828800" algn="l">
              <a:lnSpc>
                <a:spcPct val="90000"/>
              </a:lnSpc>
              <a:spcBef>
                <a:spcPts val="500"/>
              </a:spcBef>
              <a:spcAft>
                <a:spcPts val="0"/>
              </a:spcAft>
              <a:buClr>
                <a:schemeClr val="lt1"/>
              </a:buClr>
              <a:buSzPts val="1800"/>
              <a:buChar char="•"/>
              <a:defRPr>
                <a:latin typeface="Play"/>
                <a:ea typeface="Play"/>
                <a:cs typeface="Play"/>
                <a:sym typeface="Play"/>
              </a:defRPr>
            </a:lvl4pPr>
            <a:lvl5pPr indent="-342900" lvl="4" marL="2286000" algn="l">
              <a:lnSpc>
                <a:spcPct val="90000"/>
              </a:lnSpc>
              <a:spcBef>
                <a:spcPts val="500"/>
              </a:spcBef>
              <a:spcAft>
                <a:spcPts val="0"/>
              </a:spcAft>
              <a:buClr>
                <a:schemeClr val="lt1"/>
              </a:buClr>
              <a:buSzPts val="1800"/>
              <a:buChar char="•"/>
              <a:defRPr>
                <a:latin typeface="Play"/>
                <a:ea typeface="Play"/>
                <a:cs typeface="Play"/>
                <a:sym typeface="Play"/>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4"/>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55" name="Google Shape;55;p4"/>
          <p:cNvGrpSpPr/>
          <p:nvPr/>
        </p:nvGrpSpPr>
        <p:grpSpPr>
          <a:xfrm>
            <a:off x="8185150" y="-762001"/>
            <a:ext cx="4876800" cy="8997555"/>
            <a:chOff x="8185150" y="-762001"/>
            <a:chExt cx="4876800" cy="8997555"/>
          </a:xfrm>
        </p:grpSpPr>
        <p:sp>
          <p:nvSpPr>
            <p:cNvPr id="56" name="Google Shape;56;p4"/>
            <p:cNvSpPr/>
            <p:nvPr/>
          </p:nvSpPr>
          <p:spPr>
            <a:xfrm>
              <a:off x="8185150" y="-7620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4"/>
            <p:cNvSpPr/>
            <p:nvPr/>
          </p:nvSpPr>
          <p:spPr>
            <a:xfrm>
              <a:off x="8337550" y="-6096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4"/>
            <p:cNvSpPr/>
            <p:nvPr/>
          </p:nvSpPr>
          <p:spPr>
            <a:xfrm>
              <a:off x="8489950" y="-4572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 name="Google Shape;59;p4"/>
            <p:cNvSpPr/>
            <p:nvPr/>
          </p:nvSpPr>
          <p:spPr>
            <a:xfrm>
              <a:off x="8642350" y="-3048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 name="Google Shape;60;p4"/>
            <p:cNvSpPr/>
            <p:nvPr/>
          </p:nvSpPr>
          <p:spPr>
            <a:xfrm>
              <a:off x="8794750" y="-1524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 name="Google Shape;61;p4"/>
            <p:cNvSpPr/>
            <p:nvPr/>
          </p:nvSpPr>
          <p:spPr>
            <a:xfrm>
              <a:off x="8947150" y="-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 name="Google Shape;62;p4"/>
            <p:cNvSpPr/>
            <p:nvPr/>
          </p:nvSpPr>
          <p:spPr>
            <a:xfrm>
              <a:off x="9115662" y="1523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 name="Google Shape;63;p4"/>
            <p:cNvSpPr/>
            <p:nvPr/>
          </p:nvSpPr>
          <p:spPr>
            <a:xfrm>
              <a:off x="9268062" y="3047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 name="Google Shape;64;p4"/>
            <p:cNvSpPr/>
            <p:nvPr/>
          </p:nvSpPr>
          <p:spPr>
            <a:xfrm>
              <a:off x="9420462" y="4571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5" name="Google Shape;65;p4"/>
          <p:cNvCxnSpPr/>
          <p:nvPr/>
        </p:nvCxnSpPr>
        <p:spPr>
          <a:xfrm>
            <a:off x="948343" y="1353555"/>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5"/>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68" name="Google Shape;68;p5"/>
          <p:cNvGrpSpPr/>
          <p:nvPr/>
        </p:nvGrpSpPr>
        <p:grpSpPr>
          <a:xfrm>
            <a:off x="-1341996" y="3657600"/>
            <a:ext cx="14551458" cy="4029984"/>
            <a:chOff x="-1350448" y="3657600"/>
            <a:chExt cx="14078468" cy="4029984"/>
          </a:xfrm>
        </p:grpSpPr>
        <p:sp>
          <p:nvSpPr>
            <p:cNvPr id="69" name="Google Shape;69;p5"/>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 name="Google Shape;70;p5"/>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5"/>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5"/>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5"/>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5"/>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 name="Google Shape;76;p5"/>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7" name="Google Shape;7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p6"/>
          <p:cNvSpPr/>
          <p:nvPr/>
        </p:nvSpPr>
        <p:spPr>
          <a:xfrm>
            <a:off x="-304800" y="488951"/>
            <a:ext cx="7928762" cy="6507786"/>
          </a:xfrm>
          <a:custGeom>
            <a:rect b="b" l="l" r="r" t="t"/>
            <a:pathLst>
              <a:path extrusionOk="0" h="6507786" w="7928762">
                <a:moveTo>
                  <a:pt x="158750" y="0"/>
                </a:moveTo>
                <a:cubicBezTo>
                  <a:pt x="861483" y="268816"/>
                  <a:pt x="1564217" y="537633"/>
                  <a:pt x="1905000" y="1003300"/>
                </a:cubicBezTo>
                <a:cubicBezTo>
                  <a:pt x="2245783" y="1468967"/>
                  <a:pt x="1994958" y="2437342"/>
                  <a:pt x="2203450" y="2794000"/>
                </a:cubicBezTo>
                <a:cubicBezTo>
                  <a:pt x="2411942" y="3150658"/>
                  <a:pt x="2684992" y="2909358"/>
                  <a:pt x="3155950" y="3143250"/>
                </a:cubicBezTo>
                <a:cubicBezTo>
                  <a:pt x="3626908" y="3377142"/>
                  <a:pt x="4639733" y="3816350"/>
                  <a:pt x="5029200" y="4197350"/>
                </a:cubicBezTo>
                <a:cubicBezTo>
                  <a:pt x="5418667" y="4578350"/>
                  <a:pt x="5012267" y="5064125"/>
                  <a:pt x="5492750" y="5429250"/>
                </a:cubicBezTo>
                <a:cubicBezTo>
                  <a:pt x="5973233" y="5794375"/>
                  <a:pt x="7477125" y="6224058"/>
                  <a:pt x="7912100" y="6388100"/>
                </a:cubicBezTo>
                <a:cubicBezTo>
                  <a:pt x="8347075" y="6552142"/>
                  <a:pt x="122237" y="6520921"/>
                  <a:pt x="0" y="6451600"/>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 name="Google Shape;8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5" name="Google Shape;85;p6"/>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6"/>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
          <p:cNvSpPr txBox="1"/>
          <p:nvPr>
            <p:ph idx="12" type="sldNum"/>
          </p:nvPr>
        </p:nvSpPr>
        <p:spPr>
          <a:xfrm>
            <a:off x="928817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6"/>
          <p:cNvSpPr/>
          <p:nvPr/>
        </p:nvSpPr>
        <p:spPr>
          <a:xfrm rot="-242220">
            <a:off x="163285" y="38916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6"/>
          <p:cNvSpPr/>
          <p:nvPr/>
        </p:nvSpPr>
        <p:spPr>
          <a:xfrm rot="-242220">
            <a:off x="315685" y="40440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6"/>
          <p:cNvSpPr/>
          <p:nvPr/>
        </p:nvSpPr>
        <p:spPr>
          <a:xfrm rot="-242220">
            <a:off x="468085" y="41964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6"/>
          <p:cNvSpPr/>
          <p:nvPr/>
        </p:nvSpPr>
        <p:spPr>
          <a:xfrm rot="-242220">
            <a:off x="620485" y="43488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rot="-242220">
            <a:off x="772885" y="45012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rot="-242220">
            <a:off x="925285" y="46536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6"/>
          <p:cNvSpPr/>
          <p:nvPr/>
        </p:nvSpPr>
        <p:spPr>
          <a:xfrm rot="-242220">
            <a:off x="1077685" y="48060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95" name="Google Shape;95;p6"/>
          <p:cNvCxnSpPr/>
          <p:nvPr/>
        </p:nvCxnSpPr>
        <p:spPr>
          <a:xfrm>
            <a:off x="948343" y="5063783"/>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TT_layout_blank">
  <p:cSld name="1_TTT_layout_blank">
    <p:spTree>
      <p:nvGrpSpPr>
        <p:cNvPr id="96" name="Shape 96"/>
        <p:cNvGrpSpPr/>
        <p:nvPr/>
      </p:nvGrpSpPr>
      <p:grpSpPr>
        <a:xfrm>
          <a:off x="0" y="0"/>
          <a:ext cx="0" cy="0"/>
          <a:chOff x="0" y="0"/>
          <a:chExt cx="0" cy="0"/>
        </a:xfrm>
      </p:grpSpPr>
      <p:grpSp>
        <p:nvGrpSpPr>
          <p:cNvPr id="97" name="Google Shape;97;p7"/>
          <p:cNvGrpSpPr/>
          <p:nvPr/>
        </p:nvGrpSpPr>
        <p:grpSpPr>
          <a:xfrm>
            <a:off x="-161903" y="-167749"/>
            <a:ext cx="6786369" cy="7140871"/>
            <a:chOff x="-161903" y="-167749"/>
            <a:chExt cx="6786369" cy="7140871"/>
          </a:xfrm>
        </p:grpSpPr>
        <p:sp>
          <p:nvSpPr>
            <p:cNvPr id="98" name="Google Shape;98;p7"/>
            <p:cNvSpPr/>
            <p:nvPr/>
          </p:nvSpPr>
          <p:spPr>
            <a:xfrm>
              <a:off x="-161903" y="-167749"/>
              <a:ext cx="6736299" cy="7025749"/>
            </a:xfrm>
            <a:prstGeom prst="rtTriangle">
              <a:avLst/>
            </a:pr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7"/>
            <p:cNvSpPr/>
            <p:nvPr/>
          </p:nvSpPr>
          <p:spPr>
            <a:xfrm>
              <a:off x="-111833" y="-52627"/>
              <a:ext cx="6736299" cy="7025749"/>
            </a:xfrm>
            <a:custGeom>
              <a:rect b="b" l="l" r="r" t="t"/>
              <a:pathLst>
                <a:path extrusionOk="0" h="7025749" w="6736299">
                  <a:moveTo>
                    <a:pt x="0" y="0"/>
                  </a:moveTo>
                  <a:cubicBezTo>
                    <a:pt x="789958" y="66332"/>
                    <a:pt x="1579917" y="132664"/>
                    <a:pt x="2065623" y="480224"/>
                  </a:cubicBezTo>
                  <a:cubicBezTo>
                    <a:pt x="2551330" y="827784"/>
                    <a:pt x="2454846" y="1702713"/>
                    <a:pt x="2914239" y="2085358"/>
                  </a:cubicBezTo>
                  <a:cubicBezTo>
                    <a:pt x="3373632" y="2468003"/>
                    <a:pt x="4477710" y="2356170"/>
                    <a:pt x="4821980" y="2776092"/>
                  </a:cubicBezTo>
                  <a:cubicBezTo>
                    <a:pt x="5166250" y="3196014"/>
                    <a:pt x="4801148" y="4123571"/>
                    <a:pt x="4979862" y="4604892"/>
                  </a:cubicBezTo>
                  <a:cubicBezTo>
                    <a:pt x="5158576" y="5086213"/>
                    <a:pt x="5601523" y="5260541"/>
                    <a:pt x="5894262" y="5664017"/>
                  </a:cubicBezTo>
                  <a:cubicBezTo>
                    <a:pt x="6187001" y="6067493"/>
                    <a:pt x="6589381" y="6796601"/>
                    <a:pt x="6736299" y="7025749"/>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00" name="Google Shape;100;p7"/>
          <p:cNvGrpSpPr/>
          <p:nvPr/>
        </p:nvGrpSpPr>
        <p:grpSpPr>
          <a:xfrm>
            <a:off x="-1552506" y="1270690"/>
            <a:ext cx="15025287" cy="5702432"/>
            <a:chOff x="-1028062" y="1775602"/>
            <a:chExt cx="14500843" cy="5255670"/>
          </a:xfrm>
        </p:grpSpPr>
        <p:sp>
          <p:nvSpPr>
            <p:cNvPr id="101" name="Google Shape;101;p7"/>
            <p:cNvSpPr/>
            <p:nvPr/>
          </p:nvSpPr>
          <p:spPr>
            <a:xfrm>
              <a:off x="-1028062" y="1775602"/>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7"/>
            <p:cNvSpPr/>
            <p:nvPr/>
          </p:nvSpPr>
          <p:spPr>
            <a:xfrm>
              <a:off x="-875662" y="18930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p7"/>
            <p:cNvSpPr/>
            <p:nvPr/>
          </p:nvSpPr>
          <p:spPr>
            <a:xfrm>
              <a:off x="-723262" y="20454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7"/>
            <p:cNvSpPr/>
            <p:nvPr/>
          </p:nvSpPr>
          <p:spPr>
            <a:xfrm>
              <a:off x="-570862" y="21978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7"/>
            <p:cNvSpPr/>
            <p:nvPr/>
          </p:nvSpPr>
          <p:spPr>
            <a:xfrm>
              <a:off x="-418462" y="23502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266062" y="25026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115671" y="26771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7"/>
            <p:cNvSpPr/>
            <p:nvPr/>
          </p:nvSpPr>
          <p:spPr>
            <a:xfrm>
              <a:off x="36729" y="28295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7"/>
            <p:cNvSpPr/>
            <p:nvPr/>
          </p:nvSpPr>
          <p:spPr>
            <a:xfrm>
              <a:off x="189129" y="29819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p8"/>
          <p:cNvSpPr/>
          <p:nvPr/>
        </p:nvSpPr>
        <p:spPr>
          <a:xfrm>
            <a:off x="-177799" y="-109041"/>
            <a:ext cx="9175240" cy="7125395"/>
          </a:xfrm>
          <a:custGeom>
            <a:rect b="b" l="l" r="r" t="t"/>
            <a:pathLst>
              <a:path extrusionOk="0" h="7125395" w="9175240">
                <a:moveTo>
                  <a:pt x="165100" y="39191"/>
                </a:moveTo>
                <a:cubicBezTo>
                  <a:pt x="318558" y="1620"/>
                  <a:pt x="472017" y="-35951"/>
                  <a:pt x="838200" y="64591"/>
                </a:cubicBezTo>
                <a:cubicBezTo>
                  <a:pt x="1204383" y="165133"/>
                  <a:pt x="1951567" y="157724"/>
                  <a:pt x="2362200" y="642441"/>
                </a:cubicBezTo>
                <a:cubicBezTo>
                  <a:pt x="2772833" y="1127158"/>
                  <a:pt x="2586567" y="2382341"/>
                  <a:pt x="3302000" y="2972891"/>
                </a:cubicBezTo>
                <a:cubicBezTo>
                  <a:pt x="4017433" y="3563441"/>
                  <a:pt x="5977467" y="3719016"/>
                  <a:pt x="6654800" y="4185741"/>
                </a:cubicBezTo>
                <a:cubicBezTo>
                  <a:pt x="7332133" y="4652466"/>
                  <a:pt x="6946900" y="5306516"/>
                  <a:pt x="7366000" y="5773241"/>
                </a:cubicBezTo>
                <a:cubicBezTo>
                  <a:pt x="7785100" y="6239966"/>
                  <a:pt x="8897408" y="6775483"/>
                  <a:pt x="9169400" y="6986091"/>
                </a:cubicBezTo>
                <a:cubicBezTo>
                  <a:pt x="9441392" y="7196699"/>
                  <a:pt x="123296" y="7110445"/>
                  <a:pt x="0" y="7094041"/>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12" name="Google Shape;112;p8"/>
          <p:cNvGrpSpPr/>
          <p:nvPr/>
        </p:nvGrpSpPr>
        <p:grpSpPr>
          <a:xfrm>
            <a:off x="8185150" y="-762001"/>
            <a:ext cx="4876800" cy="8997555"/>
            <a:chOff x="8185150" y="-762001"/>
            <a:chExt cx="4876800" cy="8997555"/>
          </a:xfrm>
        </p:grpSpPr>
        <p:sp>
          <p:nvSpPr>
            <p:cNvPr id="113" name="Google Shape;113;p8"/>
            <p:cNvSpPr/>
            <p:nvPr/>
          </p:nvSpPr>
          <p:spPr>
            <a:xfrm>
              <a:off x="8185150" y="-7620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 name="Google Shape;114;p8"/>
            <p:cNvSpPr/>
            <p:nvPr/>
          </p:nvSpPr>
          <p:spPr>
            <a:xfrm>
              <a:off x="8337550" y="-6096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8"/>
            <p:cNvSpPr/>
            <p:nvPr/>
          </p:nvSpPr>
          <p:spPr>
            <a:xfrm>
              <a:off x="8489950" y="-4572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8"/>
            <p:cNvSpPr/>
            <p:nvPr/>
          </p:nvSpPr>
          <p:spPr>
            <a:xfrm>
              <a:off x="8642350" y="-3048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8"/>
            <p:cNvSpPr/>
            <p:nvPr/>
          </p:nvSpPr>
          <p:spPr>
            <a:xfrm>
              <a:off x="8794750" y="-1524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8"/>
            <p:cNvSpPr/>
            <p:nvPr/>
          </p:nvSpPr>
          <p:spPr>
            <a:xfrm>
              <a:off x="8947150" y="-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8"/>
            <p:cNvSpPr/>
            <p:nvPr/>
          </p:nvSpPr>
          <p:spPr>
            <a:xfrm>
              <a:off x="9115662" y="1523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8"/>
            <p:cNvSpPr/>
            <p:nvPr/>
          </p:nvSpPr>
          <p:spPr>
            <a:xfrm>
              <a:off x="9268062" y="3047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8"/>
            <p:cNvSpPr/>
            <p:nvPr/>
          </p:nvSpPr>
          <p:spPr>
            <a:xfrm>
              <a:off x="9420462" y="4571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8"/>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8"/>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8"/>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28" name="Google Shape;128;p8"/>
          <p:cNvCxnSpPr/>
          <p:nvPr/>
        </p:nvCxnSpPr>
        <p:spPr>
          <a:xfrm>
            <a:off x="948343" y="1353555"/>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9" name="Shape 129"/>
        <p:cNvGrpSpPr/>
        <p:nvPr/>
      </p:nvGrpSpPr>
      <p:grpSpPr>
        <a:xfrm>
          <a:off x="0" y="0"/>
          <a:ext cx="0" cy="0"/>
          <a:chOff x="0" y="0"/>
          <a:chExt cx="0" cy="0"/>
        </a:xfrm>
      </p:grpSpPr>
      <p:sp>
        <p:nvSpPr>
          <p:cNvPr id="130" name="Google Shape;130;p9"/>
          <p:cNvSpPr/>
          <p:nvPr/>
        </p:nvSpPr>
        <p:spPr>
          <a:xfrm>
            <a:off x="-177799" y="-109041"/>
            <a:ext cx="9175240" cy="7125395"/>
          </a:xfrm>
          <a:custGeom>
            <a:rect b="b" l="l" r="r" t="t"/>
            <a:pathLst>
              <a:path extrusionOk="0" h="7125395" w="9175240">
                <a:moveTo>
                  <a:pt x="165100" y="39191"/>
                </a:moveTo>
                <a:cubicBezTo>
                  <a:pt x="318558" y="1620"/>
                  <a:pt x="472017" y="-35951"/>
                  <a:pt x="838200" y="64591"/>
                </a:cubicBezTo>
                <a:cubicBezTo>
                  <a:pt x="1204383" y="165133"/>
                  <a:pt x="1951567" y="157724"/>
                  <a:pt x="2362200" y="642441"/>
                </a:cubicBezTo>
                <a:cubicBezTo>
                  <a:pt x="2772833" y="1127158"/>
                  <a:pt x="2586567" y="2382341"/>
                  <a:pt x="3302000" y="2972891"/>
                </a:cubicBezTo>
                <a:cubicBezTo>
                  <a:pt x="4017433" y="3563441"/>
                  <a:pt x="5977467" y="3719016"/>
                  <a:pt x="6654800" y="4185741"/>
                </a:cubicBezTo>
                <a:cubicBezTo>
                  <a:pt x="7332133" y="4652466"/>
                  <a:pt x="6946900" y="5306516"/>
                  <a:pt x="7366000" y="5773241"/>
                </a:cubicBezTo>
                <a:cubicBezTo>
                  <a:pt x="7785100" y="6239966"/>
                  <a:pt x="8897408" y="6775483"/>
                  <a:pt x="9169400" y="6986091"/>
                </a:cubicBezTo>
                <a:cubicBezTo>
                  <a:pt x="9441392" y="7196699"/>
                  <a:pt x="123296" y="7110445"/>
                  <a:pt x="0" y="7094041"/>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31" name="Google Shape;131;p9"/>
          <p:cNvGrpSpPr/>
          <p:nvPr/>
        </p:nvGrpSpPr>
        <p:grpSpPr>
          <a:xfrm>
            <a:off x="8185150" y="-762001"/>
            <a:ext cx="4876800" cy="8997555"/>
            <a:chOff x="8185150" y="-762001"/>
            <a:chExt cx="4876800" cy="8997555"/>
          </a:xfrm>
        </p:grpSpPr>
        <p:sp>
          <p:nvSpPr>
            <p:cNvPr id="132" name="Google Shape;132;p9"/>
            <p:cNvSpPr/>
            <p:nvPr/>
          </p:nvSpPr>
          <p:spPr>
            <a:xfrm>
              <a:off x="8185150" y="-7620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9"/>
            <p:cNvSpPr/>
            <p:nvPr/>
          </p:nvSpPr>
          <p:spPr>
            <a:xfrm>
              <a:off x="8337550" y="-6096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9"/>
            <p:cNvSpPr/>
            <p:nvPr/>
          </p:nvSpPr>
          <p:spPr>
            <a:xfrm>
              <a:off x="8489950" y="-4572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9"/>
            <p:cNvSpPr/>
            <p:nvPr/>
          </p:nvSpPr>
          <p:spPr>
            <a:xfrm>
              <a:off x="8642350" y="-3048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p9"/>
            <p:cNvSpPr/>
            <p:nvPr/>
          </p:nvSpPr>
          <p:spPr>
            <a:xfrm>
              <a:off x="8794750" y="-1524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9"/>
            <p:cNvSpPr/>
            <p:nvPr/>
          </p:nvSpPr>
          <p:spPr>
            <a:xfrm>
              <a:off x="8947150" y="-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9"/>
            <p:cNvSpPr/>
            <p:nvPr/>
          </p:nvSpPr>
          <p:spPr>
            <a:xfrm>
              <a:off x="9115662" y="1523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9"/>
            <p:cNvSpPr/>
            <p:nvPr/>
          </p:nvSpPr>
          <p:spPr>
            <a:xfrm>
              <a:off x="9268062" y="3047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9"/>
            <p:cNvSpPr/>
            <p:nvPr/>
          </p:nvSpPr>
          <p:spPr>
            <a:xfrm>
              <a:off x="9420462" y="4571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5" name="Google Shape;145;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9"/>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9"/>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9"/>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9" name="Shape 149"/>
        <p:cNvGrpSpPr/>
        <p:nvPr/>
      </p:nvGrpSpPr>
      <p:grpSpPr>
        <a:xfrm>
          <a:off x="0" y="0"/>
          <a:ext cx="0" cy="0"/>
          <a:chOff x="0" y="0"/>
          <a:chExt cx="0" cy="0"/>
        </a:xfrm>
      </p:grpSpPr>
      <p:grpSp>
        <p:nvGrpSpPr>
          <p:cNvPr id="150" name="Google Shape;150;p10"/>
          <p:cNvGrpSpPr/>
          <p:nvPr/>
        </p:nvGrpSpPr>
        <p:grpSpPr>
          <a:xfrm>
            <a:off x="-161903" y="-167749"/>
            <a:ext cx="6786369" cy="7140871"/>
            <a:chOff x="-161903" y="-167749"/>
            <a:chExt cx="6786369" cy="7140871"/>
          </a:xfrm>
        </p:grpSpPr>
        <p:sp>
          <p:nvSpPr>
            <p:cNvPr id="151" name="Google Shape;151;p10"/>
            <p:cNvSpPr/>
            <p:nvPr/>
          </p:nvSpPr>
          <p:spPr>
            <a:xfrm>
              <a:off x="-161903" y="-167749"/>
              <a:ext cx="6736299" cy="7025749"/>
            </a:xfrm>
            <a:prstGeom prst="rtTriangle">
              <a:avLst/>
            </a:pr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 name="Google Shape;152;p10"/>
            <p:cNvSpPr/>
            <p:nvPr/>
          </p:nvSpPr>
          <p:spPr>
            <a:xfrm>
              <a:off x="-111833" y="-52627"/>
              <a:ext cx="6736299" cy="7025749"/>
            </a:xfrm>
            <a:custGeom>
              <a:rect b="b" l="l" r="r" t="t"/>
              <a:pathLst>
                <a:path extrusionOk="0" h="7025749" w="6736299">
                  <a:moveTo>
                    <a:pt x="0" y="0"/>
                  </a:moveTo>
                  <a:cubicBezTo>
                    <a:pt x="789958" y="66332"/>
                    <a:pt x="1579917" y="132664"/>
                    <a:pt x="2065623" y="480224"/>
                  </a:cubicBezTo>
                  <a:cubicBezTo>
                    <a:pt x="2551330" y="827784"/>
                    <a:pt x="2454846" y="1702713"/>
                    <a:pt x="2914239" y="2085358"/>
                  </a:cubicBezTo>
                  <a:cubicBezTo>
                    <a:pt x="3373632" y="2468003"/>
                    <a:pt x="4477710" y="2356170"/>
                    <a:pt x="4821980" y="2776092"/>
                  </a:cubicBezTo>
                  <a:cubicBezTo>
                    <a:pt x="5166250" y="3196014"/>
                    <a:pt x="4801148" y="4123571"/>
                    <a:pt x="4979862" y="4604892"/>
                  </a:cubicBezTo>
                  <a:cubicBezTo>
                    <a:pt x="5158576" y="5086213"/>
                    <a:pt x="5601523" y="5260541"/>
                    <a:pt x="5894262" y="5664017"/>
                  </a:cubicBezTo>
                  <a:cubicBezTo>
                    <a:pt x="6187001" y="6067493"/>
                    <a:pt x="6589381" y="6796601"/>
                    <a:pt x="6736299" y="7025749"/>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53" name="Google Shape;153;p10"/>
          <p:cNvGrpSpPr/>
          <p:nvPr/>
        </p:nvGrpSpPr>
        <p:grpSpPr>
          <a:xfrm>
            <a:off x="-1552506" y="1328840"/>
            <a:ext cx="15025287" cy="5702432"/>
            <a:chOff x="-1028062" y="1775602"/>
            <a:chExt cx="14500843" cy="5255670"/>
          </a:xfrm>
        </p:grpSpPr>
        <p:sp>
          <p:nvSpPr>
            <p:cNvPr id="154" name="Google Shape;154;p10"/>
            <p:cNvSpPr/>
            <p:nvPr/>
          </p:nvSpPr>
          <p:spPr>
            <a:xfrm>
              <a:off x="-1028062" y="1775602"/>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10"/>
            <p:cNvSpPr/>
            <p:nvPr/>
          </p:nvSpPr>
          <p:spPr>
            <a:xfrm>
              <a:off x="-875662" y="18930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10"/>
            <p:cNvSpPr/>
            <p:nvPr/>
          </p:nvSpPr>
          <p:spPr>
            <a:xfrm>
              <a:off x="-723262" y="20454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p10"/>
            <p:cNvSpPr/>
            <p:nvPr/>
          </p:nvSpPr>
          <p:spPr>
            <a:xfrm>
              <a:off x="-570862" y="21978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10"/>
            <p:cNvSpPr/>
            <p:nvPr/>
          </p:nvSpPr>
          <p:spPr>
            <a:xfrm>
              <a:off x="-418462" y="23502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10"/>
            <p:cNvSpPr/>
            <p:nvPr/>
          </p:nvSpPr>
          <p:spPr>
            <a:xfrm>
              <a:off x="-266062" y="25026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10"/>
            <p:cNvSpPr/>
            <p:nvPr/>
          </p:nvSpPr>
          <p:spPr>
            <a:xfrm>
              <a:off x="-115671" y="26771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10"/>
            <p:cNvSpPr/>
            <p:nvPr/>
          </p:nvSpPr>
          <p:spPr>
            <a:xfrm>
              <a:off x="36729" y="28295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10"/>
            <p:cNvSpPr/>
            <p:nvPr/>
          </p:nvSpPr>
          <p:spPr>
            <a:xfrm>
              <a:off x="189129" y="29819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10"/>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10"/>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10"/>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6" name="Shape 166"/>
        <p:cNvGrpSpPr/>
        <p:nvPr/>
      </p:nvGrpSpPr>
      <p:grpSpPr>
        <a:xfrm>
          <a:off x="0" y="0"/>
          <a:ext cx="0" cy="0"/>
          <a:chOff x="0" y="0"/>
          <a:chExt cx="0" cy="0"/>
        </a:xfrm>
      </p:grpSpPr>
      <p:sp>
        <p:nvSpPr>
          <p:cNvPr id="167" name="Google Shape;167;p11"/>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68" name="Google Shape;168;p11"/>
          <p:cNvGrpSpPr/>
          <p:nvPr/>
        </p:nvGrpSpPr>
        <p:grpSpPr>
          <a:xfrm>
            <a:off x="-1341996" y="3657600"/>
            <a:ext cx="14551458" cy="4029984"/>
            <a:chOff x="-1350448" y="3657600"/>
            <a:chExt cx="14078468" cy="4029984"/>
          </a:xfrm>
        </p:grpSpPr>
        <p:sp>
          <p:nvSpPr>
            <p:cNvPr id="169" name="Google Shape;169;p11"/>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11"/>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11"/>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11"/>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11"/>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11"/>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11"/>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p11"/>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11"/>
          <p:cNvSpPr/>
          <p:nvPr>
            <p:ph idx="2" type="pic"/>
          </p:nvPr>
        </p:nvSpPr>
        <p:spPr>
          <a:xfrm>
            <a:off x="5183188" y="987425"/>
            <a:ext cx="6172200" cy="4873625"/>
          </a:xfrm>
          <a:prstGeom prst="rect">
            <a:avLst/>
          </a:prstGeom>
          <a:noFill/>
          <a:ln>
            <a:noFill/>
          </a:ln>
        </p:spPr>
      </p:sp>
      <p:sp>
        <p:nvSpPr>
          <p:cNvPr id="179" name="Google Shape;17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80" name="Google Shape;180;p11"/>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11"/>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11"/>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3" name="Shape 183"/>
        <p:cNvGrpSpPr/>
        <p:nvPr/>
      </p:nvGrpSpPr>
      <p:grpSpPr>
        <a:xfrm>
          <a:off x="0" y="0"/>
          <a:ext cx="0" cy="0"/>
          <a:chOff x="0" y="0"/>
          <a:chExt cx="0" cy="0"/>
        </a:xfrm>
      </p:grpSpPr>
      <p:sp>
        <p:nvSpPr>
          <p:cNvPr id="184" name="Google Shape;184;p12"/>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85" name="Google Shape;185;p12"/>
          <p:cNvGrpSpPr/>
          <p:nvPr/>
        </p:nvGrpSpPr>
        <p:grpSpPr>
          <a:xfrm>
            <a:off x="-1341996" y="3657600"/>
            <a:ext cx="14551458" cy="4029984"/>
            <a:chOff x="-1350448" y="3657600"/>
            <a:chExt cx="14078468" cy="4029984"/>
          </a:xfrm>
        </p:grpSpPr>
        <p:sp>
          <p:nvSpPr>
            <p:cNvPr id="186" name="Google Shape;186;p12"/>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12"/>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12"/>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12"/>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12"/>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12"/>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12"/>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12"/>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4" name="Google Shape;19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12"/>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12"/>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12"/>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9" name="Shape 199"/>
        <p:cNvGrpSpPr/>
        <p:nvPr/>
      </p:nvGrpSpPr>
      <p:grpSpPr>
        <a:xfrm>
          <a:off x="0" y="0"/>
          <a:ext cx="0" cy="0"/>
          <a:chOff x="0" y="0"/>
          <a:chExt cx="0" cy="0"/>
        </a:xfrm>
      </p:grpSpPr>
      <p:sp>
        <p:nvSpPr>
          <p:cNvPr id="200" name="Google Shape;200;p13"/>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01" name="Google Shape;201;p13"/>
          <p:cNvGrpSpPr/>
          <p:nvPr/>
        </p:nvGrpSpPr>
        <p:grpSpPr>
          <a:xfrm>
            <a:off x="-1341996" y="3657600"/>
            <a:ext cx="14551458" cy="4029984"/>
            <a:chOff x="-1350448" y="3657600"/>
            <a:chExt cx="14078468" cy="4029984"/>
          </a:xfrm>
        </p:grpSpPr>
        <p:sp>
          <p:nvSpPr>
            <p:cNvPr id="202" name="Google Shape;202;p13"/>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p13"/>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13"/>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13"/>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p13"/>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3"/>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13"/>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13"/>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0" name="Google Shape;210;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13"/>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13"/>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13"/>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C2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1.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8.png"/><Relationship Id="rId8"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2.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type="ctrTitle"/>
          </p:nvPr>
        </p:nvSpPr>
        <p:spPr>
          <a:xfrm>
            <a:off x="208317" y="1122363"/>
            <a:ext cx="9144000"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Arial"/>
              <a:buNone/>
            </a:pPr>
            <a:r>
              <a:rPr lang="en-US"/>
              <a:t>Challenge Name</a:t>
            </a:r>
            <a:endParaRPr/>
          </a:p>
        </p:txBody>
      </p:sp>
      <p:sp>
        <p:nvSpPr>
          <p:cNvPr id="220" name="Google Shape;220;p14"/>
          <p:cNvSpPr txBox="1"/>
          <p:nvPr>
            <p:ph idx="1" type="subTitle"/>
          </p:nvPr>
        </p:nvSpPr>
        <p:spPr>
          <a:xfrm>
            <a:off x="208317" y="3602038"/>
            <a:ext cx="9144000" cy="16557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None/>
            </a:pPr>
            <a:r>
              <a:rPr lang="en-US"/>
              <a:t>Team Name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nvSpPr>
        <p:spPr>
          <a:xfrm>
            <a:off x="720300" y="1664650"/>
            <a:ext cx="10751400" cy="2068800"/>
          </a:xfrm>
          <a:prstGeom prst="rect">
            <a:avLst/>
          </a:prstGeom>
          <a:noFill/>
          <a:ln>
            <a:noFill/>
          </a:ln>
          <a:effectLst>
            <a:outerShdw blurRad="57150" rotWithShape="0" algn="bl" dir="5400000" dist="47625">
              <a:srgbClr val="FFFFFF">
                <a:alpha val="65882"/>
              </a:srgbClr>
            </a:outerShdw>
          </a:effectLst>
        </p:spPr>
        <p:txBody>
          <a:bodyPr anchorCtr="0" anchor="t" bIns="45700" lIns="91425" spcFirstLastPara="1" rIns="91425" wrap="square" tIns="45700">
            <a:normAutofit/>
          </a:bodyPr>
          <a:lstStyle/>
          <a:p>
            <a:pPr indent="0" lvl="0" marL="457200" marR="0" rtl="0" algn="ctr">
              <a:lnSpc>
                <a:spcPct val="90000"/>
              </a:lnSpc>
              <a:spcBef>
                <a:spcPts val="0"/>
              </a:spcBef>
              <a:spcAft>
                <a:spcPts val="0"/>
              </a:spcAft>
              <a:buClr>
                <a:srgbClr val="000000"/>
              </a:buClr>
              <a:buSzPts val="6000"/>
              <a:buFont typeface="Arial"/>
              <a:buNone/>
            </a:pPr>
            <a:r>
              <a:rPr b="0" i="0" lang="en-US" sz="6000" u="none" cap="none" strike="noStrike">
                <a:solidFill>
                  <a:srgbClr val="FFFFFF"/>
                </a:solidFill>
                <a:latin typeface="Arial"/>
                <a:ea typeface="Arial"/>
                <a:cs typeface="Arial"/>
                <a:sym typeface="Arial"/>
              </a:rPr>
              <a:t>The Theme of Your</a:t>
            </a:r>
            <a:endParaRPr b="0" i="0" sz="6000" u="none" cap="none" strike="noStrike">
              <a:solidFill>
                <a:srgbClr val="FFFFFF"/>
              </a:solidFill>
              <a:latin typeface="Arial"/>
              <a:ea typeface="Arial"/>
              <a:cs typeface="Arial"/>
              <a:sym typeface="Arial"/>
            </a:endParaRPr>
          </a:p>
          <a:p>
            <a:pPr indent="0" lvl="0" marL="457200" marR="0" rtl="0" algn="ctr">
              <a:lnSpc>
                <a:spcPct val="90000"/>
              </a:lnSpc>
              <a:spcBef>
                <a:spcPts val="0"/>
              </a:spcBef>
              <a:spcAft>
                <a:spcPts val="0"/>
              </a:spcAft>
              <a:buClr>
                <a:srgbClr val="000000"/>
              </a:buClr>
              <a:buSzPts val="6000"/>
              <a:buFont typeface="Arial"/>
              <a:buNone/>
            </a:pPr>
            <a:r>
              <a:rPr b="0" i="0" lang="en-US" sz="6000" u="none" cap="none" strike="noStrike">
                <a:solidFill>
                  <a:srgbClr val="FFFFFF"/>
                </a:solidFill>
                <a:latin typeface="Arial"/>
                <a:ea typeface="Arial"/>
                <a:cs typeface="Arial"/>
                <a:sym typeface="Arial"/>
              </a:rPr>
              <a:t>Design Competition</a:t>
            </a:r>
            <a:endParaRPr b="0" i="0" sz="60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Important Topic 🤯</a:t>
            </a:r>
            <a:endParaRPr/>
          </a:p>
        </p:txBody>
      </p:sp>
      <p:sp>
        <p:nvSpPr>
          <p:cNvPr id="231" name="Google Shape;231;p16"/>
          <p:cNvSpPr txBox="1"/>
          <p:nvPr>
            <p:ph idx="1" type="body"/>
          </p:nvPr>
        </p:nvSpPr>
        <p:spPr>
          <a:xfrm>
            <a:off x="838200" y="1825625"/>
            <a:ext cx="96432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You’re presenting these slides in front of people</a:t>
            </a:r>
            <a:endParaRPr/>
          </a:p>
          <a:p>
            <a:pPr indent="-228600" lvl="1" marL="685800" rtl="0" algn="l">
              <a:lnSpc>
                <a:spcPct val="90000"/>
              </a:lnSpc>
              <a:spcBef>
                <a:spcPts val="500"/>
              </a:spcBef>
              <a:spcAft>
                <a:spcPts val="0"/>
              </a:spcAft>
              <a:buClr>
                <a:schemeClr val="lt1"/>
              </a:buClr>
              <a:buSzPts val="2400"/>
              <a:buChar char="•"/>
            </a:pPr>
            <a:r>
              <a:rPr lang="en-US">
                <a:latin typeface="Arial"/>
                <a:ea typeface="Arial"/>
                <a:cs typeface="Arial"/>
                <a:sym typeface="Arial"/>
              </a:rPr>
              <a:t>Try not to use so many words on screen!</a:t>
            </a:r>
            <a:endParaRPr>
              <a:latin typeface="Arial"/>
              <a:ea typeface="Arial"/>
              <a:cs typeface="Arial"/>
              <a:sym typeface="Arial"/>
            </a:endParaRPr>
          </a:p>
          <a:p>
            <a:pPr indent="0" lvl="0" marL="0" rtl="0" algn="l">
              <a:lnSpc>
                <a:spcPct val="90000"/>
              </a:lnSpc>
              <a:spcBef>
                <a:spcPts val="500"/>
              </a:spcBef>
              <a:spcAft>
                <a:spcPts val="0"/>
              </a:spcAft>
              <a:buSzPts val="1800"/>
              <a:buNone/>
            </a:pPr>
            <a:r>
              <a:t/>
            </a:r>
            <a:endParaRPr/>
          </a:p>
          <a:p>
            <a:pPr indent="-342900" lvl="0" marL="457200" rtl="0" algn="l">
              <a:lnSpc>
                <a:spcPct val="90000"/>
              </a:lnSpc>
              <a:spcBef>
                <a:spcPts val="500"/>
              </a:spcBef>
              <a:spcAft>
                <a:spcPts val="0"/>
              </a:spcAft>
              <a:buSzPts val="1800"/>
              <a:buChar char="•"/>
            </a:pPr>
            <a:r>
              <a:rPr lang="en-US"/>
              <a:t>Instead, limit yourself to as little words as possible on the slide</a:t>
            </a:r>
            <a:endParaRPr/>
          </a:p>
          <a:p>
            <a:pPr indent="-381000" lvl="1" marL="914400" rtl="0" algn="l">
              <a:lnSpc>
                <a:spcPct val="90000"/>
              </a:lnSpc>
              <a:spcBef>
                <a:spcPts val="500"/>
              </a:spcBef>
              <a:spcAft>
                <a:spcPts val="0"/>
              </a:spcAft>
              <a:buSzPts val="2400"/>
              <a:buChar char="•"/>
            </a:pPr>
            <a:r>
              <a:rPr lang="en-US">
                <a:latin typeface="Arial"/>
                <a:ea typeface="Arial"/>
                <a:cs typeface="Arial"/>
                <a:sym typeface="Arial"/>
              </a:rPr>
              <a:t>Focus on speaking the most and practicing public speech</a:t>
            </a:r>
            <a:endParaRPr>
              <a:latin typeface="Arial"/>
              <a:ea typeface="Arial"/>
              <a:cs typeface="Arial"/>
              <a:sym typeface="Arial"/>
            </a:endParaRPr>
          </a:p>
          <a:p>
            <a:pPr indent="-381000" lvl="1" marL="914400" rtl="0" algn="l">
              <a:lnSpc>
                <a:spcPct val="90000"/>
              </a:lnSpc>
              <a:spcBef>
                <a:spcPts val="500"/>
              </a:spcBef>
              <a:spcAft>
                <a:spcPts val="0"/>
              </a:spcAft>
              <a:buSzPts val="2400"/>
              <a:buChar char="•"/>
            </a:pPr>
            <a:r>
              <a:rPr lang="en-US">
                <a:latin typeface="Arial"/>
                <a:ea typeface="Arial"/>
                <a:cs typeface="Arial"/>
                <a:sym typeface="Arial"/>
              </a:rPr>
              <a:t>You can use speaker notes below to hide all your speaking words from the audience</a:t>
            </a:r>
            <a:endParaRPr>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Displaying Content</a:t>
            </a:r>
            <a:endParaRPr/>
          </a:p>
        </p:txBody>
      </p:sp>
      <p:sp>
        <p:nvSpPr>
          <p:cNvPr id="237" name="Google Shape;237;p17"/>
          <p:cNvSpPr txBox="1"/>
          <p:nvPr>
            <p:ph idx="1" type="body"/>
          </p:nvPr>
        </p:nvSpPr>
        <p:spPr>
          <a:xfrm>
            <a:off x="838200" y="1825625"/>
            <a:ext cx="9270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Show off those trade studies and how you came to your decisions!</a:t>
            </a:r>
            <a:endParaRPr/>
          </a:p>
          <a:p>
            <a:pPr indent="-381000" lvl="1" marL="914400" rtl="0" algn="l">
              <a:lnSpc>
                <a:spcPct val="90000"/>
              </a:lnSpc>
              <a:spcBef>
                <a:spcPts val="0"/>
              </a:spcBef>
              <a:spcAft>
                <a:spcPts val="0"/>
              </a:spcAft>
              <a:buSzPts val="2400"/>
              <a:buChar char="•"/>
            </a:pPr>
            <a:r>
              <a:rPr lang="en-US">
                <a:latin typeface="Arial"/>
                <a:ea typeface="Arial"/>
                <a:cs typeface="Arial"/>
                <a:sym typeface="Arial"/>
              </a:rPr>
              <a:t>When talking about research, talking in depth but still at a simple level can bring the audience in</a:t>
            </a:r>
            <a:endParaRPr>
              <a:latin typeface="Arial"/>
              <a:ea typeface="Arial"/>
              <a:cs typeface="Arial"/>
              <a:sym typeface="Arial"/>
            </a:endParaRPr>
          </a:p>
          <a:p>
            <a:pPr indent="0" lvl="0" marL="0" rtl="0" algn="l">
              <a:lnSpc>
                <a:spcPct val="90000"/>
              </a:lnSpc>
              <a:spcBef>
                <a:spcPts val="0"/>
              </a:spcBef>
              <a:spcAft>
                <a:spcPts val="0"/>
              </a:spcAft>
              <a:buSzPts val="1800"/>
              <a:buNone/>
            </a:pPr>
            <a:r>
              <a:rPr lang="en-US"/>
              <a:t> </a:t>
            </a:r>
            <a:endParaRPr/>
          </a:p>
          <a:p>
            <a:pPr indent="-342900" lvl="0" marL="457200" rtl="0" algn="l">
              <a:lnSpc>
                <a:spcPct val="90000"/>
              </a:lnSpc>
              <a:spcBef>
                <a:spcPts val="0"/>
              </a:spcBef>
              <a:spcAft>
                <a:spcPts val="0"/>
              </a:spcAft>
              <a:buSzPts val="1800"/>
              <a:buChar char="•"/>
            </a:pPr>
            <a:r>
              <a:rPr lang="en-US"/>
              <a:t>This is good practice and a good way to get effective feedback from your peers!</a:t>
            </a:r>
            <a:endParaRPr/>
          </a:p>
          <a:p>
            <a:pPr indent="-381000" lvl="1" marL="914400" rtl="0" algn="l">
              <a:lnSpc>
                <a:spcPct val="90000"/>
              </a:lnSpc>
              <a:spcBef>
                <a:spcPts val="0"/>
              </a:spcBef>
              <a:spcAft>
                <a:spcPts val="0"/>
              </a:spcAft>
              <a:buSzPts val="2400"/>
              <a:buChar char="•"/>
            </a:pPr>
            <a:r>
              <a:rPr lang="en-US">
                <a:latin typeface="Arial"/>
                <a:ea typeface="Arial"/>
                <a:cs typeface="Arial"/>
                <a:sym typeface="Arial"/>
              </a:rPr>
              <a:t>It is also a good test to see if you’re at a good place or if there is still work to be done (don’t be scared)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Images</a:t>
            </a:r>
            <a:endParaRPr/>
          </a:p>
        </p:txBody>
      </p:sp>
      <p:sp>
        <p:nvSpPr>
          <p:cNvPr id="243" name="Google Shape;24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IMAGES SHOULD LOOK LIKE ONE OF THE FOLLOWING</a:t>
            </a:r>
            <a:endParaRPr/>
          </a:p>
          <a:p>
            <a:pPr indent="-228600" lvl="1" marL="685800" rtl="0" algn="l">
              <a:lnSpc>
                <a:spcPct val="90000"/>
              </a:lnSpc>
              <a:spcBef>
                <a:spcPts val="500"/>
              </a:spcBef>
              <a:spcAft>
                <a:spcPts val="0"/>
              </a:spcAft>
              <a:buClr>
                <a:schemeClr val="lt1"/>
              </a:buClr>
              <a:buSzPts val="2400"/>
              <a:buChar char="•"/>
            </a:pPr>
            <a:r>
              <a:rPr lang="en-US">
                <a:latin typeface="Arial"/>
                <a:ea typeface="Arial"/>
                <a:cs typeface="Arial"/>
                <a:sym typeface="Arial"/>
              </a:rPr>
              <a:t>Non transparent images should have a blue outline</a:t>
            </a:r>
            <a:endParaRPr>
              <a:latin typeface="Arial"/>
              <a:ea typeface="Arial"/>
              <a:cs typeface="Arial"/>
              <a:sym typeface="Arial"/>
            </a:endParaRPr>
          </a:p>
          <a:p>
            <a:pPr indent="-228600" lvl="1" marL="685800" rtl="0" algn="l">
              <a:lnSpc>
                <a:spcPct val="90000"/>
              </a:lnSpc>
              <a:spcBef>
                <a:spcPts val="500"/>
              </a:spcBef>
              <a:spcAft>
                <a:spcPts val="0"/>
              </a:spcAft>
              <a:buClr>
                <a:schemeClr val="lt1"/>
              </a:buClr>
              <a:buSzPts val="2400"/>
              <a:buChar char="•"/>
            </a:pPr>
            <a:r>
              <a:rPr lang="en-US">
                <a:latin typeface="Arial"/>
                <a:ea typeface="Arial"/>
                <a:cs typeface="Arial"/>
                <a:sym typeface="Arial"/>
              </a:rPr>
              <a:t>Transparent ones do not require an outline</a:t>
            </a:r>
            <a:endParaRPr>
              <a:latin typeface="Arial"/>
              <a:ea typeface="Arial"/>
              <a:cs typeface="Arial"/>
              <a:sym typeface="Arial"/>
            </a:endParaRPr>
          </a:p>
        </p:txBody>
      </p:sp>
      <p:pic>
        <p:nvPicPr>
          <p:cNvPr descr="Amazon.com: Kunfund Touhou Project Plushie Stuffed Doll Hakurei Reimu Anime  Figure Xmas Gift Fumo 20cm : Toys &amp; Games" id="244" name="Google Shape;244;p18"/>
          <p:cNvPicPr preferRelativeResize="0"/>
          <p:nvPr/>
        </p:nvPicPr>
        <p:blipFill rotWithShape="1">
          <a:blip r:embed="rId3">
            <a:alphaModFix/>
          </a:blip>
          <a:srcRect b="0" l="0" r="0" t="0"/>
          <a:stretch/>
        </p:blipFill>
        <p:spPr>
          <a:xfrm>
            <a:off x="2716733" y="3380354"/>
            <a:ext cx="2000488" cy="2954565"/>
          </a:xfrm>
          <a:prstGeom prst="rect">
            <a:avLst/>
          </a:prstGeom>
          <a:noFill/>
          <a:ln cap="flat" cmpd="sng" w="9525">
            <a:solidFill>
              <a:schemeClr val="accent3"/>
            </a:solidFill>
            <a:prstDash val="solid"/>
            <a:round/>
            <a:headEnd len="sm" w="sm" type="none"/>
            <a:tailEnd len="sm" w="sm" type="none"/>
          </a:ln>
        </p:spPr>
      </p:pic>
      <p:pic>
        <p:nvPicPr>
          <p:cNvPr descr="reisen fumo png : r/fumotouhou" id="245" name="Google Shape;245;p18"/>
          <p:cNvPicPr preferRelativeResize="0"/>
          <p:nvPr/>
        </p:nvPicPr>
        <p:blipFill rotWithShape="1">
          <a:blip r:embed="rId4">
            <a:alphaModFix/>
          </a:blip>
          <a:srcRect b="0" l="0" r="0" t="0"/>
          <a:stretch/>
        </p:blipFill>
        <p:spPr>
          <a:xfrm>
            <a:off x="6957504" y="3691071"/>
            <a:ext cx="2000488" cy="28018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ph type="title"/>
          </p:nvPr>
        </p:nvSpPr>
        <p:spPr>
          <a:xfrm>
            <a:off x="2725800" y="2091850"/>
            <a:ext cx="67404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Any Questions?</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0"/>
          <p:cNvSpPr txBox="1"/>
          <p:nvPr>
            <p:ph type="title"/>
          </p:nvPr>
        </p:nvSpPr>
        <p:spPr>
          <a:xfrm>
            <a:off x="586350" y="428550"/>
            <a:ext cx="110193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Thermals, Mechanisms, Structures (TMS)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Material Justification</a:t>
            </a:r>
            <a:endParaRPr/>
          </a:p>
        </p:txBody>
      </p:sp>
      <p:pic>
        <p:nvPicPr>
          <p:cNvPr id="261" name="Google Shape;261;p21"/>
          <p:cNvPicPr preferRelativeResize="0"/>
          <p:nvPr/>
        </p:nvPicPr>
        <p:blipFill rotWithShape="1">
          <a:blip r:embed="rId3">
            <a:alphaModFix/>
          </a:blip>
          <a:srcRect b="0" l="0" r="0" t="19244"/>
          <a:stretch/>
        </p:blipFill>
        <p:spPr>
          <a:xfrm>
            <a:off x="478050" y="1690825"/>
            <a:ext cx="10875750" cy="4758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Material Selection</a:t>
            </a:r>
            <a:endParaRPr/>
          </a:p>
        </p:txBody>
      </p:sp>
      <p:pic>
        <p:nvPicPr>
          <p:cNvPr id="267" name="Google Shape;267;p22"/>
          <p:cNvPicPr preferRelativeResize="0"/>
          <p:nvPr/>
        </p:nvPicPr>
        <p:blipFill>
          <a:blip r:embed="rId3">
            <a:alphaModFix/>
          </a:blip>
          <a:stretch>
            <a:fillRect/>
          </a:stretch>
        </p:blipFill>
        <p:spPr>
          <a:xfrm>
            <a:off x="152400" y="1690825"/>
            <a:ext cx="11547500" cy="4781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Cooling</a:t>
            </a:r>
            <a:endParaRPr/>
          </a:p>
        </p:txBody>
      </p:sp>
      <p:pic>
        <p:nvPicPr>
          <p:cNvPr id="273" name="Google Shape;273;p23"/>
          <p:cNvPicPr preferRelativeResize="0"/>
          <p:nvPr/>
        </p:nvPicPr>
        <p:blipFill>
          <a:blip r:embed="rId3">
            <a:alphaModFix/>
          </a:blip>
          <a:stretch>
            <a:fillRect/>
          </a:stretch>
        </p:blipFill>
        <p:spPr>
          <a:xfrm>
            <a:off x="838200" y="1637025"/>
            <a:ext cx="10515600" cy="39613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Bolt Material</a:t>
            </a:r>
            <a:endParaRPr/>
          </a:p>
        </p:txBody>
      </p:sp>
      <p:sp>
        <p:nvSpPr>
          <p:cNvPr id="279" name="Google Shape;279;p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80" name="Google Shape;280;p24"/>
          <p:cNvPicPr preferRelativeResize="0"/>
          <p:nvPr/>
        </p:nvPicPr>
        <p:blipFill>
          <a:blip r:embed="rId3">
            <a:alphaModFix/>
          </a:blip>
          <a:stretch>
            <a:fillRect/>
          </a:stretch>
        </p:blipFill>
        <p:spPr>
          <a:xfrm>
            <a:off x="838199" y="1656611"/>
            <a:ext cx="10906624" cy="4689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Motor Selection </a:t>
            </a:r>
            <a:endParaRPr/>
          </a:p>
        </p:txBody>
      </p:sp>
      <p:pic>
        <p:nvPicPr>
          <p:cNvPr id="286" name="Google Shape;286;p25" title="Screenshot 2025-10-26 000243.png"/>
          <p:cNvPicPr preferRelativeResize="0"/>
          <p:nvPr/>
        </p:nvPicPr>
        <p:blipFill>
          <a:blip r:embed="rId3">
            <a:alphaModFix/>
          </a:blip>
          <a:stretch>
            <a:fillRect/>
          </a:stretch>
        </p:blipFill>
        <p:spPr>
          <a:xfrm>
            <a:off x="-66325" y="1946950"/>
            <a:ext cx="12192001" cy="4264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Potting Compounds</a:t>
            </a:r>
            <a:endParaRPr/>
          </a:p>
        </p:txBody>
      </p:sp>
      <p:pic>
        <p:nvPicPr>
          <p:cNvPr id="292" name="Google Shape;292;p26" title="Screenshot 2025-10-25 220740.jpg"/>
          <p:cNvPicPr preferRelativeResize="0"/>
          <p:nvPr/>
        </p:nvPicPr>
        <p:blipFill>
          <a:blip r:embed="rId3">
            <a:alphaModFix/>
          </a:blip>
          <a:stretch>
            <a:fillRect/>
          </a:stretch>
        </p:blipFill>
        <p:spPr>
          <a:xfrm>
            <a:off x="422387" y="2063750"/>
            <a:ext cx="11347225" cy="3616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Waterproofing Servo Motors</a:t>
            </a:r>
            <a:endParaRPr/>
          </a:p>
        </p:txBody>
      </p:sp>
      <p:pic>
        <p:nvPicPr>
          <p:cNvPr id="298" name="Google Shape;298;p27" title="Screenshot 2025-10-25 220159.png"/>
          <p:cNvPicPr preferRelativeResize="0"/>
          <p:nvPr/>
        </p:nvPicPr>
        <p:blipFill>
          <a:blip r:embed="rId3">
            <a:alphaModFix/>
          </a:blip>
          <a:stretch>
            <a:fillRect/>
          </a:stretch>
        </p:blipFill>
        <p:spPr>
          <a:xfrm>
            <a:off x="382649" y="2154975"/>
            <a:ext cx="11303601" cy="2704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8"/>
          <p:cNvSpPr txBox="1"/>
          <p:nvPr>
            <p:ph type="title"/>
          </p:nvPr>
        </p:nvSpPr>
        <p:spPr>
          <a:xfrm>
            <a:off x="586350" y="428550"/>
            <a:ext cx="110193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Guidance Navigation and Control (GNC)</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Camera Systems</a:t>
            </a:r>
            <a:endParaRPr/>
          </a:p>
        </p:txBody>
      </p:sp>
      <p:pic>
        <p:nvPicPr>
          <p:cNvPr id="309" name="Google Shape;309;p29" title="Screenshot 2025-10-26 at 12.42.57 PM.png"/>
          <p:cNvPicPr preferRelativeResize="0"/>
          <p:nvPr/>
        </p:nvPicPr>
        <p:blipFill>
          <a:blip r:embed="rId3">
            <a:alphaModFix/>
          </a:blip>
          <a:stretch>
            <a:fillRect/>
          </a:stretch>
        </p:blipFill>
        <p:spPr>
          <a:xfrm>
            <a:off x="152400" y="1843225"/>
            <a:ext cx="11887201" cy="313432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Operating Systems</a:t>
            </a:r>
            <a:endParaRPr/>
          </a:p>
        </p:txBody>
      </p:sp>
      <p:pic>
        <p:nvPicPr>
          <p:cNvPr id="315" name="Google Shape;315;p30"/>
          <p:cNvPicPr preferRelativeResize="0"/>
          <p:nvPr/>
        </p:nvPicPr>
        <p:blipFill>
          <a:blip r:embed="rId3">
            <a:alphaModFix/>
          </a:blip>
          <a:stretch>
            <a:fillRect/>
          </a:stretch>
        </p:blipFill>
        <p:spPr>
          <a:xfrm>
            <a:off x="152400" y="1843225"/>
            <a:ext cx="11887198" cy="417694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IMUs</a:t>
            </a:r>
            <a:endParaRPr/>
          </a:p>
        </p:txBody>
      </p:sp>
      <p:pic>
        <p:nvPicPr>
          <p:cNvPr id="321" name="Google Shape;321;p31" title="Screenshot 2025-10-25 at 8.44.28 AM.png"/>
          <p:cNvPicPr preferRelativeResize="0"/>
          <p:nvPr/>
        </p:nvPicPr>
        <p:blipFill>
          <a:blip r:embed="rId3">
            <a:alphaModFix/>
          </a:blip>
          <a:stretch>
            <a:fillRect/>
          </a:stretch>
        </p:blipFill>
        <p:spPr>
          <a:xfrm>
            <a:off x="152400" y="1873125"/>
            <a:ext cx="11887201" cy="3883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Simulation Software</a:t>
            </a:r>
            <a:endParaRPr/>
          </a:p>
        </p:txBody>
      </p:sp>
      <p:pic>
        <p:nvPicPr>
          <p:cNvPr id="327" name="Google Shape;327;p32" title="Screenshot 2025-10-26 at 2.40.20 PM.png"/>
          <p:cNvPicPr preferRelativeResize="0"/>
          <p:nvPr/>
        </p:nvPicPr>
        <p:blipFill>
          <a:blip r:embed="rId3">
            <a:alphaModFix/>
          </a:blip>
          <a:stretch>
            <a:fillRect/>
          </a:stretch>
        </p:blipFill>
        <p:spPr>
          <a:xfrm>
            <a:off x="152400" y="1843225"/>
            <a:ext cx="11887201" cy="36625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Single Board Computers</a:t>
            </a:r>
            <a:endParaRPr/>
          </a:p>
        </p:txBody>
      </p:sp>
      <p:pic>
        <p:nvPicPr>
          <p:cNvPr id="333" name="Google Shape;333;p33" title="Screenshot 2025-10-26 at 2.40.20 PM.png"/>
          <p:cNvPicPr preferRelativeResize="0"/>
          <p:nvPr/>
        </p:nvPicPr>
        <p:blipFill>
          <a:blip r:embed="rId3">
            <a:alphaModFix/>
          </a:blip>
          <a:stretch>
            <a:fillRect/>
          </a:stretch>
        </p:blipFill>
        <p:spPr>
          <a:xfrm>
            <a:off x="152400" y="1843225"/>
            <a:ext cx="11887201" cy="36625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4"/>
          <p:cNvSpPr txBox="1"/>
          <p:nvPr>
            <p:ph type="title"/>
          </p:nvPr>
        </p:nvSpPr>
        <p:spPr>
          <a:xfrm>
            <a:off x="586350" y="428550"/>
            <a:ext cx="110193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Computation and Communications (C&amp;C)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Microcontroller</a:t>
            </a:r>
            <a:endParaRPr/>
          </a:p>
        </p:txBody>
      </p:sp>
      <p:pic>
        <p:nvPicPr>
          <p:cNvPr id="344" name="Google Shape;344;p35"/>
          <p:cNvPicPr preferRelativeResize="0"/>
          <p:nvPr/>
        </p:nvPicPr>
        <p:blipFill>
          <a:blip r:embed="rId3">
            <a:alphaModFix/>
          </a:blip>
          <a:stretch>
            <a:fillRect/>
          </a:stretch>
        </p:blipFill>
        <p:spPr>
          <a:xfrm>
            <a:off x="152400" y="1557888"/>
            <a:ext cx="11887202" cy="478575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C3 Station Outside Design</a:t>
            </a:r>
            <a:endParaRPr/>
          </a:p>
        </p:txBody>
      </p:sp>
      <p:pic>
        <p:nvPicPr>
          <p:cNvPr id="350" name="Google Shape;350;p36"/>
          <p:cNvPicPr preferRelativeResize="0"/>
          <p:nvPr/>
        </p:nvPicPr>
        <p:blipFill>
          <a:blip r:embed="rId3">
            <a:alphaModFix/>
          </a:blip>
          <a:stretch>
            <a:fillRect/>
          </a:stretch>
        </p:blipFill>
        <p:spPr>
          <a:xfrm>
            <a:off x="1237800" y="1567325"/>
            <a:ext cx="9716394" cy="48623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C3 Station Movement Input Device</a:t>
            </a:r>
            <a:endParaRPr/>
          </a:p>
        </p:txBody>
      </p:sp>
      <p:pic>
        <p:nvPicPr>
          <p:cNvPr id="356" name="Google Shape;356;p37"/>
          <p:cNvPicPr preferRelativeResize="0"/>
          <p:nvPr/>
        </p:nvPicPr>
        <p:blipFill rotWithShape="1">
          <a:blip r:embed="rId3">
            <a:alphaModFix/>
          </a:blip>
          <a:srcRect b="0" l="0" r="0" t="0"/>
          <a:stretch/>
        </p:blipFill>
        <p:spPr>
          <a:xfrm>
            <a:off x="152400" y="1833375"/>
            <a:ext cx="11887201" cy="4474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Depth Sensor</a:t>
            </a:r>
            <a:endParaRPr/>
          </a:p>
        </p:txBody>
      </p:sp>
      <p:pic>
        <p:nvPicPr>
          <p:cNvPr id="362" name="Google Shape;362;p38"/>
          <p:cNvPicPr preferRelativeResize="0"/>
          <p:nvPr/>
        </p:nvPicPr>
        <p:blipFill>
          <a:blip r:embed="rId3">
            <a:alphaModFix/>
          </a:blip>
          <a:stretch>
            <a:fillRect/>
          </a:stretch>
        </p:blipFill>
        <p:spPr>
          <a:xfrm>
            <a:off x="300025" y="1596763"/>
            <a:ext cx="11591925" cy="4686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Lights</a:t>
            </a:r>
            <a:endParaRPr/>
          </a:p>
        </p:txBody>
      </p:sp>
      <p:pic>
        <p:nvPicPr>
          <p:cNvPr id="368" name="Google Shape;368;p39"/>
          <p:cNvPicPr preferRelativeResize="0"/>
          <p:nvPr/>
        </p:nvPicPr>
        <p:blipFill>
          <a:blip r:embed="rId3">
            <a:alphaModFix/>
          </a:blip>
          <a:stretch>
            <a:fillRect/>
          </a:stretch>
        </p:blipFill>
        <p:spPr>
          <a:xfrm>
            <a:off x="328613" y="1753209"/>
            <a:ext cx="11534775" cy="4419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0"/>
          <p:cNvSpPr txBox="1"/>
          <p:nvPr>
            <p:ph type="title"/>
          </p:nvPr>
        </p:nvSpPr>
        <p:spPr>
          <a:xfrm>
            <a:off x="586350" y="428550"/>
            <a:ext cx="110193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Fluids &amp; Propulsion (F&amp;P)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Shroud Design</a:t>
            </a:r>
            <a:endParaRPr/>
          </a:p>
        </p:txBody>
      </p:sp>
      <p:pic>
        <p:nvPicPr>
          <p:cNvPr id="379" name="Google Shape;379;p41" title="Screenshot 2025-10-26 at 11.54.48 AM.png"/>
          <p:cNvPicPr preferRelativeResize="0"/>
          <p:nvPr/>
        </p:nvPicPr>
        <p:blipFill>
          <a:blip r:embed="rId3">
            <a:alphaModFix/>
          </a:blip>
          <a:stretch>
            <a:fillRect/>
          </a:stretch>
        </p:blipFill>
        <p:spPr>
          <a:xfrm>
            <a:off x="648438" y="1690825"/>
            <a:ext cx="10895124" cy="4862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Shroud Materials</a:t>
            </a:r>
            <a:endParaRPr/>
          </a:p>
        </p:txBody>
      </p:sp>
      <p:pic>
        <p:nvPicPr>
          <p:cNvPr id="385" name="Google Shape;385;p42" title="Screenshot 2025-10-26 at 11.57.14 AM.png"/>
          <p:cNvPicPr preferRelativeResize="0"/>
          <p:nvPr/>
        </p:nvPicPr>
        <p:blipFill>
          <a:blip r:embed="rId3">
            <a:alphaModFix/>
          </a:blip>
          <a:stretch>
            <a:fillRect/>
          </a:stretch>
        </p:blipFill>
        <p:spPr>
          <a:xfrm>
            <a:off x="0" y="1690825"/>
            <a:ext cx="11887201" cy="446350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Mesh Design</a:t>
            </a:r>
            <a:endParaRPr/>
          </a:p>
        </p:txBody>
      </p:sp>
      <p:pic>
        <p:nvPicPr>
          <p:cNvPr id="391" name="Google Shape;391;p43" title="Screenshot 2025-10-26 at 12.01.15 PM.png"/>
          <p:cNvPicPr preferRelativeResize="0"/>
          <p:nvPr/>
        </p:nvPicPr>
        <p:blipFill>
          <a:blip r:embed="rId3">
            <a:alphaModFix/>
          </a:blip>
          <a:stretch>
            <a:fillRect/>
          </a:stretch>
        </p:blipFill>
        <p:spPr>
          <a:xfrm>
            <a:off x="127975" y="1690825"/>
            <a:ext cx="11499013" cy="48623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Mesh Materials</a:t>
            </a:r>
            <a:endParaRPr/>
          </a:p>
        </p:txBody>
      </p:sp>
      <p:pic>
        <p:nvPicPr>
          <p:cNvPr id="397" name="Google Shape;397;p44" title="Screenshot 2025-10-26 at 12.02.38 PM.png"/>
          <p:cNvPicPr preferRelativeResize="0"/>
          <p:nvPr/>
        </p:nvPicPr>
        <p:blipFill>
          <a:blip r:embed="rId3">
            <a:alphaModFix/>
          </a:blip>
          <a:stretch>
            <a:fillRect/>
          </a:stretch>
        </p:blipFill>
        <p:spPr>
          <a:xfrm>
            <a:off x="152400" y="1818800"/>
            <a:ext cx="11887201" cy="430678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Summary of Thruster Guard Shroud &amp; Mesh</a:t>
            </a:r>
            <a:endParaRPr/>
          </a:p>
        </p:txBody>
      </p:sp>
      <p:graphicFrame>
        <p:nvGraphicFramePr>
          <p:cNvPr id="403" name="Google Shape;403;p45"/>
          <p:cNvGraphicFramePr/>
          <p:nvPr/>
        </p:nvGraphicFramePr>
        <p:xfrm>
          <a:off x="512875" y="1690825"/>
          <a:ext cx="3000000" cy="3000000"/>
        </p:xfrm>
        <a:graphic>
          <a:graphicData uri="http://schemas.openxmlformats.org/drawingml/2006/table">
            <a:tbl>
              <a:tblPr>
                <a:noFill/>
                <a:tableStyleId>{EFB189D9-1237-4E64-B087-F602AF38439B}</a:tableStyleId>
              </a:tblPr>
              <a:tblGrid>
                <a:gridCol w="3722075"/>
                <a:gridCol w="3722075"/>
                <a:gridCol w="3722075"/>
              </a:tblGrid>
              <a:tr h="737575">
                <a:tc>
                  <a:txBody>
                    <a:bodyPr/>
                    <a:lstStyle/>
                    <a:p>
                      <a:pPr indent="0" lvl="0" marL="0" rtl="0" algn="l">
                        <a:spcBef>
                          <a:spcPts val="0"/>
                        </a:spcBef>
                        <a:spcAft>
                          <a:spcPts val="0"/>
                        </a:spcAft>
                        <a:buNone/>
                      </a:pPr>
                      <a:r>
                        <a:rPr b="1" lang="en-US" sz="1600">
                          <a:solidFill>
                            <a:schemeClr val="lt1"/>
                          </a:solidFill>
                        </a:rPr>
                        <a:t>Trade Study Considerations</a:t>
                      </a:r>
                      <a:endParaRPr b="1" sz="1600">
                        <a:solidFill>
                          <a:schemeClr val="lt1"/>
                        </a:solidFill>
                      </a:endParaRPr>
                    </a:p>
                  </a:txBody>
                  <a:tcPr marT="91425" marB="91425" marR="91425" marL="91425"/>
                </a:tc>
                <a:tc>
                  <a:txBody>
                    <a:bodyPr/>
                    <a:lstStyle/>
                    <a:p>
                      <a:pPr indent="0" lvl="0" marL="0" rtl="0" algn="l">
                        <a:spcBef>
                          <a:spcPts val="0"/>
                        </a:spcBef>
                        <a:spcAft>
                          <a:spcPts val="0"/>
                        </a:spcAft>
                        <a:buNone/>
                      </a:pPr>
                      <a:r>
                        <a:rPr b="1" lang="en-US" sz="1600">
                          <a:solidFill>
                            <a:schemeClr val="lt1"/>
                          </a:solidFill>
                        </a:rPr>
                        <a:t>Chosen Research</a:t>
                      </a:r>
                      <a:endParaRPr b="1" sz="1600">
                        <a:solidFill>
                          <a:schemeClr val="lt1"/>
                        </a:solidFill>
                      </a:endParaRPr>
                    </a:p>
                  </a:txBody>
                  <a:tcPr marT="91425" marB="91425" marR="91425" marL="91425"/>
                </a:tc>
                <a:tc>
                  <a:txBody>
                    <a:bodyPr/>
                    <a:lstStyle/>
                    <a:p>
                      <a:pPr indent="0" lvl="0" marL="0" rtl="0" algn="l">
                        <a:spcBef>
                          <a:spcPts val="0"/>
                        </a:spcBef>
                        <a:spcAft>
                          <a:spcPts val="0"/>
                        </a:spcAft>
                        <a:buNone/>
                      </a:pPr>
                      <a:r>
                        <a:rPr b="1" lang="en-US" sz="1600">
                          <a:solidFill>
                            <a:schemeClr val="lt1"/>
                          </a:solidFill>
                        </a:rPr>
                        <a:t>Reason For Choosing Research</a:t>
                      </a:r>
                      <a:endParaRPr b="1"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Thruster Guard Shroud (TGS) Design</a:t>
                      </a:r>
                      <a:endParaRPr sz="1600">
                        <a:solidFill>
                          <a:schemeClr val="lt1"/>
                        </a:solidFill>
                      </a:endParaRPr>
                    </a:p>
                  </a:txBody>
                  <a:tcPr marT="91425" marB="91425" marR="91425" marL="91425"/>
                </a:tc>
                <a:tc>
                  <a:txBody>
                    <a:bodyPr/>
                    <a:lstStyle/>
                    <a:p>
                      <a:pPr indent="0" lvl="0" marL="0" rtl="0" algn="l">
                        <a:spcBef>
                          <a:spcPts val="0"/>
                        </a:spcBef>
                        <a:spcAft>
                          <a:spcPts val="0"/>
                        </a:spcAft>
                        <a:buNone/>
                      </a:pPr>
                      <a:r>
                        <a:rPr lang="en-US" sz="1600">
                          <a:solidFill>
                            <a:schemeClr val="lt1"/>
                          </a:solidFill>
                        </a:rPr>
                        <a:t>Perforated and Open</a:t>
                      </a:r>
                      <a:endParaRPr sz="1600">
                        <a:solidFill>
                          <a:schemeClr val="lt1"/>
                        </a:solidFill>
                      </a:endParaRPr>
                    </a:p>
                  </a:txBody>
                  <a:tcPr marT="91425" marB="91425" marR="91425" marL="91425"/>
                </a:tc>
                <a:tc>
                  <a:txBody>
                    <a:bodyPr/>
                    <a:lstStyle/>
                    <a:p>
                      <a:pPr indent="0" lvl="0" marL="0" rtl="0" algn="l">
                        <a:spcBef>
                          <a:spcPts val="0"/>
                        </a:spcBef>
                        <a:spcAft>
                          <a:spcPts val="0"/>
                        </a:spcAft>
                        <a:buNone/>
                      </a:pPr>
                      <a:r>
                        <a:rPr lang="en-US" sz="1600">
                          <a:solidFill>
                            <a:schemeClr val="lt1"/>
                          </a:solidFill>
                        </a:rPr>
                        <a:t>Provides debris protection for propellers while allowing smooth fluid flow around the TGS.</a:t>
                      </a:r>
                      <a:endParaRPr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TGS Material</a:t>
                      </a:r>
                      <a:endParaRPr sz="16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600">
                          <a:solidFill>
                            <a:schemeClr val="lt1"/>
                          </a:solidFill>
                        </a:rPr>
                        <a:t>High Density Polyethylene (HDPE)</a:t>
                      </a:r>
                      <a:endParaRPr sz="1600">
                        <a:solidFill>
                          <a:schemeClr val="lt1"/>
                        </a:solidFill>
                      </a:endParaRPr>
                    </a:p>
                  </a:txBody>
                  <a:tcPr marT="91425" marB="91425" marR="91425" marL="91425"/>
                </a:tc>
                <a:tc>
                  <a:txBody>
                    <a:bodyPr/>
                    <a:lstStyle/>
                    <a:p>
                      <a:pPr indent="0" lvl="0" marL="0" rtl="0" algn="l">
                        <a:spcBef>
                          <a:spcPts val="0"/>
                        </a:spcBef>
                        <a:spcAft>
                          <a:spcPts val="0"/>
                        </a:spcAft>
                        <a:buNone/>
                      </a:pPr>
                      <a:r>
                        <a:rPr lang="en-US" sz="1600">
                          <a:solidFill>
                            <a:schemeClr val="lt1"/>
                          </a:solidFill>
                        </a:rPr>
                        <a:t>HDPE TGS offers an ideal balance of rigidity and flexibility, providing structure while absorbing shock.</a:t>
                      </a:r>
                      <a:endParaRPr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Thruster Guard Mesh (TGM) Design</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600">
                          <a:solidFill>
                            <a:schemeClr val="lt1"/>
                          </a:solidFill>
                        </a:rPr>
                        <a:t>Concentric Ring</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US" sz="1600">
                          <a:solidFill>
                            <a:schemeClr val="lt1"/>
                          </a:solidFill>
                        </a:rPr>
                        <a:t>Each mesh spacing allows uniform flow while blocking finger-sized debris from the propellers.</a:t>
                      </a:r>
                      <a:endParaRPr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TGM</a:t>
                      </a:r>
                      <a:r>
                        <a:rPr lang="en-US" sz="1600">
                          <a:solidFill>
                            <a:schemeClr val="lt1"/>
                          </a:solidFill>
                        </a:rPr>
                        <a:t> Material</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600">
                          <a:solidFill>
                            <a:schemeClr val="lt1"/>
                          </a:solidFill>
                        </a:rPr>
                        <a:t>High Density Polyethylene (HDPE)</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US" sz="1600">
                          <a:solidFill>
                            <a:schemeClr val="lt1"/>
                          </a:solidFill>
                        </a:rPr>
                        <a:t>Like the TGS, the TGM should use an HDPE base to balance rigidity and flexibility.</a:t>
                      </a:r>
                      <a:endParaRPr sz="1600">
                        <a:solidFill>
                          <a:schemeClr val="lt1"/>
                        </a:solidFill>
                      </a:endParaRPr>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6"/>
          <p:cNvSpPr txBox="1"/>
          <p:nvPr>
            <p:ph type="title"/>
          </p:nvPr>
        </p:nvSpPr>
        <p:spPr>
          <a:xfrm>
            <a:off x="4092000" y="99750"/>
            <a:ext cx="40080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Hydrofoil Type</a:t>
            </a:r>
            <a:endParaRPr/>
          </a:p>
        </p:txBody>
      </p:sp>
      <p:pic>
        <p:nvPicPr>
          <p:cNvPr id="409" name="Google Shape;409;p46"/>
          <p:cNvPicPr preferRelativeResize="0"/>
          <p:nvPr/>
        </p:nvPicPr>
        <p:blipFill>
          <a:blip r:embed="rId3">
            <a:alphaModFix/>
          </a:blip>
          <a:stretch>
            <a:fillRect/>
          </a:stretch>
        </p:blipFill>
        <p:spPr>
          <a:xfrm>
            <a:off x="-229012" y="1657625"/>
            <a:ext cx="12421024" cy="2589000"/>
          </a:xfrm>
          <a:prstGeom prst="rect">
            <a:avLst/>
          </a:prstGeom>
          <a:noFill/>
          <a:ln>
            <a:noFill/>
          </a:ln>
        </p:spPr>
      </p:pic>
      <p:pic>
        <p:nvPicPr>
          <p:cNvPr id="410" name="Google Shape;410;p46"/>
          <p:cNvPicPr preferRelativeResize="0"/>
          <p:nvPr/>
        </p:nvPicPr>
        <p:blipFill>
          <a:blip r:embed="rId4">
            <a:alphaModFix/>
          </a:blip>
          <a:stretch>
            <a:fillRect/>
          </a:stretch>
        </p:blipFill>
        <p:spPr>
          <a:xfrm>
            <a:off x="233988" y="4697550"/>
            <a:ext cx="11724025" cy="1080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7"/>
          <p:cNvSpPr txBox="1"/>
          <p:nvPr>
            <p:ph type="title"/>
          </p:nvPr>
        </p:nvSpPr>
        <p:spPr>
          <a:xfrm>
            <a:off x="3345450" y="199250"/>
            <a:ext cx="55011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Hydrofoil Schematics</a:t>
            </a:r>
            <a:endParaRPr/>
          </a:p>
        </p:txBody>
      </p:sp>
      <p:sp>
        <p:nvSpPr>
          <p:cNvPr id="416" name="Google Shape;416;p47"/>
          <p:cNvSpPr txBox="1"/>
          <p:nvPr/>
        </p:nvSpPr>
        <p:spPr>
          <a:xfrm>
            <a:off x="898775" y="6130825"/>
            <a:ext cx="2628900" cy="2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rPr>
              <a:t>Eppler 817</a:t>
            </a:r>
            <a:endParaRPr sz="2800">
              <a:solidFill>
                <a:schemeClr val="lt1"/>
              </a:solidFill>
            </a:endParaRPr>
          </a:p>
        </p:txBody>
      </p:sp>
      <p:sp>
        <p:nvSpPr>
          <p:cNvPr id="417" name="Google Shape;417;p47"/>
          <p:cNvSpPr txBox="1"/>
          <p:nvPr/>
        </p:nvSpPr>
        <p:spPr>
          <a:xfrm>
            <a:off x="5472925" y="6212550"/>
            <a:ext cx="2628900" cy="2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rPr>
              <a:t>YS-915</a:t>
            </a:r>
            <a:endParaRPr sz="2800">
              <a:solidFill>
                <a:schemeClr val="lt1"/>
              </a:solidFill>
            </a:endParaRPr>
          </a:p>
        </p:txBody>
      </p:sp>
      <p:pic>
        <p:nvPicPr>
          <p:cNvPr id="418" name="Google Shape;418;p47"/>
          <p:cNvPicPr preferRelativeResize="0"/>
          <p:nvPr/>
        </p:nvPicPr>
        <p:blipFill>
          <a:blip r:embed="rId3">
            <a:alphaModFix/>
          </a:blip>
          <a:stretch>
            <a:fillRect/>
          </a:stretch>
        </p:blipFill>
        <p:spPr>
          <a:xfrm>
            <a:off x="4144125" y="1308075"/>
            <a:ext cx="4110200" cy="785150"/>
          </a:xfrm>
          <a:prstGeom prst="rect">
            <a:avLst/>
          </a:prstGeom>
          <a:noFill/>
          <a:ln>
            <a:noFill/>
          </a:ln>
        </p:spPr>
      </p:pic>
      <p:pic>
        <p:nvPicPr>
          <p:cNvPr id="419" name="Google Shape;419;p47"/>
          <p:cNvPicPr preferRelativeResize="0"/>
          <p:nvPr/>
        </p:nvPicPr>
        <p:blipFill>
          <a:blip r:embed="rId4">
            <a:alphaModFix/>
          </a:blip>
          <a:stretch>
            <a:fillRect/>
          </a:stretch>
        </p:blipFill>
        <p:spPr>
          <a:xfrm>
            <a:off x="0" y="1324400"/>
            <a:ext cx="3933825" cy="752475"/>
          </a:xfrm>
          <a:prstGeom prst="rect">
            <a:avLst/>
          </a:prstGeom>
          <a:noFill/>
          <a:ln>
            <a:noFill/>
          </a:ln>
        </p:spPr>
      </p:pic>
      <p:pic>
        <p:nvPicPr>
          <p:cNvPr id="420" name="Google Shape;420;p47"/>
          <p:cNvPicPr preferRelativeResize="0"/>
          <p:nvPr/>
        </p:nvPicPr>
        <p:blipFill>
          <a:blip r:embed="rId5">
            <a:alphaModFix/>
          </a:blip>
          <a:stretch>
            <a:fillRect/>
          </a:stretch>
        </p:blipFill>
        <p:spPr>
          <a:xfrm>
            <a:off x="8312277" y="1346132"/>
            <a:ext cx="3710750" cy="709006"/>
          </a:xfrm>
          <a:prstGeom prst="rect">
            <a:avLst/>
          </a:prstGeom>
          <a:noFill/>
          <a:ln>
            <a:noFill/>
          </a:ln>
        </p:spPr>
      </p:pic>
      <p:sp>
        <p:nvSpPr>
          <p:cNvPr id="421" name="Google Shape;421;p47"/>
          <p:cNvSpPr txBox="1"/>
          <p:nvPr/>
        </p:nvSpPr>
        <p:spPr>
          <a:xfrm>
            <a:off x="9373825" y="6198475"/>
            <a:ext cx="2562300" cy="4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rPr>
              <a:t>NACA 66</a:t>
            </a:r>
            <a:endParaRPr sz="2800">
              <a:solidFill>
                <a:schemeClr val="lt1"/>
              </a:solidFill>
            </a:endParaRPr>
          </a:p>
          <a:p>
            <a:pPr indent="0" lvl="0" marL="0" rtl="0" algn="l">
              <a:spcBef>
                <a:spcPts val="0"/>
              </a:spcBef>
              <a:spcAft>
                <a:spcPts val="0"/>
              </a:spcAft>
              <a:buNone/>
            </a:pPr>
            <a:r>
              <a:t/>
            </a:r>
            <a:endParaRPr sz="2800">
              <a:solidFill>
                <a:schemeClr val="lt1"/>
              </a:solidFill>
            </a:endParaRPr>
          </a:p>
        </p:txBody>
      </p:sp>
      <p:pic>
        <p:nvPicPr>
          <p:cNvPr id="422" name="Google Shape;422;p47"/>
          <p:cNvPicPr preferRelativeResize="0"/>
          <p:nvPr/>
        </p:nvPicPr>
        <p:blipFill>
          <a:blip r:embed="rId6">
            <a:alphaModFix/>
          </a:blip>
          <a:stretch>
            <a:fillRect/>
          </a:stretch>
        </p:blipFill>
        <p:spPr>
          <a:xfrm>
            <a:off x="8215025" y="2288238"/>
            <a:ext cx="3905250" cy="3924300"/>
          </a:xfrm>
          <a:prstGeom prst="rect">
            <a:avLst/>
          </a:prstGeom>
          <a:noFill/>
          <a:ln>
            <a:noFill/>
          </a:ln>
        </p:spPr>
      </p:pic>
      <p:pic>
        <p:nvPicPr>
          <p:cNvPr id="423" name="Google Shape;423;p47"/>
          <p:cNvPicPr preferRelativeResize="0"/>
          <p:nvPr/>
        </p:nvPicPr>
        <p:blipFill>
          <a:blip r:embed="rId7">
            <a:alphaModFix/>
          </a:blip>
          <a:stretch>
            <a:fillRect/>
          </a:stretch>
        </p:blipFill>
        <p:spPr>
          <a:xfrm>
            <a:off x="4341850" y="2384000"/>
            <a:ext cx="3714767" cy="3732800"/>
          </a:xfrm>
          <a:prstGeom prst="rect">
            <a:avLst/>
          </a:prstGeom>
          <a:noFill/>
          <a:ln>
            <a:noFill/>
          </a:ln>
        </p:spPr>
      </p:pic>
      <p:pic>
        <p:nvPicPr>
          <p:cNvPr id="424" name="Google Shape;424;p47"/>
          <p:cNvPicPr preferRelativeResize="0"/>
          <p:nvPr/>
        </p:nvPicPr>
        <p:blipFill>
          <a:blip r:embed="rId8">
            <a:alphaModFix/>
          </a:blip>
          <a:stretch>
            <a:fillRect/>
          </a:stretch>
        </p:blipFill>
        <p:spPr>
          <a:xfrm>
            <a:off x="19038" y="2307300"/>
            <a:ext cx="3895725" cy="3886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8"/>
          <p:cNvSpPr txBox="1"/>
          <p:nvPr>
            <p:ph type="title"/>
          </p:nvPr>
        </p:nvSpPr>
        <p:spPr>
          <a:xfrm>
            <a:off x="838200" y="232450"/>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Propeller Material</a:t>
            </a:r>
            <a:endParaRPr/>
          </a:p>
        </p:txBody>
      </p:sp>
      <p:pic>
        <p:nvPicPr>
          <p:cNvPr id="430" name="Google Shape;430;p48"/>
          <p:cNvPicPr preferRelativeResize="0"/>
          <p:nvPr/>
        </p:nvPicPr>
        <p:blipFill>
          <a:blip r:embed="rId3">
            <a:alphaModFix/>
          </a:blip>
          <a:stretch>
            <a:fillRect/>
          </a:stretch>
        </p:blipFill>
        <p:spPr>
          <a:xfrm>
            <a:off x="152400" y="1635925"/>
            <a:ext cx="11887202" cy="402631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Propeller Blades</a:t>
            </a:r>
            <a:endParaRPr/>
          </a:p>
        </p:txBody>
      </p:sp>
      <p:pic>
        <p:nvPicPr>
          <p:cNvPr id="436" name="Google Shape;436;p49"/>
          <p:cNvPicPr preferRelativeResize="0"/>
          <p:nvPr/>
        </p:nvPicPr>
        <p:blipFill>
          <a:blip r:embed="rId3">
            <a:alphaModFix/>
          </a:blip>
          <a:stretch>
            <a:fillRect/>
          </a:stretch>
        </p:blipFill>
        <p:spPr>
          <a:xfrm>
            <a:off x="376300" y="1768575"/>
            <a:ext cx="11525250" cy="3924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Design Parameters for Consideration</a:t>
            </a:r>
            <a:endParaRPr/>
          </a:p>
        </p:txBody>
      </p:sp>
      <p:pic>
        <p:nvPicPr>
          <p:cNvPr id="442" name="Google Shape;442;p50"/>
          <p:cNvPicPr preferRelativeResize="0"/>
          <p:nvPr/>
        </p:nvPicPr>
        <p:blipFill>
          <a:blip r:embed="rId3">
            <a:alphaModFix/>
          </a:blip>
          <a:stretch>
            <a:fillRect/>
          </a:stretch>
        </p:blipFill>
        <p:spPr>
          <a:xfrm>
            <a:off x="-12" y="1500100"/>
            <a:ext cx="12040926" cy="2378450"/>
          </a:xfrm>
          <a:prstGeom prst="rect">
            <a:avLst/>
          </a:prstGeom>
          <a:noFill/>
          <a:ln>
            <a:noFill/>
          </a:ln>
        </p:spPr>
      </p:pic>
      <p:pic>
        <p:nvPicPr>
          <p:cNvPr id="443" name="Google Shape;443;p50"/>
          <p:cNvPicPr preferRelativeResize="0"/>
          <p:nvPr/>
        </p:nvPicPr>
        <p:blipFill>
          <a:blip r:embed="rId4">
            <a:alphaModFix/>
          </a:blip>
          <a:stretch>
            <a:fillRect/>
          </a:stretch>
        </p:blipFill>
        <p:spPr>
          <a:xfrm>
            <a:off x="147225" y="4053550"/>
            <a:ext cx="5478325" cy="27391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Electrical Power Systems (EPS)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aphicFrame>
        <p:nvGraphicFramePr>
          <p:cNvPr id="453" name="Google Shape;453;p52"/>
          <p:cNvGraphicFramePr/>
          <p:nvPr/>
        </p:nvGraphicFramePr>
        <p:xfrm>
          <a:off x="142425" y="27675"/>
          <a:ext cx="3000000" cy="3000000"/>
        </p:xfrm>
        <a:graphic>
          <a:graphicData uri="http://schemas.openxmlformats.org/drawingml/2006/table">
            <a:tbl>
              <a:tblPr>
                <a:noFill/>
                <a:tableStyleId>{CCEDFED6-B171-44F2-B70F-3FA0125B035B}</a:tableStyleId>
              </a:tblPr>
              <a:tblGrid>
                <a:gridCol w="2096525"/>
                <a:gridCol w="4146175"/>
                <a:gridCol w="1452325"/>
                <a:gridCol w="1651450"/>
                <a:gridCol w="1171225"/>
                <a:gridCol w="1171225"/>
              </a:tblGrid>
              <a:tr h="447675">
                <a:tc gridSpan="6">
                  <a:txBody>
                    <a:bodyPr/>
                    <a:lstStyle/>
                    <a:p>
                      <a:pPr indent="0" lvl="0" marL="0" rtl="0" algn="ctr">
                        <a:lnSpc>
                          <a:spcPct val="115000"/>
                        </a:lnSpc>
                        <a:spcBef>
                          <a:spcPts val="0"/>
                        </a:spcBef>
                        <a:spcAft>
                          <a:spcPts val="0"/>
                        </a:spcAft>
                        <a:buNone/>
                      </a:pPr>
                      <a:r>
                        <a:rPr b="1" lang="en-US" sz="1800">
                          <a:solidFill>
                            <a:schemeClr val="lt1"/>
                          </a:solidFill>
                        </a:rPr>
                        <a:t>Power Supply</a:t>
                      </a:r>
                      <a:endParaRPr b="1" sz="1800">
                        <a:solidFill>
                          <a:schemeClr val="lt1"/>
                        </a:solidFill>
                      </a:endParaRPr>
                    </a:p>
                  </a:txBody>
                  <a:tcPr marT="91425" marB="91425" marR="28575" marL="28575" anchor="ctr">
                    <a:lnL cap="flat" cmpd="sng" w="9525">
                      <a:solidFill>
                        <a:srgbClr val="0A2B3C">
                          <a:alpha val="0"/>
                        </a:srgbClr>
                      </a:solidFill>
                      <a:prstDash val="solid"/>
                      <a:round/>
                      <a:headEnd len="sm" w="sm" type="none"/>
                      <a:tailEnd len="sm" w="sm" type="none"/>
                    </a:lnL>
                    <a:lnR cap="flat" cmpd="sng" w="9525">
                      <a:solidFill>
                        <a:srgbClr val="0A2B3C">
                          <a:alpha val="0"/>
                        </a:srgbClr>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alpha val="0"/>
                        </a:srgbClr>
                      </a:solidFill>
                      <a:prstDash val="solid"/>
                      <a:round/>
                      <a:headEnd len="sm" w="sm" type="none"/>
                      <a:tailEnd len="sm" w="sm" type="none"/>
                    </a:lnB>
                  </a:tcPr>
                </a:tc>
                <a:tc hMerge="1"/>
                <a:tc hMerge="1"/>
                <a:tc hMerge="1"/>
                <a:tc hMerge="1"/>
                <a:tc hMerge="1"/>
              </a:tr>
              <a:tr h="361950">
                <a:tc>
                  <a:txBody>
                    <a:bodyPr/>
                    <a:lstStyle/>
                    <a:p>
                      <a:pPr indent="0" lvl="0" marL="0" rtl="0" algn="ctr">
                        <a:lnSpc>
                          <a:spcPct val="115000"/>
                        </a:lnSpc>
                        <a:spcBef>
                          <a:spcPts val="0"/>
                        </a:spcBef>
                        <a:spcAft>
                          <a:spcPts val="0"/>
                        </a:spcAft>
                        <a:buNone/>
                      </a:pPr>
                      <a:r>
                        <a:rPr b="1" lang="en-US" sz="1200">
                          <a:solidFill>
                            <a:schemeClr val="dk1"/>
                          </a:solidFill>
                        </a:rPr>
                        <a:t>Criteria</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Explanation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Grade</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Weight</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a:solidFill>
                            <a:schemeClr val="dk1"/>
                          </a:solidFill>
                        </a:rPr>
                        <a:t>12 VDC</a:t>
                      </a:r>
                      <a:endParaRPr b="1">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a:solidFill>
                            <a:schemeClr val="dk1"/>
                          </a:solidFill>
                        </a:rPr>
                        <a:t>48 VDC</a:t>
                      </a:r>
                      <a:endParaRPr b="1">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r>
              <a:tr h="230675">
                <a:tc>
                  <a:txBody>
                    <a:bodyPr/>
                    <a:lstStyle/>
                    <a:p>
                      <a:pPr indent="0" lvl="0" marL="0" rtl="0" algn="ctr">
                        <a:lnSpc>
                          <a:spcPct val="115000"/>
                        </a:lnSpc>
                        <a:spcBef>
                          <a:spcPts val="0"/>
                        </a:spcBef>
                        <a:spcAft>
                          <a:spcPts val="0"/>
                        </a:spcAft>
                        <a:buNone/>
                      </a:pPr>
                      <a:r>
                        <a:rPr lang="en-US" sz="1000">
                          <a:solidFill>
                            <a:schemeClr val="dk1"/>
                          </a:solidFill>
                        </a:rPr>
                        <a:t>Tether Cable Size &amp; Weight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Smaller gauge cables can be used with higher voltage, improving maneuverability and reducing drag.</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rowSpan="9">
                  <a:txBody>
                    <a:bodyPr/>
                    <a:lstStyle/>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3 = High</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2 = Medium</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1 = Low</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0 = Fail</a:t>
                      </a:r>
                      <a:endParaRPr sz="1000">
                        <a:solidFill>
                          <a:schemeClr val="dk1"/>
                        </a:solidFill>
                        <a:latin typeface="Roboto"/>
                        <a:ea typeface="Roboto"/>
                        <a:cs typeface="Roboto"/>
                        <a:sym typeface="Roboto"/>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Power Transmission Efficiency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Lower current at higher voltage reduces I²R losses in the tether cable. This improves efficiency and reduces power loss.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20%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Thruster Power Delivery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Voltage vs. required thruster input voltage &amp; startup current - especially important if thrusters draw pulsed or high currents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Voltage Regulation / Stability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Need for DC-DC converters and complexity of power distribution at the ROV end.</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Safety / Standards Compliance</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Lower voltages are safer for human handling and reduce underwater electrical hazard risk.</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Component Availability / Cost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Availability of compatible power electronics and end-use subsystems (e.g., sensors, controllers) and their cost.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Heat Dissipation (Converters)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High current results in higher local power dissipation. Lower heat is easier to manage in a sealed or underwater enclosure.</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Electromagnetic Interference (EMI)</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Higher voltages may increase EMI, affecting sensors or communication systems.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Future Scalability / Growth</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Ability to support future upgrades with higher power demand without major redesign.</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200025">
                <a:tc gridSpan="3">
                  <a:txBody>
                    <a:bodyPr/>
                    <a:lstStyle/>
                    <a:p>
                      <a:pPr indent="0" lvl="0" marL="0" rtl="0" algn="l">
                        <a:spcBef>
                          <a:spcPts val="0"/>
                        </a:spcBef>
                        <a:spcAft>
                          <a:spcPts val="0"/>
                        </a:spcAft>
                        <a:buNone/>
                      </a:pPr>
                      <a:r>
                        <a:t/>
                      </a:r>
                      <a:endParaRPr>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hMerge="1"/>
                <a:tc hMerge="1"/>
                <a:tc>
                  <a:txBody>
                    <a:bodyPr/>
                    <a:lstStyle/>
                    <a:p>
                      <a:pPr indent="0" lvl="0" marL="0" rtl="0" algn="ctr">
                        <a:lnSpc>
                          <a:spcPct val="115000"/>
                        </a:lnSpc>
                        <a:spcBef>
                          <a:spcPts val="0"/>
                        </a:spcBef>
                        <a:spcAft>
                          <a:spcPts val="0"/>
                        </a:spcAft>
                        <a:buNone/>
                      </a:pPr>
                      <a:r>
                        <a:rPr b="1" lang="en-US" sz="1000">
                          <a:solidFill>
                            <a:schemeClr val="dk1"/>
                          </a:solidFill>
                        </a:rPr>
                        <a:t>100%</a:t>
                      </a:r>
                      <a:endParaRPr b="1"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lt1"/>
                          </a:solidFill>
                        </a:rPr>
                        <a:t>58.33%</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US" sz="1000">
                          <a:solidFill>
                            <a:schemeClr val="lt1"/>
                          </a:solidFill>
                        </a:rPr>
                        <a:t>90.00%</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34A853"/>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graphicFrame>
        <p:nvGraphicFramePr>
          <p:cNvPr id="458" name="Google Shape;458;p53"/>
          <p:cNvGraphicFramePr/>
          <p:nvPr/>
        </p:nvGraphicFramePr>
        <p:xfrm>
          <a:off x="182325" y="173450"/>
          <a:ext cx="3000000" cy="3000000"/>
        </p:xfrm>
        <a:graphic>
          <a:graphicData uri="http://schemas.openxmlformats.org/drawingml/2006/table">
            <a:tbl>
              <a:tblPr>
                <a:noFill/>
                <a:tableStyleId>{CCEDFED6-B171-44F2-B70F-3FA0125B035B}</a:tableStyleId>
              </a:tblPr>
              <a:tblGrid>
                <a:gridCol w="1905575"/>
                <a:gridCol w="2887150"/>
                <a:gridCol w="943000"/>
                <a:gridCol w="982825"/>
                <a:gridCol w="1656775"/>
                <a:gridCol w="1656775"/>
                <a:gridCol w="1656775"/>
              </a:tblGrid>
              <a:tr h="447675">
                <a:tc gridSpan="7">
                  <a:txBody>
                    <a:bodyPr/>
                    <a:lstStyle/>
                    <a:p>
                      <a:pPr indent="0" lvl="0" marL="0" rtl="0" algn="ctr">
                        <a:lnSpc>
                          <a:spcPct val="115000"/>
                        </a:lnSpc>
                        <a:spcBef>
                          <a:spcPts val="0"/>
                        </a:spcBef>
                        <a:spcAft>
                          <a:spcPts val="0"/>
                        </a:spcAft>
                        <a:buNone/>
                      </a:pPr>
                      <a:r>
                        <a:rPr b="1" lang="en-US" sz="1800">
                          <a:solidFill>
                            <a:schemeClr val="lt1"/>
                          </a:solidFill>
                        </a:rPr>
                        <a:t>Connectors</a:t>
                      </a:r>
                      <a:endParaRPr b="1" sz="1800">
                        <a:solidFill>
                          <a:schemeClr val="lt1"/>
                        </a:solidFill>
                      </a:endParaRPr>
                    </a:p>
                  </a:txBody>
                  <a:tcPr marT="91425" marB="91425" marR="28575" marL="28575" anchor="ctr">
                    <a:lnL cap="flat" cmpd="sng" w="9525">
                      <a:solidFill>
                        <a:srgbClr val="0A2B3C">
                          <a:alpha val="0"/>
                        </a:srgbClr>
                      </a:solidFill>
                      <a:prstDash val="solid"/>
                      <a:round/>
                      <a:headEnd len="sm" w="sm" type="none"/>
                      <a:tailEnd len="sm" w="sm" type="none"/>
                    </a:lnL>
                    <a:lnR cap="flat" cmpd="sng" w="9525">
                      <a:solidFill>
                        <a:srgbClr val="0A2B3C">
                          <a:alpha val="0"/>
                        </a:srgbClr>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alpha val="0"/>
                        </a:srgbClr>
                      </a:solidFill>
                      <a:prstDash val="solid"/>
                      <a:round/>
                      <a:headEnd len="sm" w="sm" type="none"/>
                      <a:tailEnd len="sm" w="sm" type="none"/>
                    </a:lnB>
                  </a:tcPr>
                </a:tc>
                <a:tc hMerge="1"/>
                <a:tc hMerge="1"/>
                <a:tc hMerge="1"/>
                <a:tc hMerge="1"/>
                <a:tc hMerge="1"/>
                <a:tc hMerge="1"/>
              </a:tr>
              <a:tr h="361950">
                <a:tc>
                  <a:txBody>
                    <a:bodyPr/>
                    <a:lstStyle/>
                    <a:p>
                      <a:pPr indent="0" lvl="0" marL="0" rtl="0" algn="ctr">
                        <a:lnSpc>
                          <a:spcPct val="115000"/>
                        </a:lnSpc>
                        <a:spcBef>
                          <a:spcPts val="0"/>
                        </a:spcBef>
                        <a:spcAft>
                          <a:spcPts val="0"/>
                        </a:spcAft>
                        <a:buNone/>
                      </a:pPr>
                      <a:r>
                        <a:rPr b="1" lang="en-US" sz="1200">
                          <a:solidFill>
                            <a:schemeClr val="dk1"/>
                          </a:solidFill>
                        </a:rPr>
                        <a:t>Criteria</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Explanation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Grade</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Weight</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SubConn Micro Circular</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Blue Robotics WLPs</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Cable Glands (Nickel-Plated Brass)</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r>
              <a:tr h="230675">
                <a:tc>
                  <a:txBody>
                    <a:bodyPr/>
                    <a:lstStyle/>
                    <a:p>
                      <a:pPr indent="0" lvl="0" marL="0" rtl="0" algn="ctr">
                        <a:spcBef>
                          <a:spcPts val="0"/>
                        </a:spcBef>
                        <a:spcAft>
                          <a:spcPts val="0"/>
                        </a:spcAft>
                        <a:buNone/>
                      </a:pPr>
                      <a:r>
                        <a:rPr lang="en-US" sz="1000"/>
                        <a:t>Waterproof Reliability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Most critical criteria; failure is catastrophic for the competition.</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rowSpan="8">
                  <a:txBody>
                    <a:bodyPr/>
                    <a:lstStyle/>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5</a:t>
                      </a:r>
                      <a:r>
                        <a:rPr lang="en-US" sz="1000">
                          <a:solidFill>
                            <a:schemeClr val="dk1"/>
                          </a:solidFill>
                          <a:latin typeface="Roboto"/>
                          <a:ea typeface="Roboto"/>
                          <a:cs typeface="Roboto"/>
                          <a:sym typeface="Roboto"/>
                        </a:rPr>
                        <a:t> = High</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3 = Medium</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1 = Low</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0 = Fail</a:t>
                      </a:r>
                      <a:endParaRPr sz="1000">
                        <a:solidFill>
                          <a:schemeClr val="dk1"/>
                        </a:solidFill>
                        <a:latin typeface="Roboto"/>
                        <a:ea typeface="Roboto"/>
                        <a:cs typeface="Roboto"/>
                        <a:sym typeface="Roboto"/>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22</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Mechanical Durability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Must withstand the harsh physical environment (pressure, impacts) to prevent seal failure.</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16</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Safety &amp; Standards</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Ensures electrical safety and adherence to industry standards for reliability.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16%</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Current/Voltage Capacity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 fundamental design requirement to meet the system's electrical load.</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Maintenance / Reusability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Lowers long-term operational cost and complexity for repairs and upgrades.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Ease of Use</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 secondary convenience for us during handling and field operations.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408125">
                <a:tc>
                  <a:txBody>
                    <a:bodyPr/>
                    <a:lstStyle/>
                    <a:p>
                      <a:pPr indent="0" lvl="0" marL="0" rtl="0" algn="ctr">
                        <a:spcBef>
                          <a:spcPts val="0"/>
                        </a:spcBef>
                        <a:spcAft>
                          <a:spcPts val="0"/>
                        </a:spcAft>
                        <a:buNone/>
                      </a:pPr>
                      <a:r>
                        <a:rPr lang="en-US" sz="1000">
                          <a:solidFill>
                            <a:schemeClr val="dk1"/>
                          </a:solidFill>
                        </a:rPr>
                        <a:t>Ease of Integration</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 one-time effort for the initial build; less impact on long-term operation.</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Clr>
                          <a:schemeClr val="dk1"/>
                        </a:buClr>
                        <a:buSzPts val="1100"/>
                        <a:buFont typeface="Arial"/>
                        <a:buNone/>
                      </a:pPr>
                      <a:r>
                        <a:rPr lang="en-US" sz="1000">
                          <a:solidFill>
                            <a:schemeClr val="dk1"/>
                          </a:solidFill>
                        </a:rPr>
                        <a:t>Cost &amp; Availability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Lowest priority; performance is valued more than initial cost (this section is the most iffy because idk how much of our budget is going to be used by other things)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6</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200025">
                <a:tc gridSpan="3">
                  <a:txBody>
                    <a:bodyPr/>
                    <a:lstStyle/>
                    <a:p>
                      <a:pPr indent="0" lvl="0" marL="0" rtl="0" algn="l">
                        <a:spcBef>
                          <a:spcPts val="0"/>
                        </a:spcBef>
                        <a:spcAft>
                          <a:spcPts val="0"/>
                        </a:spcAft>
                        <a:buNone/>
                      </a:pPr>
                      <a:r>
                        <a:t/>
                      </a:r>
                      <a:endParaRPr>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hMerge="1"/>
                <a:tc hMerge="1"/>
                <a:tc>
                  <a:txBody>
                    <a:bodyPr/>
                    <a:lstStyle/>
                    <a:p>
                      <a:pPr indent="0" lvl="0" marL="0" rtl="0" algn="ctr">
                        <a:lnSpc>
                          <a:spcPct val="115000"/>
                        </a:lnSpc>
                        <a:spcBef>
                          <a:spcPts val="0"/>
                        </a:spcBef>
                        <a:spcAft>
                          <a:spcPts val="0"/>
                        </a:spcAft>
                        <a:buNone/>
                      </a:pPr>
                      <a:r>
                        <a:rPr b="1" lang="en-US" sz="1000">
                          <a:solidFill>
                            <a:schemeClr val="dk1"/>
                          </a:solidFill>
                        </a:rPr>
                        <a:t>100%</a:t>
                      </a:r>
                      <a:endParaRPr b="1"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lt1"/>
                          </a:solidFill>
                        </a:rPr>
                        <a:t>92.4</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34A853"/>
                    </a:solidFill>
                  </a:tcPr>
                </a:tc>
                <a:tc>
                  <a:txBody>
                    <a:bodyPr/>
                    <a:lstStyle/>
                    <a:p>
                      <a:pPr indent="0" lvl="0" marL="0" rtl="0" algn="ctr">
                        <a:lnSpc>
                          <a:spcPct val="115000"/>
                        </a:lnSpc>
                        <a:spcBef>
                          <a:spcPts val="0"/>
                        </a:spcBef>
                        <a:spcAft>
                          <a:spcPts val="0"/>
                        </a:spcAft>
                        <a:buNone/>
                      </a:pPr>
                      <a:r>
                        <a:rPr lang="en-US" sz="1000">
                          <a:solidFill>
                            <a:schemeClr val="lt1"/>
                          </a:solidFill>
                        </a:rPr>
                        <a:t>83.2</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US" sz="1000">
                          <a:solidFill>
                            <a:schemeClr val="lt1"/>
                          </a:solidFill>
                        </a:rPr>
                        <a:t>74%</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graphicFrame>
        <p:nvGraphicFramePr>
          <p:cNvPr id="463" name="Google Shape;463;p54"/>
          <p:cNvGraphicFramePr/>
          <p:nvPr/>
        </p:nvGraphicFramePr>
        <p:xfrm>
          <a:off x="571525" y="1097963"/>
          <a:ext cx="3000000" cy="3000000"/>
        </p:xfrm>
        <a:graphic>
          <a:graphicData uri="http://schemas.openxmlformats.org/drawingml/2006/table">
            <a:tbl>
              <a:tblPr>
                <a:noFill/>
                <a:tableStyleId>{CCEDFED6-B171-44F2-B70F-3FA0125B035B}</a:tableStyleId>
              </a:tblPr>
              <a:tblGrid>
                <a:gridCol w="2153300"/>
                <a:gridCol w="1003175"/>
                <a:gridCol w="2022675"/>
                <a:gridCol w="1395425"/>
                <a:gridCol w="1240075"/>
                <a:gridCol w="997100"/>
                <a:gridCol w="1164625"/>
                <a:gridCol w="1072550"/>
              </a:tblGrid>
              <a:tr h="657725">
                <a:tc gridSpan="8">
                  <a:txBody>
                    <a:bodyPr/>
                    <a:lstStyle/>
                    <a:p>
                      <a:pPr indent="0" lvl="0" marL="0" rtl="0" algn="ctr">
                        <a:spcBef>
                          <a:spcPts val="0"/>
                        </a:spcBef>
                        <a:spcAft>
                          <a:spcPts val="0"/>
                        </a:spcAft>
                        <a:buNone/>
                      </a:pPr>
                      <a:r>
                        <a:rPr b="1" lang="en-US" sz="3000">
                          <a:solidFill>
                            <a:schemeClr val="lt1"/>
                          </a:solidFill>
                        </a:rPr>
                        <a:t>Tether Type/Size</a:t>
                      </a:r>
                      <a:endParaRPr b="1" sz="3000">
                        <a:solidFill>
                          <a:schemeClr val="lt1"/>
                        </a:solidFill>
                      </a:endParaRPr>
                    </a:p>
                  </a:txBody>
                  <a:tcPr marT="19050" marB="19050" marR="28575" marL="28575" anchor="ctr">
                    <a:lnL cap="flat" cmpd="sng" w="9525">
                      <a:solidFill>
                        <a:srgbClr val="CCCCCC">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hMerge="1"/>
                <a:tc hMerge="1"/>
                <a:tc hMerge="1"/>
                <a:tc hMerge="1"/>
                <a:tc hMerge="1"/>
                <a:tc hMerge="1"/>
              </a:tr>
              <a:tr h="987400">
                <a:tc>
                  <a:txBody>
                    <a:bodyPr/>
                    <a:lstStyle/>
                    <a:p>
                      <a:pPr indent="0" lvl="0" marL="0" rtl="0" algn="ctr">
                        <a:spcBef>
                          <a:spcPts val="0"/>
                        </a:spcBef>
                        <a:spcAft>
                          <a:spcPts val="0"/>
                        </a:spcAft>
                        <a:buNone/>
                      </a:pPr>
                      <a:r>
                        <a:rPr b="1" lang="en-US" sz="1800"/>
                        <a:t>Category</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Weight</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Criteria</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High/Low</a:t>
                      </a:r>
                      <a:endParaRPr b="1" sz="1800"/>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gridSpan="2">
                  <a:txBody>
                    <a:bodyPr/>
                    <a:lstStyle/>
                    <a:p>
                      <a:pPr indent="0" lvl="0" marL="0" rtl="0" algn="ctr">
                        <a:lnSpc>
                          <a:spcPct val="115000"/>
                        </a:lnSpc>
                        <a:spcBef>
                          <a:spcPts val="0"/>
                        </a:spcBef>
                        <a:spcAft>
                          <a:spcPts val="0"/>
                        </a:spcAft>
                        <a:buNone/>
                      </a:pPr>
                      <a:r>
                        <a:rPr b="1" lang="en-US" sz="1800"/>
                        <a:t>Twisted Pair / Electrical Tether</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c gridSpan="2">
                  <a:txBody>
                    <a:bodyPr/>
                    <a:lstStyle/>
                    <a:p>
                      <a:pPr indent="0" lvl="0" marL="0" rtl="0" algn="ctr">
                        <a:lnSpc>
                          <a:spcPct val="115000"/>
                        </a:lnSpc>
                        <a:spcBef>
                          <a:spcPts val="0"/>
                        </a:spcBef>
                        <a:spcAft>
                          <a:spcPts val="0"/>
                        </a:spcAft>
                        <a:buNone/>
                      </a:pPr>
                      <a:r>
                        <a:rPr b="1" lang="en-US" sz="1800"/>
                        <a:t>Fibre Optic</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r>
              <a:tr h="866275">
                <a:tc>
                  <a:txBody>
                    <a:bodyPr/>
                    <a:lstStyle/>
                    <a:p>
                      <a:pPr indent="0" lvl="0" marL="0" rtl="0" algn="ctr">
                        <a:lnSpc>
                          <a:spcPct val="115000"/>
                        </a:lnSpc>
                        <a:spcBef>
                          <a:spcPts val="0"/>
                        </a:spcBef>
                        <a:spcAft>
                          <a:spcPts val="0"/>
                        </a:spcAft>
                        <a:buNone/>
                      </a:pPr>
                      <a:r>
                        <a:rPr lang="en-US" sz="1600">
                          <a:solidFill>
                            <a:schemeClr val="dk1"/>
                          </a:solidFill>
                        </a:rPr>
                        <a:t>Cost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30%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Cost in USD per meter</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FALSE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260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30.00%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279</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866275">
                <a:tc>
                  <a:txBody>
                    <a:bodyPr/>
                    <a:lstStyle/>
                    <a:p>
                      <a:pPr indent="0" lvl="0" marL="0" rtl="0" algn="ctr">
                        <a:lnSpc>
                          <a:spcPct val="115000"/>
                        </a:lnSpc>
                        <a:spcBef>
                          <a:spcPts val="0"/>
                        </a:spcBef>
                        <a:spcAft>
                          <a:spcPts val="0"/>
                        </a:spcAft>
                        <a:buNone/>
                      </a:pPr>
                      <a:r>
                        <a:rPr lang="en-US" sz="1600">
                          <a:solidFill>
                            <a:schemeClr val="dk1"/>
                          </a:solidFill>
                        </a:rPr>
                        <a:t>Data Transmission Rate/Bandwidth</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50%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In Kbps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100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800000000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50.00%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866275">
                <a:tc>
                  <a:txBody>
                    <a:bodyPr/>
                    <a:lstStyle/>
                    <a:p>
                      <a:pPr indent="0" lvl="0" marL="0" rtl="0" algn="ctr">
                        <a:lnSpc>
                          <a:spcPct val="115000"/>
                        </a:lnSpc>
                        <a:spcBef>
                          <a:spcPts val="0"/>
                        </a:spcBef>
                        <a:spcAft>
                          <a:spcPts val="0"/>
                        </a:spcAft>
                        <a:buNone/>
                      </a:pPr>
                      <a:r>
                        <a:rPr lang="en-US" sz="1600">
                          <a:solidFill>
                            <a:schemeClr val="dk1"/>
                          </a:solidFill>
                        </a:rPr>
                        <a:t>Strength/Durability</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Measured in tensile strength in newtons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1520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1500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19.74%</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18125">
                <a:tc gridSpan="4">
                  <a:txBody>
                    <a:bodyPr/>
                    <a:lstStyle/>
                    <a:p>
                      <a:pPr indent="0" lvl="0" marL="0" rtl="0" algn="ctr">
                        <a:lnSpc>
                          <a:spcPct val="115000"/>
                        </a:lnSpc>
                        <a:spcBef>
                          <a:spcPts val="0"/>
                        </a:spcBef>
                        <a:spcAft>
                          <a:spcPts val="0"/>
                        </a:spcAft>
                        <a:buNone/>
                      </a:pPr>
                      <a:r>
                        <a:rPr b="1" lang="en-US" sz="1600">
                          <a:solidFill>
                            <a:schemeClr val="dk1"/>
                          </a:solidFill>
                        </a:rPr>
                        <a:t>Totals</a:t>
                      </a:r>
                      <a:endParaRPr b="1"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50.00%</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69.74%</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4A853"/>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graphicFrame>
        <p:nvGraphicFramePr>
          <p:cNvPr id="468" name="Google Shape;468;p55"/>
          <p:cNvGraphicFramePr/>
          <p:nvPr/>
        </p:nvGraphicFramePr>
        <p:xfrm>
          <a:off x="251563" y="429400"/>
          <a:ext cx="3000000" cy="3000000"/>
        </p:xfrm>
        <a:graphic>
          <a:graphicData uri="http://schemas.openxmlformats.org/drawingml/2006/table">
            <a:tbl>
              <a:tblPr>
                <a:noFill/>
                <a:tableStyleId>{CCEDFED6-B171-44F2-B70F-3FA0125B035B}</a:tableStyleId>
              </a:tblPr>
              <a:tblGrid>
                <a:gridCol w="1905575"/>
                <a:gridCol w="2887150"/>
                <a:gridCol w="943000"/>
                <a:gridCol w="982825"/>
                <a:gridCol w="1656775"/>
                <a:gridCol w="1656775"/>
                <a:gridCol w="1656775"/>
              </a:tblGrid>
              <a:tr h="447675">
                <a:tc gridSpan="7">
                  <a:txBody>
                    <a:bodyPr/>
                    <a:lstStyle/>
                    <a:p>
                      <a:pPr indent="0" lvl="0" marL="0" rtl="0" algn="ctr">
                        <a:lnSpc>
                          <a:spcPct val="115000"/>
                        </a:lnSpc>
                        <a:spcBef>
                          <a:spcPts val="0"/>
                        </a:spcBef>
                        <a:spcAft>
                          <a:spcPts val="0"/>
                        </a:spcAft>
                        <a:buNone/>
                      </a:pPr>
                      <a:r>
                        <a:rPr b="1" lang="en-US" sz="1800">
                          <a:solidFill>
                            <a:schemeClr val="lt1"/>
                          </a:solidFill>
                        </a:rPr>
                        <a:t>Onboard Architecture</a:t>
                      </a:r>
                      <a:endParaRPr b="1" sz="1800">
                        <a:solidFill>
                          <a:schemeClr val="lt1"/>
                        </a:solidFill>
                      </a:endParaRPr>
                    </a:p>
                  </a:txBody>
                  <a:tcPr marT="91425" marB="91425" marR="28575" marL="28575" anchor="ctr">
                    <a:lnL cap="flat" cmpd="sng" w="9525">
                      <a:solidFill>
                        <a:srgbClr val="0A2B3C">
                          <a:alpha val="0"/>
                        </a:srgbClr>
                      </a:solidFill>
                      <a:prstDash val="solid"/>
                      <a:round/>
                      <a:headEnd len="sm" w="sm" type="none"/>
                      <a:tailEnd len="sm" w="sm" type="none"/>
                    </a:lnL>
                    <a:lnR cap="flat" cmpd="sng" w="9525">
                      <a:solidFill>
                        <a:srgbClr val="0A2B3C">
                          <a:alpha val="0"/>
                        </a:srgbClr>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alpha val="0"/>
                        </a:srgbClr>
                      </a:solidFill>
                      <a:prstDash val="solid"/>
                      <a:round/>
                      <a:headEnd len="sm" w="sm" type="none"/>
                      <a:tailEnd len="sm" w="sm" type="none"/>
                    </a:lnB>
                  </a:tcPr>
                </a:tc>
                <a:tc hMerge="1"/>
                <a:tc hMerge="1"/>
                <a:tc hMerge="1"/>
                <a:tc hMerge="1"/>
                <a:tc hMerge="1"/>
                <a:tc hMerge="1"/>
              </a:tr>
              <a:tr h="361950">
                <a:tc>
                  <a:txBody>
                    <a:bodyPr/>
                    <a:lstStyle/>
                    <a:p>
                      <a:pPr indent="0" lvl="0" marL="0" rtl="0" algn="ctr">
                        <a:lnSpc>
                          <a:spcPct val="115000"/>
                        </a:lnSpc>
                        <a:spcBef>
                          <a:spcPts val="0"/>
                        </a:spcBef>
                        <a:spcAft>
                          <a:spcPts val="0"/>
                        </a:spcAft>
                        <a:buNone/>
                      </a:pPr>
                      <a:r>
                        <a:rPr b="1" lang="en-US" sz="1200">
                          <a:solidFill>
                            <a:schemeClr val="dk1"/>
                          </a:solidFill>
                        </a:rPr>
                        <a:t>Criteria</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Explanation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Grade</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Weight</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Distributed Local DC-DC Conversion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Dual-Voltage Bus</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Single-Bus Centralized DC</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r>
              <a:tr h="230675">
                <a:tc>
                  <a:txBody>
                    <a:bodyPr/>
                    <a:lstStyle/>
                    <a:p>
                      <a:pPr indent="0" lvl="0" marL="0" rtl="0" algn="ctr">
                        <a:lnSpc>
                          <a:spcPct val="115000"/>
                        </a:lnSpc>
                        <a:spcBef>
                          <a:spcPts val="0"/>
                        </a:spcBef>
                        <a:spcAft>
                          <a:spcPts val="0"/>
                        </a:spcAft>
                        <a:buNone/>
                      </a:pPr>
                      <a:r>
                        <a:rPr lang="en-US" sz="1000">
                          <a:solidFill>
                            <a:schemeClr val="dk1"/>
                          </a:solidFill>
                        </a:rPr>
                        <a:t>Electrical Efficiency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Reduces resistive losses and optimizes power transfer for long tether systems.</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rowSpan="8">
                  <a:txBody>
                    <a:bodyPr/>
                    <a:lstStyle/>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5 = High</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3 = Medium</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1 = Low</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0 = Fail</a:t>
                      </a:r>
                      <a:endParaRPr sz="1000">
                        <a:solidFill>
                          <a:schemeClr val="dk1"/>
                        </a:solidFill>
                        <a:latin typeface="Roboto"/>
                        <a:ea typeface="Roboto"/>
                        <a:cs typeface="Roboto"/>
                        <a:sym typeface="Roboto"/>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Safety &amp; Fault Tolerance</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Ensures system protection from faults and protects divers and electronics.</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18%</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Modularity / Scalability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Allows expansion, subsystem replacement, or upgrades easily.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Maintenance / Serviceability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Simplifies troubleshooting and long-term upkeep.</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Weight &amp; Space Efficiency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Reduces housing footprint and helps achieve neutral buoyancy.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Cost &amp; Complexity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Balances affordability and simplicity of implementation.</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408125">
                <a:tc>
                  <a:txBody>
                    <a:bodyPr/>
                    <a:lstStyle/>
                    <a:p>
                      <a:pPr indent="0" lvl="0" marL="0" rtl="0" algn="ctr">
                        <a:lnSpc>
                          <a:spcPct val="115000"/>
                        </a:lnSpc>
                        <a:spcBef>
                          <a:spcPts val="0"/>
                        </a:spcBef>
                        <a:spcAft>
                          <a:spcPts val="0"/>
                        </a:spcAft>
                        <a:buNone/>
                      </a:pPr>
                      <a:r>
                        <a:rPr lang="en-US" sz="1000">
                          <a:solidFill>
                            <a:schemeClr val="dk1"/>
                          </a:solidFill>
                        </a:rPr>
                        <a:t>Ease of Integration</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Simplifies wiring, layout, and assembly during manufacturing.</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Standards / Reliability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Adheres to marine electrical standards and proven reliability.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200025">
                <a:tc gridSpan="3">
                  <a:txBody>
                    <a:bodyPr/>
                    <a:lstStyle/>
                    <a:p>
                      <a:pPr indent="0" lvl="0" marL="0" rtl="0" algn="l">
                        <a:spcBef>
                          <a:spcPts val="0"/>
                        </a:spcBef>
                        <a:spcAft>
                          <a:spcPts val="0"/>
                        </a:spcAft>
                        <a:buNone/>
                      </a:pPr>
                      <a:r>
                        <a:t/>
                      </a:r>
                      <a:endParaRPr>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hMerge="1"/>
                <a:tc hMerge="1"/>
                <a:tc>
                  <a:txBody>
                    <a:bodyPr/>
                    <a:lstStyle/>
                    <a:p>
                      <a:pPr indent="0" lvl="0" marL="0" rtl="0" algn="ctr">
                        <a:lnSpc>
                          <a:spcPct val="115000"/>
                        </a:lnSpc>
                        <a:spcBef>
                          <a:spcPts val="0"/>
                        </a:spcBef>
                        <a:spcAft>
                          <a:spcPts val="0"/>
                        </a:spcAft>
                        <a:buNone/>
                      </a:pPr>
                      <a:r>
                        <a:rPr b="1" lang="en-US" sz="1000">
                          <a:solidFill>
                            <a:schemeClr val="dk1"/>
                          </a:solidFill>
                        </a:rPr>
                        <a:t>100%</a:t>
                      </a:r>
                      <a:endParaRPr b="1"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lt1"/>
                          </a:solidFill>
                        </a:rPr>
                        <a:t>81.2</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34A853"/>
                    </a:solidFill>
                  </a:tcPr>
                </a:tc>
                <a:tc>
                  <a:txBody>
                    <a:bodyPr/>
                    <a:lstStyle/>
                    <a:p>
                      <a:pPr indent="0" lvl="0" marL="0" rtl="0" algn="ctr">
                        <a:lnSpc>
                          <a:spcPct val="115000"/>
                        </a:lnSpc>
                        <a:spcBef>
                          <a:spcPts val="0"/>
                        </a:spcBef>
                        <a:spcAft>
                          <a:spcPts val="0"/>
                        </a:spcAft>
                        <a:buNone/>
                      </a:pPr>
                      <a:r>
                        <a:rPr lang="en-US" sz="1000">
                          <a:solidFill>
                            <a:schemeClr val="lt1"/>
                          </a:solidFill>
                        </a:rPr>
                        <a:t>73.6</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US" sz="1000">
                          <a:solidFill>
                            <a:schemeClr val="lt1"/>
                          </a:solidFill>
                        </a:rPr>
                        <a:t>69.6</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graphicFrame>
        <p:nvGraphicFramePr>
          <p:cNvPr id="473" name="Google Shape;473;p56"/>
          <p:cNvGraphicFramePr/>
          <p:nvPr/>
        </p:nvGraphicFramePr>
        <p:xfrm>
          <a:off x="571538" y="633388"/>
          <a:ext cx="3000000" cy="3000000"/>
        </p:xfrm>
        <a:graphic>
          <a:graphicData uri="http://schemas.openxmlformats.org/drawingml/2006/table">
            <a:tbl>
              <a:tblPr>
                <a:noFill/>
                <a:tableStyleId>{CCEDFED6-B171-44F2-B70F-3FA0125B035B}</a:tableStyleId>
              </a:tblPr>
              <a:tblGrid>
                <a:gridCol w="2153300"/>
                <a:gridCol w="1003175"/>
                <a:gridCol w="2022675"/>
                <a:gridCol w="1395425"/>
                <a:gridCol w="1240075"/>
                <a:gridCol w="997100"/>
                <a:gridCol w="1164625"/>
                <a:gridCol w="1072550"/>
              </a:tblGrid>
              <a:tr h="756675">
                <a:tc gridSpan="8">
                  <a:txBody>
                    <a:bodyPr/>
                    <a:lstStyle/>
                    <a:p>
                      <a:pPr indent="0" lvl="0" marL="0" rtl="0" algn="ctr">
                        <a:spcBef>
                          <a:spcPts val="0"/>
                        </a:spcBef>
                        <a:spcAft>
                          <a:spcPts val="0"/>
                        </a:spcAft>
                        <a:buNone/>
                      </a:pPr>
                      <a:r>
                        <a:rPr b="1" lang="en-US" sz="3000">
                          <a:solidFill>
                            <a:schemeClr val="lt1"/>
                          </a:solidFill>
                        </a:rPr>
                        <a:t>Wire Color Scheme</a:t>
                      </a:r>
                      <a:endParaRPr b="1" sz="3000">
                        <a:solidFill>
                          <a:schemeClr val="lt1"/>
                        </a:solidFill>
                      </a:endParaRPr>
                    </a:p>
                  </a:txBody>
                  <a:tcPr marT="19050" marB="19050" marR="28575" marL="28575" anchor="ctr">
                    <a:lnL cap="flat" cmpd="sng" w="9525">
                      <a:solidFill>
                        <a:srgbClr val="CCCCCC">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hMerge="1"/>
                <a:tc hMerge="1"/>
                <a:tc hMerge="1"/>
                <a:tc hMerge="1"/>
                <a:tc hMerge="1"/>
                <a:tc hMerge="1"/>
              </a:tr>
              <a:tr h="987400">
                <a:tc>
                  <a:txBody>
                    <a:bodyPr/>
                    <a:lstStyle/>
                    <a:p>
                      <a:pPr indent="0" lvl="0" marL="0" rtl="0" algn="ctr">
                        <a:spcBef>
                          <a:spcPts val="0"/>
                        </a:spcBef>
                        <a:spcAft>
                          <a:spcPts val="0"/>
                        </a:spcAft>
                        <a:buNone/>
                      </a:pPr>
                      <a:r>
                        <a:rPr b="1" lang="en-US" sz="1800"/>
                        <a:t>Category</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Weight</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Criteria</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High/Low</a:t>
                      </a:r>
                      <a:endParaRPr b="1" sz="1800"/>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gridSpan="2">
                  <a:txBody>
                    <a:bodyPr/>
                    <a:lstStyle/>
                    <a:p>
                      <a:pPr indent="0" lvl="0" marL="0" rtl="0" algn="ctr">
                        <a:lnSpc>
                          <a:spcPct val="115000"/>
                        </a:lnSpc>
                        <a:spcBef>
                          <a:spcPts val="0"/>
                        </a:spcBef>
                        <a:spcAft>
                          <a:spcPts val="0"/>
                        </a:spcAft>
                        <a:buNone/>
                      </a:pPr>
                      <a:r>
                        <a:rPr b="1" lang="en-US" sz="1800"/>
                        <a:t>US IEC 60446 AC/DC Codes</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c gridSpan="2">
                  <a:txBody>
                    <a:bodyPr/>
                    <a:lstStyle/>
                    <a:p>
                      <a:pPr indent="0" lvl="0" marL="0" rtl="0" algn="ctr">
                        <a:lnSpc>
                          <a:spcPct val="115000"/>
                        </a:lnSpc>
                        <a:spcBef>
                          <a:spcPts val="0"/>
                        </a:spcBef>
                        <a:spcAft>
                          <a:spcPts val="0"/>
                        </a:spcAft>
                        <a:buNone/>
                      </a:pPr>
                      <a:r>
                        <a:rPr b="1" lang="en-US" sz="1800"/>
                        <a:t>ABYC E-11</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r>
              <a:tr h="1143000">
                <a:tc>
                  <a:txBody>
                    <a:bodyPr/>
                    <a:lstStyle/>
                    <a:p>
                      <a:pPr indent="0" lvl="0" marL="0" rtl="0" algn="ctr">
                        <a:lnSpc>
                          <a:spcPct val="115000"/>
                        </a:lnSpc>
                        <a:spcBef>
                          <a:spcPts val="0"/>
                        </a:spcBef>
                        <a:spcAft>
                          <a:spcPts val="0"/>
                        </a:spcAft>
                        <a:buNone/>
                      </a:pPr>
                      <a:r>
                        <a:rPr lang="en-US" sz="1600">
                          <a:solidFill>
                            <a:schemeClr val="dk1"/>
                          </a:solidFill>
                        </a:rPr>
                        <a:t>Simplicity</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a:t>
                      </a:r>
                      <a:r>
                        <a:rPr lang="en-US" sz="1600">
                          <a:solidFill>
                            <a:schemeClr val="dk1"/>
                          </a:solidFill>
                        </a:rPr>
                        <a:t>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Number of required colors/rules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FALSE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10.77</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13</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143000">
                <a:tc>
                  <a:txBody>
                    <a:bodyPr/>
                    <a:lstStyle/>
                    <a:p>
                      <a:pPr indent="0" lvl="0" marL="0" rtl="0" algn="ctr">
                        <a:lnSpc>
                          <a:spcPct val="115000"/>
                        </a:lnSpc>
                        <a:spcBef>
                          <a:spcPts val="0"/>
                        </a:spcBef>
                        <a:spcAft>
                          <a:spcPts val="0"/>
                        </a:spcAft>
                        <a:buNone/>
                      </a:pPr>
                      <a:r>
                        <a:rPr lang="en-US" sz="1600">
                          <a:solidFill>
                            <a:schemeClr val="dk1"/>
                          </a:solidFill>
                        </a:rPr>
                        <a:t>Ease of Debugging</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a:t>
                      </a:r>
                      <a:r>
                        <a:rPr lang="en-US" sz="1600">
                          <a:solidFill>
                            <a:schemeClr val="dk1"/>
                          </a:solidFill>
                        </a:rPr>
                        <a:t>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Difficult to measure, based on number of useful colors/subsystems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40.00</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9</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60.00</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143000">
                <a:tc>
                  <a:txBody>
                    <a:bodyPr/>
                    <a:lstStyle/>
                    <a:p>
                      <a:pPr indent="0" lvl="0" marL="0" rtl="0" algn="ctr">
                        <a:lnSpc>
                          <a:spcPct val="115000"/>
                        </a:lnSpc>
                        <a:spcBef>
                          <a:spcPts val="0"/>
                        </a:spcBef>
                        <a:spcAft>
                          <a:spcPts val="0"/>
                        </a:spcAft>
                        <a:buNone/>
                      </a:pPr>
                      <a:r>
                        <a:rPr lang="en-US" sz="1600">
                          <a:solidFill>
                            <a:schemeClr val="dk1"/>
                          </a:solidFill>
                        </a:rPr>
                        <a:t>Standardized Colors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Use of the coloring scheme, popularity in ROV industry by percent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99</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20.00</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90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18.18</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18125">
                <a:tc gridSpan="4">
                  <a:txBody>
                    <a:bodyPr/>
                    <a:lstStyle/>
                    <a:p>
                      <a:pPr indent="0" lvl="0" marL="0" rtl="0" algn="ctr">
                        <a:lnSpc>
                          <a:spcPct val="115000"/>
                        </a:lnSpc>
                        <a:spcBef>
                          <a:spcPts val="0"/>
                        </a:spcBef>
                        <a:spcAft>
                          <a:spcPts val="0"/>
                        </a:spcAft>
                        <a:buNone/>
                      </a:pPr>
                      <a:r>
                        <a:rPr b="1" lang="en-US" sz="1600">
                          <a:solidFill>
                            <a:schemeClr val="dk1"/>
                          </a:solidFill>
                        </a:rPr>
                        <a:t>Totals</a:t>
                      </a:r>
                      <a:endParaRPr b="1"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70.77</a:t>
                      </a:r>
                      <a:r>
                        <a:rPr lang="en-US" sz="1600">
                          <a:solidFill>
                            <a:schemeClr val="lt1"/>
                          </a:solidFill>
                        </a:rPr>
                        <a:t>%</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78.18</a:t>
                      </a:r>
                      <a:r>
                        <a:rPr lang="en-US" sz="1600">
                          <a:solidFill>
                            <a:schemeClr val="lt1"/>
                          </a:solidFill>
                        </a:rPr>
                        <a:t>%</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4A853"/>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TTT_Palet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