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5.xml"/><Relationship Id="rId41" Type="http://schemas.openxmlformats.org/officeDocument/2006/relationships/font" Target="fonts/HelveticaNeue-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bold.fntdata"/><Relationship Id="rId16" Type="http://schemas.openxmlformats.org/officeDocument/2006/relationships/slide" Target="slides/slide11.xml"/><Relationship Id="rId38" Type="http://schemas.openxmlformats.org/officeDocument/2006/relationships/font" Target="fonts/HelveticaNe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db8790c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db8790c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f603f32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f603f32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1e53629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1e53629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6910dcd1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6910dcd1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1e53629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61e53629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bf46d5b9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bf46d5b9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de13474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de13474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f610f53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f610f5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3cb5677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3cb5677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5b3d53f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5b3d53f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825a123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825a123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b375f65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b375f65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c4cf17c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7c4cf17c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edb6eba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8edb6eba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edb6ebac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edb6ebac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d19a83bb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d19a83bb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f954f88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f954f88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19fac1d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19fac1d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3bd57f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3bd57f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81f0409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81f0409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2fac747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2fac747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3e2ff35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3e2ff35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2606087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b2606087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7acce10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7acce10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ab42a8b8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ab42a8b8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df6f0ca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df6f0ca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2bbe7c7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c2bbe7c7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a142110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a142110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a142110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ca142110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eb9fd46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ceb9fd46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bebda28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cbebda28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C&amp;C Notebook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a:t>Lucian Webster, Andrei Bugayong, Christopher Gibbs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Meeting title and date</a:t>
            </a:r>
            <a:r>
              <a:rPr lang="en" sz="2800">
                <a:solidFill>
                  <a:schemeClr val="dk1"/>
                </a:solidFill>
              </a:rPr>
              <a:t>                                       Author</a:t>
            </a:r>
            <a:endParaRPr sz="2800" u="sng">
              <a:solidFill>
                <a:srgbClr val="000000"/>
              </a:solidFill>
            </a:endParaRPr>
          </a:p>
        </p:txBody>
      </p:sp>
      <p:sp>
        <p:nvSpPr>
          <p:cNvPr id="61" name="Google Shape;61;p14"/>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Assign note taker </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Discuss research </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Confirm languages and softwares that will be used </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LabVIEW?</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C++</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Assign research topics </a:t>
            </a:r>
            <a:endParaRPr sz="11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research topics next meeting</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Members will analyze past teams by next meeting</a:t>
            </a:r>
            <a:endParaRPr sz="1100">
              <a:latin typeface="Helvetica Neue"/>
              <a:ea typeface="Helvetica Neue"/>
              <a:cs typeface="Helvetica Neue"/>
              <a:sym typeface="Helvetica Neue"/>
            </a:endParaRPr>
          </a:p>
        </p:txBody>
      </p:sp>
      <p:sp>
        <p:nvSpPr>
          <p:cNvPr id="62" name="Google Shape;62;p14"/>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Important decisions made during the meeting</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One sentence justification</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800" u="sng"/>
              <a:t>5/31/2025 Meeting</a:t>
            </a:r>
            <a:r>
              <a:rPr lang="en" sz="2800">
                <a:solidFill>
                  <a:srgbClr val="000000"/>
                </a:solidFill>
              </a:rPr>
              <a:t>                                    </a:t>
            </a:r>
            <a:r>
              <a:rPr lang="en" sz="2800"/>
              <a:t>Andrei</a:t>
            </a:r>
            <a:endParaRPr sz="2800" u="sng">
              <a:solidFill>
                <a:srgbClr val="000000"/>
              </a:solidFill>
            </a:endParaRPr>
          </a:p>
        </p:txBody>
      </p:sp>
      <p:sp>
        <p:nvSpPr>
          <p:cNvPr id="68" name="Google Shape;68;p15"/>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000000"/>
              </a:buClr>
              <a:buSzPts val="1100"/>
              <a:buFont typeface="Helvetica Neue"/>
              <a:buChar char="❏"/>
            </a:pPr>
            <a:r>
              <a:rPr lang="en" sz="1100">
                <a:latin typeface="Helvetica Neue"/>
                <a:ea typeface="Helvetica Neue"/>
                <a:cs typeface="Helvetica Neue"/>
                <a:sym typeface="Helvetica Neue"/>
              </a:rPr>
              <a:t>Assign note taker </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Discuss research </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Confirm languages and softwares that will be used </a:t>
            </a:r>
            <a:endParaRPr sz="1100">
              <a:latin typeface="Helvetica Neue"/>
              <a:ea typeface="Helvetica Neue"/>
              <a:cs typeface="Helvetica Neue"/>
              <a:sym typeface="Helvetica Neue"/>
            </a:endParaRPr>
          </a:p>
          <a:p>
            <a:pPr indent="-298450" lvl="1" marL="9144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LabVIEW? (Up for possible change)</a:t>
            </a:r>
            <a:endParaRPr sz="1100">
              <a:latin typeface="Helvetica Neue"/>
              <a:ea typeface="Helvetica Neue"/>
              <a:cs typeface="Helvetica Neue"/>
              <a:sym typeface="Helvetica Neue"/>
            </a:endParaRPr>
          </a:p>
          <a:p>
            <a:pPr indent="-298450" lvl="1" marL="9144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C++</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Assign research topics </a:t>
            </a:r>
            <a:endParaRPr sz="11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000000"/>
              </a:buClr>
              <a:buSzPts val="1100"/>
              <a:buFont typeface="Helvetica Neue"/>
              <a:buChar char="❏"/>
            </a:pPr>
            <a:r>
              <a:rPr lang="en" sz="1100">
                <a:latin typeface="Helvetica Neue"/>
                <a:ea typeface="Helvetica Neue"/>
                <a:cs typeface="Helvetica Neue"/>
                <a:sym typeface="Helvetica Neue"/>
              </a:rPr>
              <a:t>Discuss research topics next meeting</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Members will analyze past teams by next meeting</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t/>
            </a:r>
            <a:endParaRPr sz="1100">
              <a:latin typeface="Helvetica Neue"/>
              <a:ea typeface="Helvetica Neue"/>
              <a:cs typeface="Helvetica Neue"/>
              <a:sym typeface="Helvetica Neue"/>
            </a:endParaRPr>
          </a:p>
        </p:txBody>
      </p:sp>
      <p:sp>
        <p:nvSpPr>
          <p:cNvPr id="69" name="Google Shape;69;p15"/>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We will need to talk to TMS for camera setups.</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Addressed by Lucian</a:t>
            </a:r>
            <a:endParaRPr sz="1300">
              <a:solidFill>
                <a:srgbClr val="595959"/>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We assigned people to research into lights/camera, power supply, and software for power diagrams.</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Lights/Camera for Andrei</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Software for Chris</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Power supply for Lucian</a:t>
            </a:r>
            <a:endParaRPr sz="1300">
              <a:solidFill>
                <a:srgbClr val="595959"/>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To better organize the research documents, more folders will be created going by each week.</a:t>
            </a:r>
            <a:endParaRPr sz="1300">
              <a:solidFill>
                <a:srgbClr val="595959"/>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06/07/2025 Meeting</a:t>
            </a:r>
            <a:r>
              <a:rPr lang="en" sz="2800">
                <a:solidFill>
                  <a:schemeClr val="dk1"/>
                </a:solidFill>
              </a:rPr>
              <a:t>                                Andrei</a:t>
            </a:r>
            <a:endParaRPr sz="2800" u="sng">
              <a:solidFill>
                <a:srgbClr val="000000"/>
              </a:solidFill>
            </a:endParaRPr>
          </a:p>
        </p:txBody>
      </p:sp>
      <p:sp>
        <p:nvSpPr>
          <p:cNvPr id="75" name="Google Shape;75;p16"/>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Discuss what we researched last week</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Confirm languages and softwares that will be used </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our role and responsibilities in the broader scope.</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research topics next meeting</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2"/>
              </a:buClr>
              <a:buSzPts val="1100"/>
              <a:buFont typeface="Helvetica Neue"/>
              <a:buChar char="❏"/>
            </a:pPr>
            <a:r>
              <a:rPr lang="en" sz="1100">
                <a:solidFill>
                  <a:schemeClr val="dk1"/>
                </a:solidFill>
                <a:latin typeface="Helvetica Neue"/>
                <a:ea typeface="Helvetica Neue"/>
                <a:cs typeface="Helvetica Neue"/>
                <a:sym typeface="Helvetica Neue"/>
              </a:rPr>
              <a:t>Look into </a:t>
            </a:r>
            <a:r>
              <a:rPr lang="en" sz="1100">
                <a:solidFill>
                  <a:schemeClr val="dk1"/>
                </a:solidFill>
                <a:latin typeface="Helvetica Neue"/>
                <a:ea typeface="Helvetica Neue"/>
                <a:cs typeface="Helvetica Neue"/>
                <a:sym typeface="Helvetica Neue"/>
              </a:rPr>
              <a:t>Pneumatics</a:t>
            </a:r>
            <a:r>
              <a:rPr lang="en" sz="1100">
                <a:solidFill>
                  <a:schemeClr val="dk1"/>
                </a:solidFill>
                <a:latin typeface="Helvetica Neue"/>
                <a:ea typeface="Helvetica Neue"/>
                <a:cs typeface="Helvetica Neue"/>
                <a:sym typeface="Helvetica Neue"/>
              </a:rPr>
              <a:t> and how it associates with other teams.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Make a list of requirements of what we are expected to do.</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Try to look into past teams and see what they did and how they relate to our subteam.</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Specifically look into the past teams from more established universities.</a:t>
            </a:r>
            <a:endParaRPr sz="1100">
              <a:solidFill>
                <a:schemeClr val="dk1"/>
              </a:solidFill>
              <a:latin typeface="Helvetica Neue"/>
              <a:ea typeface="Helvetica Neue"/>
              <a:cs typeface="Helvetica Neue"/>
              <a:sym typeface="Helvetica Neue"/>
            </a:endParaRPr>
          </a:p>
        </p:txBody>
      </p:sp>
      <p:sp>
        <p:nvSpPr>
          <p:cNvPr id="76" name="Google Shape;76;p16"/>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lnSpcReduction="20000"/>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We will use AUTOCAD for our electrical software wiring</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Industry standard and some of us already know it.</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We will need to create a list of components and note how they interact with each other.</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In order to have pre set solutions for upcoming problems.</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When it comes to looking at past teams, don’t look past 5 years.</a:t>
            </a:r>
            <a:endParaRPr sz="1300">
              <a:solidFill>
                <a:srgbClr val="595959"/>
              </a:solidFill>
            </a:endParaRPr>
          </a:p>
          <a:p>
            <a:pPr indent="0" lvl="0" marL="0" rtl="0" algn="l">
              <a:lnSpc>
                <a:spcPct val="115000"/>
              </a:lnSpc>
              <a:spcBef>
                <a:spcPts val="1200"/>
              </a:spcBef>
              <a:spcAft>
                <a:spcPts val="0"/>
              </a:spcAft>
              <a:buNone/>
            </a:pPr>
            <a:r>
              <a:t/>
            </a:r>
            <a:endParaRPr>
              <a:solidFill>
                <a:srgbClr val="595959"/>
              </a:solidFill>
            </a:endParaRPr>
          </a:p>
          <a:p>
            <a:pPr indent="0" lvl="0" marL="0" rtl="0" algn="l">
              <a:lnSpc>
                <a:spcPct val="115000"/>
              </a:lnSpc>
              <a:spcBef>
                <a:spcPts val="1200"/>
              </a:spcBef>
              <a:spcAft>
                <a:spcPts val="1200"/>
              </a:spcAft>
              <a:buNone/>
            </a:pPr>
            <a:r>
              <a:rPr lang="en">
                <a:solidFill>
                  <a:srgbClr val="595959"/>
                </a:solidFill>
              </a:rPr>
              <a:t>(Extra thing to note, focus on </a:t>
            </a:r>
            <a:r>
              <a:rPr lang="en">
                <a:solidFill>
                  <a:srgbClr val="595959"/>
                </a:solidFill>
              </a:rPr>
              <a:t>quantifying what we need to come up with solutions, not solutions</a:t>
            </a:r>
            <a:r>
              <a:rPr lang="en">
                <a:solidFill>
                  <a:srgbClr val="595959"/>
                </a:solidFill>
              </a:rPr>
              <a:t>)</a:t>
            </a:r>
            <a:endParaRPr>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06/16/2025 Meeting</a:t>
            </a:r>
            <a:r>
              <a:rPr lang="en" sz="2800">
                <a:solidFill>
                  <a:schemeClr val="dk1"/>
                </a:solidFill>
              </a:rPr>
              <a:t>                                      Andrei</a:t>
            </a:r>
            <a:endParaRPr sz="2800" u="sng">
              <a:solidFill>
                <a:srgbClr val="000000"/>
              </a:solidFill>
            </a:endParaRPr>
          </a:p>
        </p:txBody>
      </p:sp>
      <p:sp>
        <p:nvSpPr>
          <p:cNvPr id="82" name="Google Shape;82;p17"/>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Upload and research the teams we looked at and how they relate to each other</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Relate our subteam goals to GNC</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Brainstorm needs for the needs requirement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Possibly come up with arguments for the software (AutoCAD) so team leads can discuss what we will use moving forward.</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Fill out the needs requirement which is due 6/20</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the OS systems that past teams used and justify their use.</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processors that past teams used and justify their use.</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Motor controllers/Motors that past teams used and justify their use.</a:t>
            </a:r>
            <a:endParaRPr sz="1100">
              <a:solidFill>
                <a:schemeClr val="dk1"/>
              </a:solidFill>
              <a:latin typeface="Helvetica Neue"/>
              <a:ea typeface="Helvetica Neue"/>
              <a:cs typeface="Helvetica Neue"/>
              <a:sym typeface="Helvetica Neue"/>
            </a:endParaRPr>
          </a:p>
        </p:txBody>
      </p:sp>
      <p:sp>
        <p:nvSpPr>
          <p:cNvPr id="83" name="Google Shape;83;p17"/>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We defined our team as “everything digital”. Moving numbers and signals, computing signals, provide hardware along with software solutions.</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Helps to move forward on defining our subteam to better understand our goals.</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Topside control system will be under our sphere of need to make.</a:t>
            </a:r>
            <a:endParaRPr sz="130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800" u="sng"/>
              <a:t>06/23/2025 </a:t>
            </a:r>
            <a:r>
              <a:rPr lang="en" sz="2800" u="sng"/>
              <a:t>Meeting</a:t>
            </a:r>
            <a:r>
              <a:rPr lang="en" sz="2800">
                <a:solidFill>
                  <a:srgbClr val="000000"/>
                </a:solidFill>
              </a:rPr>
              <a:t>                                    </a:t>
            </a:r>
            <a:r>
              <a:rPr lang="en" sz="2800"/>
              <a:t>Andrei</a:t>
            </a:r>
            <a:endParaRPr sz="2800" u="sng">
              <a:solidFill>
                <a:srgbClr val="000000"/>
              </a:solidFill>
            </a:endParaRPr>
          </a:p>
        </p:txBody>
      </p:sp>
      <p:sp>
        <p:nvSpPr>
          <p:cNvPr id="89" name="Google Shape;89;p18"/>
          <p:cNvSpPr txBox="1"/>
          <p:nvPr/>
        </p:nvSpPr>
        <p:spPr>
          <a:xfrm>
            <a:off x="311700" y="1152475"/>
            <a:ext cx="39999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000000"/>
              </a:buClr>
              <a:buSzPts val="1100"/>
              <a:buFont typeface="Helvetica Neue"/>
              <a:buChar char="❏"/>
            </a:pPr>
            <a:r>
              <a:rPr lang="en" sz="1100">
                <a:latin typeface="Helvetica Neue"/>
                <a:ea typeface="Helvetica Neue"/>
                <a:cs typeface="Helvetica Neue"/>
                <a:sym typeface="Helvetica Neue"/>
              </a:rPr>
              <a:t>Discuss research topics from last week.</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Acknowledge the requirements for the MATE ROV google sheet.</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Look into together a technical documentation by a previous team.</a:t>
            </a:r>
            <a:endParaRPr sz="1100">
              <a:latin typeface="Helvetica Neue"/>
              <a:ea typeface="Helvetica Neue"/>
              <a:cs typeface="Helvetica Neue"/>
              <a:sym typeface="Helvetica Neue"/>
            </a:endParaRPr>
          </a:p>
          <a:p>
            <a:pPr indent="-298450" lvl="1" marL="914400" rtl="0" algn="l">
              <a:lnSpc>
                <a:spcPct val="115000"/>
              </a:lnSpc>
              <a:spcBef>
                <a:spcPts val="0"/>
              </a:spcBef>
              <a:spcAft>
                <a:spcPts val="0"/>
              </a:spcAft>
              <a:buClr>
                <a:srgbClr val="595959"/>
              </a:buClr>
              <a:buSzPts val="1100"/>
              <a:buFont typeface="Helvetica Neue"/>
              <a:buChar char="❏"/>
            </a:pPr>
            <a:r>
              <a:rPr lang="en" sz="1100">
                <a:latin typeface="Helvetica Neue"/>
                <a:ea typeface="Helvetica Neue"/>
                <a:cs typeface="Helvetica Neue"/>
                <a:sym typeface="Helvetica Neue"/>
              </a:rPr>
              <a:t>We notice specifically that the team did most of the computations on top side and sent it down to the board through the ethernet cable tether, which is then sent to the sensors/controllers. Could be better than using a </a:t>
            </a:r>
            <a:r>
              <a:rPr lang="en" sz="1100">
                <a:latin typeface="Helvetica Neue"/>
                <a:ea typeface="Helvetica Neue"/>
                <a:cs typeface="Helvetica Neue"/>
                <a:sym typeface="Helvetica Neue"/>
              </a:rPr>
              <a:t>raspberry</a:t>
            </a:r>
            <a:r>
              <a:rPr lang="en" sz="1100">
                <a:latin typeface="Helvetica Neue"/>
                <a:ea typeface="Helvetica Neue"/>
                <a:cs typeface="Helvetica Neue"/>
                <a:sym typeface="Helvetica Neue"/>
              </a:rPr>
              <a:t> pi onboard the ROV.</a:t>
            </a:r>
            <a:endParaRPr sz="1100">
              <a:latin typeface="Helvetica Neue"/>
              <a:ea typeface="Helvetica Neue"/>
              <a:cs typeface="Helvetica Neue"/>
              <a:sym typeface="Helvetica Neue"/>
            </a:endParaRPr>
          </a:p>
          <a:p>
            <a:pPr indent="0" lvl="0" marL="457200" rtl="0" algn="l">
              <a:lnSpc>
                <a:spcPct val="115000"/>
              </a:lnSpc>
              <a:spcBef>
                <a:spcPts val="0"/>
              </a:spcBef>
              <a:spcAft>
                <a:spcPts val="0"/>
              </a:spcAft>
              <a:buNone/>
            </a:pPr>
            <a:r>
              <a:t/>
            </a:r>
            <a:endParaRPr sz="11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000000"/>
              </a:buClr>
              <a:buSzPts val="1100"/>
              <a:buFont typeface="Helvetica Neue"/>
              <a:buChar char="❏"/>
            </a:pPr>
            <a:r>
              <a:rPr lang="en" sz="1100">
                <a:latin typeface="Helvetica Neue"/>
                <a:ea typeface="Helvetica Neue"/>
                <a:cs typeface="Helvetica Neue"/>
                <a:sym typeface="Helvetica Neue"/>
              </a:rPr>
              <a:t>Consider looking into the possibility of putting computation more on top side than on board. It’s a unique idea that could help make working with electronic components/computing more easier.</a:t>
            </a:r>
            <a:endParaRPr sz="1100">
              <a:latin typeface="Helvetica Neue"/>
              <a:ea typeface="Helvetica Neue"/>
              <a:cs typeface="Helvetica Neue"/>
              <a:sym typeface="Helvetica Neue"/>
            </a:endParaRPr>
          </a:p>
          <a:p>
            <a:pPr indent="-298450" lvl="0" marL="457200" rtl="0" algn="l">
              <a:lnSpc>
                <a:spcPct val="115000"/>
              </a:lnSpc>
              <a:spcBef>
                <a:spcPts val="0"/>
              </a:spcBef>
              <a:spcAft>
                <a:spcPts val="0"/>
              </a:spcAft>
              <a:buClr>
                <a:srgbClr val="595959"/>
              </a:buClr>
              <a:buSzPts val="1100"/>
              <a:buFont typeface="Helvetica Neue"/>
              <a:buChar char="❏"/>
            </a:pPr>
            <a:r>
              <a:t/>
            </a:r>
            <a:endParaRPr sz="1100">
              <a:latin typeface="Helvetica Neue"/>
              <a:ea typeface="Helvetica Neue"/>
              <a:cs typeface="Helvetica Neue"/>
              <a:sym typeface="Helvetica Neue"/>
            </a:endParaRPr>
          </a:p>
        </p:txBody>
      </p:sp>
      <p:sp>
        <p:nvSpPr>
          <p:cNvPr id="90" name="Google Shape;90;p18"/>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Begin delving into looking how to fill out the requirement sheet for the future.</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It’s due next month but we will need to be way more detailed for these requirements.</a:t>
            </a:r>
            <a:endParaRPr sz="1300">
              <a:solidFill>
                <a:srgbClr val="595959"/>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We further confirmed that we are more likely to be working more on the hardware portion for our team compared to the software portion.</a:t>
            </a:r>
            <a:endParaRPr sz="1300">
              <a:solidFill>
                <a:srgbClr val="595959"/>
              </a:solidFill>
              <a:latin typeface="Helvetica Neue"/>
              <a:ea typeface="Helvetica Neue"/>
              <a:cs typeface="Helvetica Neue"/>
              <a:sym typeface="Helvetica Neue"/>
            </a:endParaRPr>
          </a:p>
          <a:p>
            <a:pPr indent="-311150" lvl="1" marL="914400" rtl="0" algn="l">
              <a:lnSpc>
                <a:spcPct val="115000"/>
              </a:lnSpc>
              <a:spcBef>
                <a:spcPts val="0"/>
              </a:spcBef>
              <a:spcAft>
                <a:spcPts val="0"/>
              </a:spcAft>
              <a:buClr>
                <a:srgbClr val="595959"/>
              </a:buClr>
              <a:buSzPts val="1300"/>
              <a:buFont typeface="Helvetica Neue"/>
              <a:buChar char="○"/>
            </a:pPr>
            <a:r>
              <a:rPr lang="en" sz="1300">
                <a:solidFill>
                  <a:srgbClr val="595959"/>
                </a:solidFill>
                <a:latin typeface="Helvetica Neue"/>
                <a:ea typeface="Helvetica Neue"/>
                <a:cs typeface="Helvetica Neue"/>
                <a:sym typeface="Helvetica Neue"/>
              </a:rPr>
              <a:t>It seems software computations are more likely to be done by other subteams such as GNC.</a:t>
            </a:r>
            <a:endParaRPr sz="1300">
              <a:solidFill>
                <a:srgbClr val="595959"/>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07/07/2025 Meeting</a:t>
            </a:r>
            <a:r>
              <a:rPr lang="en" sz="2800">
                <a:solidFill>
                  <a:schemeClr val="dk1"/>
                </a:solidFill>
              </a:rPr>
              <a:t>                                       Andrei</a:t>
            </a:r>
            <a:endParaRPr sz="2800" u="sng">
              <a:solidFill>
                <a:srgbClr val="000000"/>
              </a:solidFill>
            </a:endParaRPr>
          </a:p>
        </p:txBody>
      </p:sp>
      <p:sp>
        <p:nvSpPr>
          <p:cNvPr id="96" name="Google Shape;96;p19"/>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Go over the requirements that we researched for the requirement sheet.</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Start filling out the requirements sheet.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Continue filling out the requirement sheets.</a:t>
            </a:r>
            <a:endParaRPr sz="1100">
              <a:latin typeface="Helvetica Neue"/>
              <a:ea typeface="Helvetica Neue"/>
              <a:cs typeface="Helvetica Neue"/>
              <a:sym typeface="Helvetica Neue"/>
            </a:endParaRPr>
          </a:p>
        </p:txBody>
      </p:sp>
      <p:sp>
        <p:nvSpPr>
          <p:cNvPr id="97" name="Google Shape;97;p19"/>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Discussed that requirements shouldn’t be solution oriented.</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Requirements should be “problem oriented”</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Prioritize </a:t>
            </a:r>
            <a:r>
              <a:rPr lang="en" sz="1300">
                <a:solidFill>
                  <a:srgbClr val="595959"/>
                </a:solidFill>
              </a:rPr>
              <a:t>possibly adding numbers to the requirement needs.</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07/14/2025 Meeting</a:t>
            </a:r>
            <a:r>
              <a:rPr lang="en" sz="2800">
                <a:solidFill>
                  <a:schemeClr val="dk1"/>
                </a:solidFill>
              </a:rPr>
              <a:t>                                       Andrei</a:t>
            </a:r>
            <a:endParaRPr sz="2800" u="sng">
              <a:solidFill>
                <a:srgbClr val="000000"/>
              </a:solidFill>
            </a:endParaRPr>
          </a:p>
        </p:txBody>
      </p:sp>
      <p:sp>
        <p:nvSpPr>
          <p:cNvPr id="103" name="Google Shape;103;p20"/>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Go over what was added to the requirement sheet since last week.</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GNC’s plan to move forward with BlueOS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Continue filling out the requirement sheets.</a:t>
            </a:r>
            <a:endParaRPr sz="1100">
              <a:latin typeface="Helvetica Neue"/>
              <a:ea typeface="Helvetica Neue"/>
              <a:cs typeface="Helvetica Neue"/>
              <a:sym typeface="Helvetica Neue"/>
            </a:endParaRPr>
          </a:p>
        </p:txBody>
      </p:sp>
      <p:sp>
        <p:nvSpPr>
          <p:cNvPr id="104" name="Google Shape;104;p20"/>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Try to somewhat familiarize ourselves with BlueOS</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Even if we don’t use it moving forward, it’s still a good idea to familiarize how the OS works.</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07/21/2025 Meeting</a:t>
            </a:r>
            <a:r>
              <a:rPr lang="en" sz="2800">
                <a:solidFill>
                  <a:schemeClr val="dk1"/>
                </a:solidFill>
              </a:rPr>
              <a:t>                                       Andrei</a:t>
            </a:r>
            <a:endParaRPr sz="2800" u="sng">
              <a:solidFill>
                <a:srgbClr val="000000"/>
              </a:solidFill>
            </a:endParaRPr>
          </a:p>
        </p:txBody>
      </p:sp>
      <p:sp>
        <p:nvSpPr>
          <p:cNvPr id="110" name="Google Shape;110;p21"/>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(Nothing)</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latin typeface="Helvetica Neue"/>
                <a:ea typeface="Helvetica Neue"/>
                <a:cs typeface="Helvetica Neue"/>
                <a:sym typeface="Helvetica Neue"/>
              </a:rPr>
              <a:t>Possibly already begin looking into solutions for our requirements.</a:t>
            </a:r>
            <a:endParaRPr sz="1100">
              <a:latin typeface="Helvetica Neue"/>
              <a:ea typeface="Helvetica Neue"/>
              <a:cs typeface="Helvetica Neue"/>
              <a:sym typeface="Helvetica Neue"/>
            </a:endParaRPr>
          </a:p>
        </p:txBody>
      </p:sp>
      <p:sp>
        <p:nvSpPr>
          <p:cNvPr id="111" name="Google Shape;111;p21"/>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It’s ok to put more mission requirements later on.</a:t>
            </a:r>
            <a:endParaRPr sz="1300">
              <a:solidFill>
                <a:srgbClr val="595959"/>
              </a:solidFill>
            </a:endParaRPr>
          </a:p>
          <a:p>
            <a:pPr indent="-311150" lvl="0" marL="457200" rtl="0" algn="l">
              <a:lnSpc>
                <a:spcPct val="115000"/>
              </a:lnSpc>
              <a:spcBef>
                <a:spcPts val="0"/>
              </a:spcBef>
              <a:spcAft>
                <a:spcPts val="0"/>
              </a:spcAft>
              <a:buClr>
                <a:srgbClr val="595959"/>
              </a:buClr>
              <a:buSzPts val="1300"/>
              <a:buChar char="●"/>
            </a:pPr>
            <a:r>
              <a:rPr lang="en" sz="1300">
                <a:solidFill>
                  <a:srgbClr val="595959"/>
                </a:solidFill>
              </a:rPr>
              <a:t>We can hold another meeting sometime after tonight’s full team meeting to go over the new assignments which are due August 20th.</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Given that we don’t really have anything to discuss for today.</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07/28/2025 Meeting</a:t>
            </a:r>
            <a:r>
              <a:rPr lang="en" sz="2800">
                <a:solidFill>
                  <a:schemeClr val="dk1"/>
                </a:solidFill>
              </a:rPr>
              <a:t>                                       Andrei</a:t>
            </a:r>
            <a:endParaRPr sz="2800" u="sng">
              <a:solidFill>
                <a:srgbClr val="000000"/>
              </a:solidFill>
            </a:endParaRPr>
          </a:p>
        </p:txBody>
      </p:sp>
      <p:sp>
        <p:nvSpPr>
          <p:cNvPr id="117" name="Google Shape;117;p22"/>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Complete the subteam to subteam criticism activity for GNC</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latin typeface="Helvetica Neue"/>
                <a:ea typeface="Helvetica Neue"/>
                <a:cs typeface="Helvetica Neue"/>
                <a:sym typeface="Helvetica Neue"/>
              </a:rPr>
              <a:t>Work on the 50 ideas throughout the week.</a:t>
            </a:r>
            <a:endParaRPr sz="1100">
              <a:latin typeface="Helvetica Neue"/>
              <a:ea typeface="Helvetica Neue"/>
              <a:cs typeface="Helvetica Neue"/>
              <a:sym typeface="Helvetica Neue"/>
            </a:endParaRPr>
          </a:p>
        </p:txBody>
      </p:sp>
      <p:sp>
        <p:nvSpPr>
          <p:cNvPr id="118" name="Google Shape;118;p22"/>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None</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08/04</a:t>
            </a:r>
            <a:r>
              <a:rPr lang="en" sz="2800" u="sng">
                <a:solidFill>
                  <a:schemeClr val="dk1"/>
                </a:solidFill>
              </a:rPr>
              <a:t>/2025 Meeting</a:t>
            </a:r>
            <a:r>
              <a:rPr lang="en" sz="2800">
                <a:solidFill>
                  <a:schemeClr val="dk1"/>
                </a:solidFill>
              </a:rPr>
              <a:t>                                       Andrei</a:t>
            </a:r>
            <a:endParaRPr sz="2800" u="sng">
              <a:solidFill>
                <a:srgbClr val="000000"/>
              </a:solidFill>
            </a:endParaRPr>
          </a:p>
        </p:txBody>
      </p:sp>
      <p:sp>
        <p:nvSpPr>
          <p:cNvPr id="124" name="Google Shape;124;p23"/>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the 50 ideas assignment and work together to fill out the 50 ideas assignment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strike="sngStrike">
                <a:latin typeface="Helvetica Neue"/>
                <a:ea typeface="Helvetica Neue"/>
                <a:cs typeface="Helvetica Neue"/>
                <a:sym typeface="Helvetica Neue"/>
              </a:rPr>
              <a:t>Try to update our requirement sheet based on the criticism </a:t>
            </a:r>
            <a:r>
              <a:rPr lang="en" sz="1100" strike="sngStrike">
                <a:latin typeface="Helvetica Neue"/>
                <a:ea typeface="Helvetica Neue"/>
                <a:cs typeface="Helvetica Neue"/>
                <a:sym typeface="Helvetica Neue"/>
              </a:rPr>
              <a:t>received</a:t>
            </a:r>
            <a:r>
              <a:rPr lang="en" sz="1100" strike="sngStrike">
                <a:latin typeface="Helvetica Neue"/>
                <a:ea typeface="Helvetica Neue"/>
                <a:cs typeface="Helvetica Neue"/>
                <a:sym typeface="Helvetica Neue"/>
              </a:rPr>
              <a:t>.</a:t>
            </a:r>
            <a:endParaRPr sz="1100" strike="sngStrike">
              <a:latin typeface="Helvetica Neue"/>
              <a:ea typeface="Helvetica Neue"/>
              <a:cs typeface="Helvetica Neue"/>
              <a:sym typeface="Helvetica Neue"/>
            </a:endParaRPr>
          </a:p>
        </p:txBody>
      </p:sp>
      <p:sp>
        <p:nvSpPr>
          <p:cNvPr id="125" name="Google Shape;125;p23"/>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rgbClr val="595959"/>
              </a:buClr>
              <a:buSzPts val="1300"/>
              <a:buChar char="●"/>
            </a:pPr>
            <a:r>
              <a:rPr lang="en" sz="1300">
                <a:solidFill>
                  <a:srgbClr val="595959"/>
                </a:solidFill>
              </a:rPr>
              <a:t>Possibly wait for the next handbook to come out before going back to the requirement sheet.</a:t>
            </a:r>
            <a:endParaRPr sz="1300">
              <a:solidFill>
                <a:srgbClr val="595959"/>
              </a:solidFill>
            </a:endParaRPr>
          </a:p>
          <a:p>
            <a:pPr indent="-311150" lvl="1" marL="914400" rtl="0" algn="l">
              <a:lnSpc>
                <a:spcPct val="115000"/>
              </a:lnSpc>
              <a:spcBef>
                <a:spcPts val="0"/>
              </a:spcBef>
              <a:spcAft>
                <a:spcPts val="0"/>
              </a:spcAft>
              <a:buClr>
                <a:srgbClr val="595959"/>
              </a:buClr>
              <a:buSzPts val="1300"/>
              <a:buChar char="○"/>
            </a:pPr>
            <a:r>
              <a:rPr lang="en" sz="1300">
                <a:solidFill>
                  <a:srgbClr val="595959"/>
                </a:solidFill>
              </a:rPr>
              <a:t>Given the nature of our team with our need to deal with sensors and processing, we can decide on the requirements of the components we need to use when we get a solid goal of what our tasks will be when the new manual comes out.</a:t>
            </a:r>
            <a:endParaRPr sz="1300">
              <a:solidFill>
                <a:srgbClr val="595959"/>
              </a:solidFill>
            </a:endParaRPr>
          </a:p>
          <a:p>
            <a:pPr indent="0" lvl="0" marL="0" rtl="0" algn="l">
              <a:lnSpc>
                <a:spcPct val="115000"/>
              </a:lnSpc>
              <a:spcBef>
                <a:spcPts val="1200"/>
              </a:spcBef>
              <a:spcAft>
                <a:spcPts val="1200"/>
              </a:spcAft>
              <a:buNone/>
            </a:pPr>
            <a:r>
              <a:t/>
            </a:r>
            <a:endParaRPr>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08/11/2025 “Meeting”</a:t>
            </a:r>
            <a:r>
              <a:rPr lang="en" sz="2800">
                <a:solidFill>
                  <a:schemeClr val="dk1"/>
                </a:solidFill>
              </a:rPr>
              <a:t>                                       Andrei</a:t>
            </a:r>
            <a:endParaRPr sz="2800" u="sng">
              <a:solidFill>
                <a:srgbClr val="000000"/>
              </a:solidFill>
            </a:endParaRPr>
          </a:p>
        </p:txBody>
      </p:sp>
      <p:sp>
        <p:nvSpPr>
          <p:cNvPr id="131" name="Google Shape;131;p24"/>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the 50 ideas assignment and work </a:t>
            </a:r>
            <a:r>
              <a:rPr lang="en" sz="1100">
                <a:solidFill>
                  <a:schemeClr val="dk1"/>
                </a:solidFill>
                <a:latin typeface="Helvetica Neue"/>
                <a:ea typeface="Helvetica Neue"/>
                <a:cs typeface="Helvetica Neue"/>
                <a:sym typeface="Helvetica Neue"/>
              </a:rPr>
              <a:t>separately</a:t>
            </a:r>
            <a:r>
              <a:rPr lang="en" sz="1100">
                <a:solidFill>
                  <a:schemeClr val="dk1"/>
                </a:solidFill>
                <a:latin typeface="Helvetica Neue"/>
                <a:ea typeface="Helvetica Neue"/>
                <a:cs typeface="Helvetica Neue"/>
                <a:sym typeface="Helvetica Neue"/>
              </a:rPr>
              <a:t> to fill out the 50 ideas assignment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595959"/>
              </a:buClr>
              <a:buSzPts val="1400"/>
              <a:buChar char="❏"/>
            </a:pPr>
            <a:r>
              <a:t/>
            </a:r>
            <a:endParaRPr sz="1100" strike="sngStrike">
              <a:latin typeface="Helvetica Neue"/>
              <a:ea typeface="Helvetica Neue"/>
              <a:cs typeface="Helvetica Neue"/>
              <a:sym typeface="Helvetica Neue"/>
            </a:endParaRPr>
          </a:p>
        </p:txBody>
      </p:sp>
      <p:sp>
        <p:nvSpPr>
          <p:cNvPr id="132" name="Google Shape;132;p24"/>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Given that we have nothing of importance to discuss, no official meeting was held.</a:t>
            </a:r>
            <a:endParaRPr>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08/18/2025 Meeting</a:t>
            </a:r>
            <a:r>
              <a:rPr lang="en" sz="2800">
                <a:solidFill>
                  <a:schemeClr val="dk1"/>
                </a:solidFill>
              </a:rPr>
              <a:t>                                       Andrei</a:t>
            </a:r>
            <a:endParaRPr sz="2800" u="sng">
              <a:solidFill>
                <a:srgbClr val="000000"/>
              </a:solidFill>
            </a:endParaRPr>
          </a:p>
        </p:txBody>
      </p:sp>
      <p:sp>
        <p:nvSpPr>
          <p:cNvPr id="138" name="Google Shape;138;p25"/>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Finish the 50 ideas assignment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Hold another meeting sometime this week to discuss the presentation with our missing team member along with plans for in person meetings for the future.</a:t>
            </a:r>
            <a:endParaRPr sz="800" strike="sngStrike">
              <a:latin typeface="Helvetica Neue"/>
              <a:ea typeface="Helvetica Neue"/>
              <a:cs typeface="Helvetica Neue"/>
              <a:sym typeface="Helvetica Neue"/>
            </a:endParaRPr>
          </a:p>
        </p:txBody>
      </p:sp>
      <p:sp>
        <p:nvSpPr>
          <p:cNvPr id="139" name="Google Shape;139;p25"/>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No important decisions made</a:t>
            </a:r>
            <a:endParaRPr>
              <a:solidFill>
                <a:srgbClr val="59595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09/06/2025 Meeting</a:t>
            </a:r>
            <a:r>
              <a:rPr lang="en" sz="2800">
                <a:solidFill>
                  <a:schemeClr val="dk1"/>
                </a:solidFill>
              </a:rPr>
              <a:t>                                       Andrei</a:t>
            </a:r>
            <a:endParaRPr sz="2800" u="sng">
              <a:solidFill>
                <a:srgbClr val="000000"/>
              </a:solidFill>
            </a:endParaRPr>
          </a:p>
        </p:txBody>
      </p:sp>
      <p:sp>
        <p:nvSpPr>
          <p:cNvPr id="145" name="Google Shape;145;p26"/>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our slides for the Summer Progress MATE ROV.</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Before the next rules come out, there are plans to make a virtual mate rov version of last year’s competition as a test run of how to approach challenges.</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46" name="Google Shape;146;p26"/>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Read last </a:t>
            </a:r>
            <a:r>
              <a:rPr lang="en">
                <a:solidFill>
                  <a:srgbClr val="595959"/>
                </a:solidFill>
              </a:rPr>
              <a:t>year's</a:t>
            </a:r>
            <a:r>
              <a:rPr lang="en">
                <a:solidFill>
                  <a:srgbClr val="595959"/>
                </a:solidFill>
              </a:rPr>
              <a:t> competition and look specifically at the challenges.</a:t>
            </a:r>
            <a:endParaRPr>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09/13/2025 Meeting</a:t>
            </a:r>
            <a:r>
              <a:rPr lang="en" sz="2800">
                <a:solidFill>
                  <a:schemeClr val="dk1"/>
                </a:solidFill>
              </a:rPr>
              <a:t>                                       Andrei</a:t>
            </a:r>
            <a:endParaRPr sz="2800" u="sng">
              <a:solidFill>
                <a:srgbClr val="000000"/>
              </a:solidFill>
            </a:endParaRPr>
          </a:p>
        </p:txBody>
      </p:sp>
      <p:sp>
        <p:nvSpPr>
          <p:cNvPr id="152" name="Google Shape;152;p27"/>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our slides for the Summer Progress MATE ROV.</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Before the next rules come out, there are plans to make a virtual mate rov version of last year’s competition as a test run of how to approach challenges.</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53" name="Google Shape;153;p27"/>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Read last year's competition and look specifically at the challenges.</a:t>
            </a:r>
            <a:endParaRPr>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10/04</a:t>
            </a:r>
            <a:r>
              <a:rPr lang="en" sz="2800" u="sng">
                <a:solidFill>
                  <a:schemeClr val="dk1"/>
                </a:solidFill>
              </a:rPr>
              <a:t>/2025 Meeting</a:t>
            </a:r>
            <a:r>
              <a:rPr lang="en" sz="2800">
                <a:solidFill>
                  <a:schemeClr val="dk1"/>
                </a:solidFill>
              </a:rPr>
              <a:t>                                       Andrei</a:t>
            </a:r>
            <a:endParaRPr sz="2800" u="sng">
              <a:solidFill>
                <a:srgbClr val="000000"/>
              </a:solidFill>
            </a:endParaRPr>
          </a:p>
        </p:txBody>
      </p:sp>
      <p:sp>
        <p:nvSpPr>
          <p:cNvPr id="159" name="Google Shape;159;p28"/>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what requirements that other teams require of us and look into trade studies. (deadline next week but preferably sooner than later)</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Try to complete trade studies</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60" name="Google Shape;160;p28"/>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N/A</a:t>
            </a:r>
            <a:endParaRPr>
              <a:solidFill>
                <a:srgbClr val="59595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10/25/2025 Meeting</a:t>
            </a:r>
            <a:r>
              <a:rPr lang="en" sz="2800">
                <a:solidFill>
                  <a:schemeClr val="dk1"/>
                </a:solidFill>
              </a:rPr>
              <a:t>                                       Andrei</a:t>
            </a:r>
            <a:endParaRPr sz="2800" u="sng">
              <a:solidFill>
                <a:srgbClr val="000000"/>
              </a:solidFill>
            </a:endParaRPr>
          </a:p>
        </p:txBody>
      </p:sp>
      <p:sp>
        <p:nvSpPr>
          <p:cNvPr id="166" name="Google Shape;166;p29"/>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Take a look at our presentation slides and edit the trade studies in.</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Prepare for the presentation tomorrow.</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67" name="Google Shape;167;p29"/>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N/A</a:t>
            </a:r>
            <a:endParaRPr>
              <a:solidFill>
                <a:srgbClr val="595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11/02/2025 Meeting</a:t>
            </a:r>
            <a:r>
              <a:rPr lang="en" sz="2800">
                <a:solidFill>
                  <a:schemeClr val="dk1"/>
                </a:solidFill>
              </a:rPr>
              <a:t>                                       Andrei</a:t>
            </a:r>
            <a:endParaRPr sz="2800" u="sng">
              <a:solidFill>
                <a:srgbClr val="000000"/>
              </a:solidFill>
            </a:endParaRPr>
          </a:p>
        </p:txBody>
      </p:sp>
      <p:sp>
        <p:nvSpPr>
          <p:cNvPr id="173" name="Google Shape;173;p30"/>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Understand what we will be going into for prototype 2</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Go back into trade studies and concern ourselves with what the new tasks will factor into the trade studies.</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74" name="Google Shape;174;p30"/>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N/A</a:t>
            </a:r>
            <a:endParaRPr>
              <a:solidFill>
                <a:srgbClr val="59595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11/08/2025 Meeting</a:t>
            </a:r>
            <a:r>
              <a:rPr lang="en" sz="2800">
                <a:solidFill>
                  <a:schemeClr val="dk1"/>
                </a:solidFill>
              </a:rPr>
              <a:t>                                       Andrei</a:t>
            </a:r>
            <a:endParaRPr sz="2800" u="sng">
              <a:solidFill>
                <a:srgbClr val="000000"/>
              </a:solidFill>
            </a:endParaRPr>
          </a:p>
        </p:txBody>
      </p:sp>
      <p:sp>
        <p:nvSpPr>
          <p:cNvPr id="180" name="Google Shape;180;p31"/>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Understand what we will be going into for prototype 2</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Start going back through the requirements and making sure they align with the tasks given.</a:t>
            </a:r>
            <a:endParaRPr sz="1100">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Compare trade studies to new requirements</a:t>
            </a:r>
            <a:endParaRPr sz="1100">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Prepare Prototype 2</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81" name="Google Shape;181;p31"/>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Ask Lucian if he is available for the meetings.</a:t>
            </a:r>
            <a:endParaRPr>
              <a:solidFill>
                <a:srgbClr val="59595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2800" u="sng">
                <a:solidFill>
                  <a:schemeClr val="dk1"/>
                </a:solidFill>
              </a:rPr>
              <a:t>11/15/2025 Meeting</a:t>
            </a:r>
            <a:r>
              <a:rPr lang="en" sz="2800">
                <a:solidFill>
                  <a:schemeClr val="dk1"/>
                </a:solidFill>
              </a:rPr>
              <a:t>                                       Andrei</a:t>
            </a:r>
            <a:endParaRPr sz="2800" u="sng">
              <a:solidFill>
                <a:srgbClr val="000000"/>
              </a:solidFill>
            </a:endParaRPr>
          </a:p>
        </p:txBody>
      </p:sp>
      <p:sp>
        <p:nvSpPr>
          <p:cNvPr id="187" name="Google Shape;187;p32"/>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Split up tasks and prepare for prototype 2</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Review any questions that come up from prototype 2.</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88" name="Google Shape;188;p32"/>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t/>
            </a:r>
            <a:endParaRPr>
              <a:solidFill>
                <a:srgbClr val="59595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nvSpPr>
        <p:spPr>
          <a:xfrm>
            <a:off x="311700" y="445025"/>
            <a:ext cx="8520600" cy="572700"/>
          </a:xfrm>
          <a:prstGeom prst="rect">
            <a:avLst/>
          </a:prstGeom>
          <a:noFill/>
          <a:ln>
            <a:noFill/>
          </a:ln>
        </p:spPr>
        <p:txBody>
          <a:bodyPr anchorCtr="0" anchor="t" bIns="91425" lIns="91425" spcFirstLastPara="1" rIns="91425" wrap="square" tIns="91425">
            <a:normAutofit fontScale="85000"/>
          </a:bodyPr>
          <a:lstStyle/>
          <a:p>
            <a:pPr indent="0" lvl="0" marL="0" rtl="0" algn="l">
              <a:spcBef>
                <a:spcPts val="0"/>
              </a:spcBef>
              <a:spcAft>
                <a:spcPts val="0"/>
              </a:spcAft>
              <a:buClr>
                <a:schemeClr val="dk1"/>
              </a:buClr>
              <a:buSzPct val="39286"/>
              <a:buFont typeface="Arial"/>
              <a:buNone/>
            </a:pPr>
            <a:r>
              <a:rPr lang="en" sz="2800" u="sng">
                <a:solidFill>
                  <a:schemeClr val="dk1"/>
                </a:solidFill>
              </a:rPr>
              <a:t>11/21/2025 Informal Meeting</a:t>
            </a:r>
            <a:r>
              <a:rPr lang="en" sz="2800">
                <a:solidFill>
                  <a:schemeClr val="dk1"/>
                </a:solidFill>
              </a:rPr>
              <a:t>                                       Andrei</a:t>
            </a:r>
            <a:endParaRPr sz="2800" u="sng">
              <a:solidFill>
                <a:srgbClr val="000000"/>
              </a:solidFill>
            </a:endParaRPr>
          </a:p>
        </p:txBody>
      </p:sp>
      <p:sp>
        <p:nvSpPr>
          <p:cNvPr id="194" name="Google Shape;194;p33"/>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Ensure we are giving the right components to TMS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Future Agenda:</a:t>
            </a:r>
            <a:endParaRPr b="1" sz="1100">
              <a:solidFill>
                <a:srgbClr val="000000"/>
              </a:solidFill>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Look into wireless data transmission</a:t>
            </a:r>
            <a:endParaRPr sz="1100">
              <a:latin typeface="Helvetica Neue"/>
              <a:ea typeface="Helvetica Neue"/>
              <a:cs typeface="Helvetica Neue"/>
              <a:sym typeface="Helvetica Neue"/>
            </a:endParaRPr>
          </a:p>
          <a:p>
            <a:pPr indent="-298450" lvl="0" marL="457200" rtl="0" algn="l">
              <a:spcBef>
                <a:spcPts val="0"/>
              </a:spcBef>
              <a:spcAft>
                <a:spcPts val="0"/>
              </a:spcAft>
              <a:buSzPts val="1100"/>
              <a:buFont typeface="Helvetica Neue"/>
              <a:buChar char="❏"/>
            </a:pPr>
            <a:r>
              <a:rPr lang="en" sz="1100">
                <a:latin typeface="Helvetica Neue"/>
                <a:ea typeface="Helvetica Neue"/>
                <a:cs typeface="Helvetica Neue"/>
                <a:sym typeface="Helvetica Neue"/>
              </a:rPr>
              <a:t>Talk to GNC about the C3 station</a:t>
            </a:r>
            <a:endParaRPr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195" name="Google Shape;195;p33"/>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C3 Station will most likely be our main priority in the future</a:t>
            </a:r>
            <a:endParaRPr>
              <a:solidFill>
                <a:srgbClr val="59595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nvSpPr>
        <p:spPr>
          <a:xfrm>
            <a:off x="311700" y="445025"/>
            <a:ext cx="8520600" cy="572700"/>
          </a:xfrm>
          <a:prstGeom prst="rect">
            <a:avLst/>
          </a:prstGeom>
          <a:noFill/>
          <a:ln>
            <a:noFill/>
          </a:ln>
        </p:spPr>
        <p:txBody>
          <a:bodyPr anchorCtr="0" anchor="t" bIns="91425" lIns="91425" spcFirstLastPara="1" rIns="91425" wrap="square" tIns="91425">
            <a:normAutofit fontScale="85000"/>
          </a:bodyPr>
          <a:lstStyle/>
          <a:p>
            <a:pPr indent="0" lvl="0" marL="0" rtl="0" algn="l">
              <a:spcBef>
                <a:spcPts val="0"/>
              </a:spcBef>
              <a:spcAft>
                <a:spcPts val="0"/>
              </a:spcAft>
              <a:buClr>
                <a:schemeClr val="dk1"/>
              </a:buClr>
              <a:buSzPct val="39286"/>
              <a:buFont typeface="Arial"/>
              <a:buNone/>
            </a:pPr>
            <a:r>
              <a:rPr lang="en" sz="2800" u="sng">
                <a:solidFill>
                  <a:schemeClr val="dk1"/>
                </a:solidFill>
              </a:rPr>
              <a:t>12/21/2025 Informal Meeting</a:t>
            </a:r>
            <a:r>
              <a:rPr lang="en" sz="2800">
                <a:solidFill>
                  <a:schemeClr val="dk1"/>
                </a:solidFill>
              </a:rPr>
              <a:t>                                       Andrei</a:t>
            </a:r>
            <a:endParaRPr sz="2800" u="sng">
              <a:solidFill>
                <a:srgbClr val="000000"/>
              </a:solidFill>
            </a:endParaRPr>
          </a:p>
        </p:txBody>
      </p:sp>
      <p:sp>
        <p:nvSpPr>
          <p:cNvPr id="201" name="Google Shape;201;p34"/>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rgbClr val="000000"/>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C3 Station</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Testing procedures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if we should get a smaller monitor if there are price restrictions.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Github contributions should probably include</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C3 station schematic setup</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b="1" sz="1100">
              <a:latin typeface="Helvetica Neue"/>
              <a:ea typeface="Helvetica Neue"/>
              <a:cs typeface="Helvetica Neue"/>
              <a:sym typeface="Helvetica Neue"/>
            </a:endParaRPr>
          </a:p>
          <a:p>
            <a:pPr indent="0" lvl="0" marL="457200" rtl="0" algn="l">
              <a:spcBef>
                <a:spcPts val="0"/>
              </a:spcBef>
              <a:spcAft>
                <a:spcPts val="0"/>
              </a:spcAft>
              <a:buNone/>
            </a:pPr>
            <a:r>
              <a:t/>
            </a:r>
            <a:endParaRPr sz="1100">
              <a:latin typeface="Helvetica Neue"/>
              <a:ea typeface="Helvetica Neue"/>
              <a:cs typeface="Helvetica Neue"/>
              <a:sym typeface="Helvetica Neue"/>
            </a:endParaRPr>
          </a:p>
        </p:txBody>
      </p:sp>
      <p:sp>
        <p:nvSpPr>
          <p:cNvPr id="202" name="Google Shape;202;p34"/>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The monitor will be 600x1024 pixels and fit on raspberry pi 5 and fit 12 by 9 inches case (height 4.5 inch).</a:t>
            </a:r>
            <a:endParaRPr>
              <a:solidFill>
                <a:srgbClr val="59595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12/28/2025 Meeting</a:t>
            </a:r>
            <a:r>
              <a:rPr lang="en" sz="2350">
                <a:solidFill>
                  <a:schemeClr val="dk1"/>
                </a:solidFill>
              </a:rPr>
              <a:t>                                                      Andrei</a:t>
            </a:r>
            <a:endParaRPr sz="2350" u="sng">
              <a:solidFill>
                <a:srgbClr val="000000"/>
              </a:solidFill>
            </a:endParaRPr>
          </a:p>
        </p:txBody>
      </p:sp>
      <p:sp>
        <p:nvSpPr>
          <p:cNvPr id="208" name="Google Shape;208;p35"/>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Testing procedures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Float ice detection</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Finalize testing procedures from our current rough draft</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Ensure all of our selected components have the correct ports/connections needed to be integrated into the rov</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Figure out potential heating function for ultrasonic sensor to ensure it meets operating conditions</a:t>
            </a:r>
            <a:endParaRPr sz="1100">
              <a:solidFill>
                <a:schemeClr val="dk1"/>
              </a:solidFill>
              <a:latin typeface="Helvetica Neue"/>
              <a:ea typeface="Helvetica Neue"/>
              <a:cs typeface="Helvetica Neue"/>
              <a:sym typeface="Helvetica Neue"/>
            </a:endParaRPr>
          </a:p>
        </p:txBody>
      </p:sp>
      <p:sp>
        <p:nvSpPr>
          <p:cNvPr id="209" name="Google Shape;209;p35"/>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Went through our requirements and developed a rough draft for the testing procedures we thought of</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Will use ultrasonic sensor for ice detection</a:t>
            </a:r>
            <a:endParaRPr>
              <a:solidFill>
                <a:srgbClr val="59595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01/02/2026</a:t>
            </a:r>
            <a:r>
              <a:rPr lang="en" sz="2350" u="sng">
                <a:solidFill>
                  <a:schemeClr val="dk1"/>
                </a:solidFill>
              </a:rPr>
              <a:t> Meeting</a:t>
            </a:r>
            <a:r>
              <a:rPr lang="en" sz="2350">
                <a:solidFill>
                  <a:schemeClr val="dk1"/>
                </a:solidFill>
              </a:rPr>
              <a:t>                                                      Andrei</a:t>
            </a:r>
            <a:endParaRPr sz="2350" u="sng">
              <a:solidFill>
                <a:srgbClr val="000000"/>
              </a:solidFill>
            </a:endParaRPr>
          </a:p>
        </p:txBody>
      </p:sp>
      <p:sp>
        <p:nvSpPr>
          <p:cNvPr id="215" name="Google Shape;215;p36"/>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Accomplish EPS Spec Sheet </a:t>
            </a:r>
            <a:r>
              <a:rPr lang="en" sz="1100">
                <a:solidFill>
                  <a:schemeClr val="dk1"/>
                </a:solidFill>
                <a:highlight>
                  <a:srgbClr val="FFE599"/>
                </a:highlight>
                <a:latin typeface="Helvetica Neue"/>
                <a:ea typeface="Helvetica Neue"/>
                <a:cs typeface="Helvetica Neue"/>
                <a:sym typeface="Helvetica Neue"/>
              </a:rPr>
              <a:t>(fix other things first)</a:t>
            </a:r>
            <a:endParaRPr sz="1100">
              <a:solidFill>
                <a:schemeClr val="dk1"/>
              </a:solidFill>
              <a:highlight>
                <a:srgbClr val="FFE599"/>
              </a:highlight>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a possible different microcontroller unit that uses less power. </a:t>
            </a:r>
            <a:r>
              <a:rPr lang="en" sz="1100">
                <a:solidFill>
                  <a:schemeClr val="dk1"/>
                </a:solidFill>
                <a:highlight>
                  <a:srgbClr val="FFE599"/>
                </a:highlight>
                <a:latin typeface="Helvetica Neue"/>
                <a:ea typeface="Helvetica Neue"/>
                <a:cs typeface="Helvetica Neue"/>
                <a:sym typeface="Helvetica Neue"/>
              </a:rPr>
              <a:t>(Lucian)</a:t>
            </a:r>
            <a:endParaRPr sz="1100">
              <a:solidFill>
                <a:schemeClr val="dk1"/>
              </a:solidFill>
              <a:highlight>
                <a:srgbClr val="FFE599"/>
              </a:highlight>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Ensure a method to warm up the ultrasonic sensor </a:t>
            </a:r>
            <a:r>
              <a:rPr lang="en" sz="1100">
                <a:solidFill>
                  <a:schemeClr val="dk1"/>
                </a:solidFill>
                <a:highlight>
                  <a:srgbClr val="FFE599"/>
                </a:highlight>
                <a:latin typeface="Helvetica Neue"/>
                <a:ea typeface="Helvetica Neue"/>
                <a:cs typeface="Helvetica Neue"/>
                <a:sym typeface="Helvetica Neue"/>
              </a:rPr>
              <a:t>(Chris)</a:t>
            </a:r>
            <a:endParaRPr sz="1100">
              <a:solidFill>
                <a:schemeClr val="dk1"/>
              </a:solidFill>
              <a:highlight>
                <a:srgbClr val="FFE599"/>
              </a:highlight>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Testing methods finish (connect to requirements) </a:t>
            </a:r>
            <a:r>
              <a:rPr lang="en" sz="1100">
                <a:solidFill>
                  <a:schemeClr val="dk1"/>
                </a:solidFill>
                <a:highlight>
                  <a:srgbClr val="FFE599"/>
                </a:highlight>
                <a:latin typeface="Helvetica Neue"/>
                <a:ea typeface="Helvetica Neue"/>
                <a:cs typeface="Helvetica Neue"/>
                <a:sym typeface="Helvetica Neue"/>
              </a:rPr>
              <a:t>(All)</a:t>
            </a:r>
            <a:endParaRPr sz="1100">
              <a:solidFill>
                <a:schemeClr val="dk1"/>
              </a:solidFill>
              <a:highlight>
                <a:srgbClr val="FFE599"/>
              </a:highlight>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Double check if using bluetooth for the float </a:t>
            </a:r>
            <a:r>
              <a:rPr lang="en" sz="1100">
                <a:solidFill>
                  <a:schemeClr val="dk1"/>
                </a:solidFill>
                <a:highlight>
                  <a:srgbClr val="FFE599"/>
                </a:highlight>
                <a:latin typeface="Helvetica Neue"/>
                <a:ea typeface="Helvetica Neue"/>
                <a:cs typeface="Helvetica Neue"/>
                <a:sym typeface="Helvetica Neue"/>
              </a:rPr>
              <a:t>(Andrei)</a:t>
            </a:r>
            <a:endParaRPr sz="1100">
              <a:solidFill>
                <a:schemeClr val="dk1"/>
              </a:solidFill>
              <a:highlight>
                <a:srgbClr val="FFE599"/>
              </a:highlight>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See if using a laptop or making a dedicated setup for the C3 Station (Raspberry pi) is better. </a:t>
            </a:r>
            <a:r>
              <a:rPr lang="en" sz="1100">
                <a:solidFill>
                  <a:schemeClr val="dk1"/>
                </a:solidFill>
                <a:highlight>
                  <a:srgbClr val="FFE599"/>
                </a:highlight>
                <a:latin typeface="Helvetica Neue"/>
                <a:ea typeface="Helvetica Neue"/>
                <a:cs typeface="Helvetica Neue"/>
                <a:sym typeface="Helvetica Neue"/>
              </a:rPr>
              <a:t>(Chris)</a:t>
            </a:r>
            <a:endParaRPr sz="1100">
              <a:solidFill>
                <a:schemeClr val="dk1"/>
              </a:solidFill>
              <a:highlight>
                <a:srgbClr val="FFE599"/>
              </a:highlight>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Finalize testing methods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Begin working on comms diagram with GNC</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conductivity sensors as a replacement for ultrasonic sensors on the float</a:t>
            </a:r>
            <a:endParaRPr sz="1100">
              <a:solidFill>
                <a:schemeClr val="dk1"/>
              </a:solidFill>
              <a:latin typeface="Helvetica Neue"/>
              <a:ea typeface="Helvetica Neue"/>
              <a:cs typeface="Helvetica Neue"/>
              <a:sym typeface="Helvetica Neue"/>
            </a:endParaRPr>
          </a:p>
        </p:txBody>
      </p:sp>
      <p:sp>
        <p:nvSpPr>
          <p:cNvPr id="216" name="Google Shape;216;p36"/>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EPS Spec Sheet completed</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Use foam sheet around ultrasonic sensor to keep it above minimum operating temperature</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Using bluetooth for data transmission</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Using laptop as C3 station</a:t>
            </a:r>
            <a:endParaRPr>
              <a:solidFill>
                <a:srgbClr val="59595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01/11/2026 Meeting</a:t>
            </a:r>
            <a:r>
              <a:rPr lang="en" sz="2350">
                <a:solidFill>
                  <a:schemeClr val="dk1"/>
                </a:solidFill>
              </a:rPr>
              <a:t>                                                      Andrei</a:t>
            </a:r>
            <a:endParaRPr sz="2350" u="sng">
              <a:solidFill>
                <a:srgbClr val="000000"/>
              </a:solidFill>
            </a:endParaRPr>
          </a:p>
        </p:txBody>
      </p:sp>
      <p:sp>
        <p:nvSpPr>
          <p:cNvPr id="222" name="Google Shape;222;p37"/>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Finalize testing method requirements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Finalize BoM</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conductivity sensors as a replacement for ultrasonic sensors on the float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Double check with team members and ensure everyone agrees on our tests and BoM</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comms diagram</a:t>
            </a:r>
            <a:endParaRPr sz="1100">
              <a:solidFill>
                <a:schemeClr val="dk1"/>
              </a:solidFill>
              <a:latin typeface="Helvetica Neue"/>
              <a:ea typeface="Helvetica Neue"/>
              <a:cs typeface="Helvetica Neue"/>
              <a:sym typeface="Helvetica Neue"/>
            </a:endParaRPr>
          </a:p>
        </p:txBody>
      </p:sp>
      <p:sp>
        <p:nvSpPr>
          <p:cNvPr id="223" name="Google Shape;223;p37"/>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t/>
            </a:r>
            <a:endParaRPr>
              <a:solidFill>
                <a:srgbClr val="59595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8"/>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01/17/2026 Meeting</a:t>
            </a:r>
            <a:r>
              <a:rPr lang="en" sz="2350">
                <a:solidFill>
                  <a:schemeClr val="dk1"/>
                </a:solidFill>
              </a:rPr>
              <a:t>                                                      Andrei</a:t>
            </a:r>
            <a:endParaRPr sz="2350" u="sng">
              <a:solidFill>
                <a:srgbClr val="000000"/>
              </a:solidFill>
            </a:endParaRPr>
          </a:p>
        </p:txBody>
      </p:sp>
      <p:sp>
        <p:nvSpPr>
          <p:cNvPr id="229" name="Google Shape;229;p38"/>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Try to finish the testing methods tonight</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Finalize BoM</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Move the requirements to the new document</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conductivity sensors as a replacement for ultrasonic sensors on the float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into comms diagram</a:t>
            </a:r>
            <a:endParaRPr sz="1100">
              <a:solidFill>
                <a:schemeClr val="dk1"/>
              </a:solidFill>
              <a:latin typeface="Helvetica Neue"/>
              <a:ea typeface="Helvetica Neue"/>
              <a:cs typeface="Helvetica Neue"/>
              <a:sym typeface="Helvetica Neue"/>
            </a:endParaRPr>
          </a:p>
        </p:txBody>
      </p:sp>
      <p:sp>
        <p:nvSpPr>
          <p:cNvPr id="230" name="Google Shape;230;p38"/>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Ultrasonic sensor would give better readings for distance to use towards slowing down the float before impact with ice</a:t>
            </a:r>
            <a:endParaRPr>
              <a:solidFill>
                <a:srgbClr val="59595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01/25/2026 Meeting</a:t>
            </a:r>
            <a:r>
              <a:rPr lang="en" sz="2350">
                <a:solidFill>
                  <a:schemeClr val="dk1"/>
                </a:solidFill>
              </a:rPr>
              <a:t>                                                      Andrei</a:t>
            </a:r>
            <a:endParaRPr sz="2350" u="sng">
              <a:solidFill>
                <a:srgbClr val="000000"/>
              </a:solidFill>
            </a:endParaRPr>
          </a:p>
        </p:txBody>
      </p:sp>
      <p:sp>
        <p:nvSpPr>
          <p:cNvPr id="236" name="Google Shape;236;p39"/>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Finish moving requirements to the new document</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 on ConOps document</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 on comms diagram</a:t>
            </a:r>
            <a:endParaRPr sz="1100">
              <a:solidFill>
                <a:schemeClr val="dk1"/>
              </a:solidFill>
              <a:latin typeface="Helvetica Neue"/>
              <a:ea typeface="Helvetica Neue"/>
              <a:cs typeface="Helvetica Neue"/>
              <a:sym typeface="Helvetica Neue"/>
            </a:endParaRPr>
          </a:p>
        </p:txBody>
      </p:sp>
      <p:sp>
        <p:nvSpPr>
          <p:cNvPr id="237" name="Google Shape;237;p39"/>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t/>
            </a:r>
            <a:endParaRPr>
              <a:solidFill>
                <a:srgbClr val="59595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02/08</a:t>
            </a:r>
            <a:r>
              <a:rPr lang="en" sz="2350" u="sng">
                <a:solidFill>
                  <a:schemeClr val="dk1"/>
                </a:solidFill>
              </a:rPr>
              <a:t>/2026 Meeting</a:t>
            </a:r>
            <a:r>
              <a:rPr lang="en" sz="2350">
                <a:solidFill>
                  <a:schemeClr val="dk1"/>
                </a:solidFill>
              </a:rPr>
              <a:t>                                                      Andrei</a:t>
            </a:r>
            <a:endParaRPr sz="2350" u="sng">
              <a:solidFill>
                <a:srgbClr val="000000"/>
              </a:solidFill>
            </a:endParaRPr>
          </a:p>
        </p:txBody>
      </p:sp>
      <p:sp>
        <p:nvSpPr>
          <p:cNvPr id="243" name="Google Shape;243;p40"/>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over all our parts in the BoM and make sure everything will run properly with the microcontroller</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Controller</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Lights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BRIO100 (Aarav)</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BRIO4k (Aarav)</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IMU</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Ultrasonic Sensor (Arnav)</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 on diagram showing how all the parts connect to their respective microcontroller</a:t>
            </a:r>
            <a:endParaRPr sz="1100">
              <a:solidFill>
                <a:schemeClr val="dk1"/>
              </a:solidFill>
              <a:latin typeface="Helvetica Neue"/>
              <a:ea typeface="Helvetica Neue"/>
              <a:cs typeface="Helvetica Neue"/>
              <a:sym typeface="Helvetica Neue"/>
            </a:endParaRPr>
          </a:p>
        </p:txBody>
      </p:sp>
      <p:sp>
        <p:nvSpPr>
          <p:cNvPr id="244" name="Google Shape;244;p40"/>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t/>
            </a:r>
            <a:endParaRPr>
              <a:solidFill>
                <a:srgbClr val="59595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02/21/2026 Meeting</a:t>
            </a:r>
            <a:r>
              <a:rPr lang="en" sz="2350">
                <a:solidFill>
                  <a:schemeClr val="dk1"/>
                </a:solidFill>
              </a:rPr>
              <a:t>                                                      Andrei</a:t>
            </a:r>
            <a:endParaRPr sz="2350" u="sng">
              <a:solidFill>
                <a:srgbClr val="000000"/>
              </a:solidFill>
            </a:endParaRPr>
          </a:p>
        </p:txBody>
      </p:sp>
      <p:sp>
        <p:nvSpPr>
          <p:cNvPr id="250" name="Google Shape;250;p41"/>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 on our respective responsibilities (coding and diagram)</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Finish up the ROV diagram and start the float one</a:t>
            </a:r>
            <a:endParaRPr sz="1100">
              <a:solidFill>
                <a:schemeClr val="dk1"/>
              </a:solidFill>
              <a:latin typeface="Helvetica Neue"/>
              <a:ea typeface="Helvetica Neue"/>
              <a:cs typeface="Helvetica Neue"/>
              <a:sym typeface="Helvetica Neue"/>
            </a:endParaRPr>
          </a:p>
        </p:txBody>
      </p:sp>
      <p:sp>
        <p:nvSpPr>
          <p:cNvPr id="251" name="Google Shape;251;p41"/>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Decisions</a:t>
            </a:r>
            <a:endParaRPr>
              <a:solidFill>
                <a:srgbClr val="59595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02/28/2026 Meeting</a:t>
            </a:r>
            <a:r>
              <a:rPr lang="en" sz="2350">
                <a:solidFill>
                  <a:schemeClr val="dk1"/>
                </a:solidFill>
              </a:rPr>
              <a:t>                                                      Andrei</a:t>
            </a:r>
            <a:endParaRPr sz="2350" u="sng">
              <a:solidFill>
                <a:srgbClr val="000000"/>
              </a:solidFill>
            </a:endParaRPr>
          </a:p>
        </p:txBody>
      </p:sp>
      <p:sp>
        <p:nvSpPr>
          <p:cNvPr id="257" name="Google Shape;257;p42"/>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Review what has been done this week</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Try to install LiveShare for everyone</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Start coding once physical components arrive</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for smaller light</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5 to 3.3 volt converter for Float</a:t>
            </a:r>
            <a:endParaRPr sz="1100">
              <a:solidFill>
                <a:schemeClr val="dk1"/>
              </a:solidFill>
              <a:latin typeface="Helvetica Neue"/>
              <a:ea typeface="Helvetica Neue"/>
              <a:cs typeface="Helvetica Neue"/>
              <a:sym typeface="Helvetica Neue"/>
            </a:endParaRPr>
          </a:p>
        </p:txBody>
      </p:sp>
      <p:sp>
        <p:nvSpPr>
          <p:cNvPr id="258" name="Google Shape;258;p42"/>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Decisions</a:t>
            </a:r>
            <a:endParaRPr>
              <a:solidFill>
                <a:srgbClr val="59595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02/28/2026 Meeting</a:t>
            </a:r>
            <a:r>
              <a:rPr lang="en" sz="2350">
                <a:solidFill>
                  <a:schemeClr val="dk1"/>
                </a:solidFill>
              </a:rPr>
              <a:t>                                                      Andrei</a:t>
            </a:r>
            <a:endParaRPr sz="2350" u="sng">
              <a:solidFill>
                <a:srgbClr val="000000"/>
              </a:solidFill>
            </a:endParaRPr>
          </a:p>
        </p:txBody>
      </p:sp>
      <p:sp>
        <p:nvSpPr>
          <p:cNvPr id="264" name="Google Shape;264;p43"/>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Do we need voltage dividers for the thermistors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Find out how to connect the pump to the pico w</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Start coding once physical components arrive</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for smaller light</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5 to 3.3 volt converter for Float</a:t>
            </a:r>
            <a:endParaRPr sz="1100">
              <a:solidFill>
                <a:schemeClr val="dk1"/>
              </a:solidFill>
              <a:latin typeface="Helvetica Neue"/>
              <a:ea typeface="Helvetica Neue"/>
              <a:cs typeface="Helvetica Neue"/>
              <a:sym typeface="Helvetica Neue"/>
            </a:endParaRPr>
          </a:p>
        </p:txBody>
      </p:sp>
      <p:sp>
        <p:nvSpPr>
          <p:cNvPr id="265" name="Google Shape;265;p43"/>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Voltage divider for the thermistors?</a:t>
            </a:r>
            <a:endParaRPr>
              <a:solidFill>
                <a:srgbClr val="595959"/>
              </a:solidFill>
            </a:endParaRPr>
          </a:p>
          <a:p>
            <a:pPr indent="-317500" lvl="0" marL="457200" rtl="0" algn="l">
              <a:lnSpc>
                <a:spcPct val="115000"/>
              </a:lnSpc>
              <a:spcBef>
                <a:spcPts val="0"/>
              </a:spcBef>
              <a:spcAft>
                <a:spcPts val="0"/>
              </a:spcAft>
              <a:buClr>
                <a:srgbClr val="595959"/>
              </a:buClr>
              <a:buSzPts val="1400"/>
              <a:buChar char="●"/>
            </a:pPr>
            <a:r>
              <a:rPr lang="en">
                <a:solidFill>
                  <a:srgbClr val="595959"/>
                </a:solidFill>
              </a:rPr>
              <a:t>Way to connect the pump to the pico w</a:t>
            </a:r>
            <a:endParaRPr>
              <a:solidFill>
                <a:srgbClr val="59595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4"/>
          <p:cNvSpPr txBox="1"/>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350" u="sng">
                <a:solidFill>
                  <a:schemeClr val="dk1"/>
                </a:solidFill>
              </a:rPr>
              <a:t>0X/XX/2026 Meeting</a:t>
            </a:r>
            <a:r>
              <a:rPr lang="en" sz="2350">
                <a:solidFill>
                  <a:schemeClr val="dk1"/>
                </a:solidFill>
              </a:rPr>
              <a:t>                                                      Andrei</a:t>
            </a:r>
            <a:endParaRPr sz="2350" u="sng">
              <a:solidFill>
                <a:srgbClr val="000000"/>
              </a:solidFill>
            </a:endParaRPr>
          </a:p>
        </p:txBody>
      </p:sp>
      <p:sp>
        <p:nvSpPr>
          <p:cNvPr id="271" name="Google Shape;271;p44"/>
          <p:cNvSpPr txBox="1"/>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rgbClr val="000000"/>
                </a:solidFill>
                <a:latin typeface="Helvetica Neue"/>
                <a:ea typeface="Helvetica Neue"/>
                <a:cs typeface="Helvetica Neue"/>
                <a:sym typeface="Helvetica Neue"/>
              </a:rPr>
              <a:t>Present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Stuff</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Stuff</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Stuff</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Stuff</a:t>
            </a:r>
            <a:endParaRPr sz="1100">
              <a:solidFill>
                <a:schemeClr val="dk1"/>
              </a:solidFill>
              <a:latin typeface="Helvetica Neue"/>
              <a:ea typeface="Helvetica Neue"/>
              <a:cs typeface="Helvetica Neue"/>
              <a:sym typeface="Helvetica Neue"/>
            </a:endParaRPr>
          </a:p>
        </p:txBody>
      </p:sp>
      <p:sp>
        <p:nvSpPr>
          <p:cNvPr id="272" name="Google Shape;272;p44"/>
          <p:cNvSpPr txBox="1"/>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595959"/>
              </a:buClr>
              <a:buSzPts val="1400"/>
              <a:buChar char="●"/>
            </a:pPr>
            <a:r>
              <a:rPr lang="en">
                <a:solidFill>
                  <a:srgbClr val="595959"/>
                </a:solidFill>
              </a:rPr>
              <a:t>Decisions</a:t>
            </a:r>
            <a:endParaRPr>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