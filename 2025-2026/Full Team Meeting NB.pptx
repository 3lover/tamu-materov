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Lst>
  <p:sldSz cy="5143500" cx="9144000"/>
  <p:notesSz cx="6858000" cy="9144000"/>
  <p:embeddedFontLst>
    <p:embeddedFont>
      <p:font typeface="Helvetica Neue"/>
      <p:regular r:id="rId60"/>
      <p:bold r:id="rId61"/>
      <p:italic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HelveticaNeue-italic.fntdata"/><Relationship Id="rId61" Type="http://schemas.openxmlformats.org/officeDocument/2006/relationships/font" Target="fonts/HelveticaNeue-bold.fntdata"/><Relationship Id="rId20" Type="http://schemas.openxmlformats.org/officeDocument/2006/relationships/slide" Target="slides/slide15.xml"/><Relationship Id="rId63" Type="http://schemas.openxmlformats.org/officeDocument/2006/relationships/font" Target="fonts/HelveticaNeue-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HelveticaNeue-regular.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7be8830f8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7be8830f8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53ccbff89a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53ccbff89a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53ccbff89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53ccbff89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5d54ac567f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5d54ac567f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5fcdb774e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5fcdb774e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611a9e36a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611a9e36a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60fbd552db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60fbd552db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60fbd552d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60fbd552d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671bd555e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671bd555e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671bd555e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671bd555e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6aa24a9359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6aa24a9359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6c2161a65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6c2161a65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6d8960afb0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6d8960afb0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6f04c11f4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6f04c11f4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6f642a340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6f642a340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71e6443ad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71e6443ad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72ef991c4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72ef991c4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747460bc0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747460bc0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78518cf85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78518cf85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78015f7e6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78015f7e6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48d006894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48d006894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7ef937227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7ef937227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7ef937227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7ef937227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7ef9372272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7ef9372272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7ef9372272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7ef9372272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814956fbf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814956fbf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819f4e71b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819f4e71b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84876c41a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84876c41a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9f9c463a18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9f9c463a18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a05b9f000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a05b9f000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a90bcceb8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a90bcceb8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a916398cd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a916398cd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b2fa2eac2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b2fa2eac2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b3e4362f1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b3e4362f1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b48b2901a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b48b2901a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c6d3d1142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c6d3d1142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b48b2901a4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b48b2901a4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b48b2901a4_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b48b2901a4_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b48b2901a4_2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b48b2901a4_2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b48b2901a4_2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b48b2901a4_2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b48b2901a4_2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b48b2901a4_2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b48b2901a4_2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b48b2901a4_2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b48b2901a4_2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b48b2901a4_2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b48b2901a4_2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b48b2901a4_2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b48b2901a4_2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b48b2901a4_2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b48b2901a4_2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b48b2901a4_2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b48b2901a4_2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b48b2901a4_2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b48b2901a4_2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b48b2901a4_2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b48b2901a4_2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b48b2901a4_2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b48b2901a4_2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b48b2901a4_2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b48b2901a4_2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b48b2901a4_2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b48b2901a4_2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b48b2901a4_2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b48b2901a4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b48b2901a4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hyperlink" Target="https://docs.google.com/presentation/d/1KpWBKXS6d5lPFPzCCWmBKkWVJffrZEIU/edit?slide=id.g35ce9d7eda1_0_32#slide=id.g35ce9d7eda1_0_32"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hyperlink" Target="https://www.mybib.com/tools/ieee-citation-generator"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hyperlink" Target="https://materovcompetition.org/scholarships-grants"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hyperlink" Target="https://docs.google.com/forms/d/e/1FAIpQLSeGyaGvHWAufdGR_Rfwd6oXXOdnbS6NK3mwmQRGRE32ZcSuQg/viewform?usp=send_form" TargetMode="External"/><Relationship Id="rId4" Type="http://schemas.openxmlformats.org/officeDocument/2006/relationships/hyperlink" Target="https://20693798.fs1.hubspotusercontent-na1.net/hubfs/20693798/2025%20PIONEER%20Manual_FINAL_1_6_withCover.pdf" TargetMode="External"/><Relationship Id="rId5" Type="http://schemas.openxmlformats.org/officeDocument/2006/relationships/hyperlink" Target="https://20693798.fs1.hubspotusercontent-na1.net/hubfs/20693798/FINAL%20SCORES%20PIONEER%20FOR%20WEB%20Updated.pdf" TargetMode="External"/><Relationship Id="rId6" Type="http://schemas.openxmlformats.org/officeDocument/2006/relationships/hyperlink" Target="https://materovcompetition.org/2025-archive" TargetMode="External"/><Relationship Id="rId7" Type="http://schemas.openxmlformats.org/officeDocument/2006/relationships/image" Target="../media/image4.png"/><Relationship Id="rId8"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6.png"/><Relationship Id="rId4" Type="http://schemas.openxmlformats.org/officeDocument/2006/relationships/hyperlink" Target="https://docs.google.com/document/d/15YoNJOIdmp1OeEC6OicZ-j9QKq9scYm-1hOUy8IQnlM/edit?tab=t.0"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hyperlink" Target="https://docs.google.com/document/u/0/d/1d9gMatOJHjw5q88SehXcNXPWhd0h9ch6gJuN3tGaFzs/edit" TargetMode="External"/><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hyperlink" Target="https://docs.google.com/document/d/1Eu8bWUu4vgo2b1AfVhCnYIUK0KkyCntBXWbPUY2QGQg/edit?usp=sharing" TargetMode="External"/><Relationship Id="rId4" Type="http://schemas.openxmlformats.org/officeDocument/2006/relationships/image" Target="../media/image7.png"/><Relationship Id="rId5" Type="http://schemas.openxmlformats.org/officeDocument/2006/relationships/hyperlink" Target="https://docs.google.com/document/d/1Eu8bWUu4vgo2b1AfVhCnYIUK0KkyCntBXWbPUY2QGQg/edit?usp=sharing"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hyperlink" Target="https://tools.3deee.ch/f_calculator"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MATE ROV Notebook 2025</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FC5E8"/>
        </a:solidFill>
      </p:bgPr>
    </p:bg>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IDEAS BIN</a:t>
            </a:r>
            <a:endParaRPr/>
          </a:p>
        </p:txBody>
      </p:sp>
      <p:sp>
        <p:nvSpPr>
          <p:cNvPr id="61" name="Google Shape;61;p14"/>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62" name="Google Shape;62;p14"/>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t>Meeting title and date</a:t>
            </a:r>
            <a:r>
              <a:rPr lang="en"/>
              <a:t>                                              Author</a:t>
            </a:r>
            <a:r>
              <a:rPr lang="en" u="sng"/>
              <a:t> </a:t>
            </a:r>
            <a:endParaRPr u="sng"/>
          </a:p>
        </p:txBody>
      </p:sp>
      <p:sp>
        <p:nvSpPr>
          <p:cNvPr id="68" name="Google Shape;68;p1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chemeClr val="dk1"/>
                </a:solidFill>
                <a:latin typeface="Helvetica Neue"/>
                <a:ea typeface="Helvetica Neue"/>
                <a:cs typeface="Helvetica Neue"/>
                <a:sym typeface="Helvetica Neue"/>
              </a:rPr>
              <a:t>Present Agenda:</a:t>
            </a:r>
            <a:endParaRPr b="1"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Use the agenda to plan out things for this meeting!</a:t>
            </a:r>
            <a:endParaRPr sz="1100">
              <a:solidFill>
                <a:schemeClr val="dk1"/>
              </a:solidFill>
              <a:latin typeface="Helvetica Neue"/>
              <a:ea typeface="Helvetica Neue"/>
              <a:cs typeface="Helvetica Neue"/>
              <a:sym typeface="Helvetica Neue"/>
            </a:endParaRPr>
          </a:p>
          <a:p>
            <a:pPr indent="-298450" lvl="1" marL="9144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You can also write things down in advance so that you avoid forgetting things</a:t>
            </a:r>
            <a:endParaRPr sz="1100">
              <a:solidFill>
                <a:schemeClr val="dk1"/>
              </a:solidFill>
              <a:latin typeface="Helvetica Neue"/>
              <a:ea typeface="Helvetica Neue"/>
              <a:cs typeface="Helvetica Neue"/>
              <a:sym typeface="Helvetica Neue"/>
            </a:endParaRPr>
          </a:p>
          <a:p>
            <a:pPr indent="-298450" lvl="1" marL="9144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A good agenda makes your meetings faster &amp; more organized</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chemeClr val="dk1"/>
                </a:solidFill>
                <a:latin typeface="Helvetica Neue"/>
                <a:ea typeface="Helvetica Neue"/>
                <a:cs typeface="Helvetica Neue"/>
                <a:sym typeface="Helvetica Neue"/>
              </a:rPr>
              <a:t>Future Agenda:</a:t>
            </a:r>
            <a:endParaRPr b="1"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What </a:t>
            </a:r>
            <a:r>
              <a:rPr lang="en" sz="1100">
                <a:solidFill>
                  <a:schemeClr val="dk1"/>
                </a:solidFill>
                <a:latin typeface="Helvetica Neue"/>
                <a:ea typeface="Helvetica Neue"/>
                <a:cs typeface="Helvetica Neue"/>
                <a:sym typeface="Helvetica Neue"/>
              </a:rPr>
              <a:t>tasks</a:t>
            </a:r>
            <a:r>
              <a:rPr lang="en" sz="1100">
                <a:solidFill>
                  <a:schemeClr val="dk1"/>
                </a:solidFill>
                <a:latin typeface="Helvetica Neue"/>
                <a:ea typeface="Helvetica Neue"/>
                <a:cs typeface="Helvetica Neue"/>
                <a:sym typeface="Helvetica Neue"/>
              </a:rPr>
              <a:t> need to be done</a:t>
            </a:r>
            <a:endParaRPr sz="1100">
              <a:solidFill>
                <a:schemeClr val="dk1"/>
              </a:solidFill>
              <a:latin typeface="Helvetica Neue"/>
              <a:ea typeface="Helvetica Neue"/>
              <a:cs typeface="Helvetica Neue"/>
              <a:sym typeface="Helvetica Neue"/>
            </a:endParaRPr>
          </a:p>
          <a:p>
            <a:pPr indent="-298450" lvl="1" marL="9144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Include who does the task</a:t>
            </a:r>
            <a:endParaRPr sz="1100">
              <a:solidFill>
                <a:schemeClr val="dk1"/>
              </a:solidFill>
              <a:latin typeface="Helvetica Neue"/>
              <a:ea typeface="Helvetica Neue"/>
              <a:cs typeface="Helvetica Neue"/>
              <a:sym typeface="Helvetica Neue"/>
            </a:endParaRPr>
          </a:p>
          <a:p>
            <a:pPr indent="-298450" lvl="1" marL="9144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Deadline for the task</a:t>
            </a:r>
            <a:endParaRPr sz="1100">
              <a:solidFill>
                <a:schemeClr val="dk1"/>
              </a:solidFill>
              <a:latin typeface="Helvetica Neue"/>
              <a:ea typeface="Helvetica Neue"/>
              <a:cs typeface="Helvetica Neue"/>
              <a:sym typeface="Helvetica Neue"/>
            </a:endParaRPr>
          </a:p>
        </p:txBody>
      </p:sp>
      <p:sp>
        <p:nvSpPr>
          <p:cNvPr id="69" name="Google Shape;69;p1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sz="1300"/>
              <a:t>Important decisions made during the meeting</a:t>
            </a:r>
            <a:endParaRPr sz="1300"/>
          </a:p>
          <a:p>
            <a:pPr indent="-311150" lvl="1" marL="914400" rtl="0" algn="l">
              <a:spcBef>
                <a:spcPts val="0"/>
              </a:spcBef>
              <a:spcAft>
                <a:spcPts val="0"/>
              </a:spcAft>
              <a:buSzPts val="1300"/>
              <a:buChar char="○"/>
            </a:pPr>
            <a:r>
              <a:rPr lang="en" sz="1300"/>
              <a:t>One </a:t>
            </a:r>
            <a:r>
              <a:rPr lang="en" sz="1300"/>
              <a:t>sentence</a:t>
            </a:r>
            <a:r>
              <a:rPr lang="en" sz="1300"/>
              <a:t> justification</a:t>
            </a:r>
            <a:endParaRPr sz="1300"/>
          </a:p>
          <a:p>
            <a:pPr indent="0" lvl="0" marL="0" rtl="0" algn="l">
              <a:spcBef>
                <a:spcPts val="1200"/>
              </a:spcBef>
              <a:spcAft>
                <a:spcPts val="1200"/>
              </a:spcAft>
              <a:buNone/>
            </a:pPr>
            <a:r>
              <a:t/>
            </a:r>
            <a:endParaRPr/>
          </a:p>
        </p:txBody>
      </p:sp>
      <p:sp>
        <p:nvSpPr>
          <p:cNvPr id="70" name="Google Shape;70;p15"/>
          <p:cNvSpPr txBox="1"/>
          <p:nvPr/>
        </p:nvSpPr>
        <p:spPr>
          <a:xfrm>
            <a:off x="171525" y="81425"/>
            <a:ext cx="2419500" cy="36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0000"/>
                </a:solidFill>
              </a:rPr>
              <a:t>TEMPLATE</a:t>
            </a:r>
            <a:endParaRPr sz="180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Leads meeting 5/02</a:t>
            </a:r>
            <a:endParaRPr/>
          </a:p>
        </p:txBody>
      </p:sp>
      <p:sp>
        <p:nvSpPr>
          <p:cNvPr id="76" name="Google Shape;76;p1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a:t>Name brainstorming:</a:t>
            </a:r>
            <a:endParaRPr/>
          </a:p>
          <a:p>
            <a:pPr indent="-304800" lvl="1" marL="914400" rtl="0" algn="l">
              <a:spcBef>
                <a:spcPts val="0"/>
              </a:spcBef>
              <a:spcAft>
                <a:spcPts val="0"/>
              </a:spcAft>
              <a:buSzPts val="1200"/>
              <a:buChar char="○"/>
            </a:pPr>
            <a:r>
              <a:rPr lang="en"/>
              <a:t>Oceanus </a:t>
            </a:r>
            <a:endParaRPr/>
          </a:p>
          <a:p>
            <a:pPr indent="-304800" lvl="1" marL="914400" rtl="0" algn="l">
              <a:spcBef>
                <a:spcPts val="0"/>
              </a:spcBef>
              <a:spcAft>
                <a:spcPts val="0"/>
              </a:spcAft>
              <a:buSzPts val="1200"/>
              <a:buChar char="○"/>
            </a:pPr>
            <a:r>
              <a:rPr lang="en"/>
              <a:t>Potamoi </a:t>
            </a:r>
            <a:endParaRPr/>
          </a:p>
        </p:txBody>
      </p:sp>
      <p:sp>
        <p:nvSpPr>
          <p:cNvPr id="77" name="Google Shape;77;p1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lnSpcReduction="20000"/>
          </a:bodyPr>
          <a:lstStyle/>
          <a:p>
            <a:pPr indent="-304800" lvl="0" marL="457200" rtl="0" algn="l">
              <a:spcBef>
                <a:spcPts val="0"/>
              </a:spcBef>
              <a:spcAft>
                <a:spcPts val="0"/>
              </a:spcAft>
              <a:buSzPts val="1200"/>
              <a:buChar char="●"/>
            </a:pPr>
            <a:r>
              <a:rPr lang="en" sz="1200"/>
              <a:t>1 In person, full team meeting a week</a:t>
            </a:r>
            <a:endParaRPr sz="1200"/>
          </a:p>
          <a:p>
            <a:pPr indent="-304800" lvl="0" marL="457200" rtl="0" algn="l">
              <a:spcBef>
                <a:spcPts val="0"/>
              </a:spcBef>
              <a:spcAft>
                <a:spcPts val="0"/>
              </a:spcAft>
              <a:buSzPts val="1200"/>
              <a:buChar char="●"/>
            </a:pPr>
            <a:r>
              <a:rPr lang="en" sz="1200"/>
              <a:t>1 in person, subteam meeting a week</a:t>
            </a:r>
            <a:endParaRPr sz="1200"/>
          </a:p>
          <a:p>
            <a:pPr indent="-304800" lvl="0" marL="457200" rtl="0" algn="l">
              <a:spcBef>
                <a:spcPts val="0"/>
              </a:spcBef>
              <a:spcAft>
                <a:spcPts val="0"/>
              </a:spcAft>
              <a:buSzPts val="1200"/>
              <a:buChar char="●"/>
            </a:pPr>
            <a:r>
              <a:rPr lang="en" sz="1200"/>
              <a:t>First 5 minutes of every meeting will be for the members to fill out the gantt chart </a:t>
            </a:r>
            <a:endParaRPr sz="1200"/>
          </a:p>
          <a:p>
            <a:pPr indent="-304800" lvl="0" marL="457200" rtl="0" algn="l">
              <a:spcBef>
                <a:spcPts val="0"/>
              </a:spcBef>
              <a:spcAft>
                <a:spcPts val="0"/>
              </a:spcAft>
              <a:buSzPts val="1200"/>
              <a:buChar char="●"/>
            </a:pPr>
            <a:r>
              <a:rPr lang="en" sz="1200"/>
              <a:t>Things to do over summer Start the week of the 25th</a:t>
            </a:r>
            <a:endParaRPr sz="1200"/>
          </a:p>
          <a:p>
            <a:pPr indent="-292100" lvl="1" marL="914400" rtl="0" algn="l">
              <a:spcBef>
                <a:spcPts val="0"/>
              </a:spcBef>
              <a:spcAft>
                <a:spcPts val="0"/>
              </a:spcAft>
              <a:buSzPts val="1000"/>
              <a:buChar char="○"/>
            </a:pPr>
            <a:r>
              <a:rPr lang="en" sz="1000"/>
              <a:t>Get to know each other</a:t>
            </a:r>
            <a:endParaRPr sz="1000"/>
          </a:p>
          <a:p>
            <a:pPr indent="-292100" lvl="1" marL="914400" rtl="0" algn="l">
              <a:spcBef>
                <a:spcPts val="0"/>
              </a:spcBef>
              <a:spcAft>
                <a:spcPts val="0"/>
              </a:spcAft>
              <a:buSzPts val="1000"/>
              <a:buChar char="○"/>
            </a:pPr>
            <a:r>
              <a:rPr lang="en" sz="1000"/>
              <a:t>Quantitative </a:t>
            </a:r>
            <a:r>
              <a:rPr lang="en" sz="1000"/>
              <a:t>success</a:t>
            </a:r>
            <a:r>
              <a:rPr lang="en" sz="1000"/>
              <a:t> criteria</a:t>
            </a:r>
            <a:endParaRPr sz="1000"/>
          </a:p>
          <a:p>
            <a:pPr indent="-292100" lvl="1" marL="914400" rtl="0" algn="l">
              <a:spcBef>
                <a:spcPts val="0"/>
              </a:spcBef>
              <a:spcAft>
                <a:spcPts val="0"/>
              </a:spcAft>
              <a:buSzPts val="1000"/>
              <a:buChar char="○"/>
            </a:pPr>
            <a:r>
              <a:rPr lang="en" sz="1000"/>
              <a:t>Meetings once a week, turn camera on, ask with a when to meet for the best day</a:t>
            </a:r>
            <a:endParaRPr sz="1000"/>
          </a:p>
          <a:p>
            <a:pPr indent="-292100" lvl="1" marL="914400" rtl="0" algn="l">
              <a:spcBef>
                <a:spcPts val="0"/>
              </a:spcBef>
              <a:spcAft>
                <a:spcPts val="0"/>
              </a:spcAft>
              <a:buSzPts val="1000"/>
              <a:buChar char="○"/>
            </a:pPr>
            <a:r>
              <a:rPr lang="en" sz="1000"/>
              <a:t>Let us know 3 hours before</a:t>
            </a:r>
            <a:endParaRPr sz="1000"/>
          </a:p>
          <a:p>
            <a:pPr indent="-304800" lvl="0" marL="457200" rtl="0" algn="l">
              <a:spcBef>
                <a:spcPts val="0"/>
              </a:spcBef>
              <a:spcAft>
                <a:spcPts val="0"/>
              </a:spcAft>
              <a:buSzPts val="1200"/>
              <a:buChar char="●"/>
            </a:pPr>
            <a:r>
              <a:rPr lang="en" sz="1200"/>
              <a:t>Temporary team leads</a:t>
            </a:r>
            <a:endParaRPr sz="1200"/>
          </a:p>
          <a:p>
            <a:pPr indent="-292100" lvl="1" marL="914400" rtl="0" algn="l">
              <a:spcBef>
                <a:spcPts val="0"/>
              </a:spcBef>
              <a:spcAft>
                <a:spcPts val="0"/>
              </a:spcAft>
              <a:buSzPts val="1000"/>
              <a:buChar char="○"/>
            </a:pPr>
            <a:r>
              <a:rPr lang="en" sz="1000"/>
              <a:t>Mainstream communication through leads</a:t>
            </a:r>
            <a:endParaRPr sz="1000"/>
          </a:p>
          <a:p>
            <a:pPr indent="-292100" lvl="1" marL="914400" rtl="0" algn="l">
              <a:spcBef>
                <a:spcPts val="0"/>
              </a:spcBef>
              <a:spcAft>
                <a:spcPts val="0"/>
              </a:spcAft>
              <a:buSzPts val="1000"/>
              <a:buChar char="○"/>
            </a:pPr>
            <a:r>
              <a:rPr lang="en" sz="1000"/>
              <a:t>Organizing subteam meeting a week</a:t>
            </a:r>
            <a:endParaRPr sz="1000"/>
          </a:p>
          <a:p>
            <a:pPr indent="-292100" lvl="1" marL="914400" rtl="0" algn="l">
              <a:spcBef>
                <a:spcPts val="0"/>
              </a:spcBef>
              <a:spcAft>
                <a:spcPts val="0"/>
              </a:spcAft>
              <a:buSzPts val="1000"/>
              <a:buChar char="○"/>
            </a:pPr>
            <a:r>
              <a:rPr lang="en" sz="1000"/>
              <a:t>Upkeep of Subteam Meeting NB</a:t>
            </a:r>
            <a:endParaRPr sz="1000"/>
          </a:p>
          <a:p>
            <a:pPr indent="-292100" lvl="0" marL="457200" rtl="0" algn="l">
              <a:spcBef>
                <a:spcPts val="0"/>
              </a:spcBef>
              <a:spcAft>
                <a:spcPts val="0"/>
              </a:spcAft>
              <a:buSzPts val="1000"/>
              <a:buChar char="●"/>
            </a:pPr>
            <a:r>
              <a:rPr b="1" lang="en" sz="1000" u="sng"/>
              <a:t>ALL MEETING NOTES END UP IN THE NOTEBOOK</a:t>
            </a:r>
            <a:endParaRPr b="1" sz="1000" u="sng"/>
          </a:p>
          <a:p>
            <a:pPr indent="0" lvl="0" marL="0" rtl="0" algn="l">
              <a:spcBef>
                <a:spcPts val="1200"/>
              </a:spcBef>
              <a:spcAft>
                <a:spcPts val="0"/>
              </a:spcAft>
              <a:buNone/>
            </a:pPr>
            <a:r>
              <a:t/>
            </a:r>
            <a:endParaRPr sz="1000"/>
          </a:p>
          <a:p>
            <a:pPr indent="0" lvl="0" marL="0" rtl="0" algn="l">
              <a:spcBef>
                <a:spcPts val="1200"/>
              </a:spcBef>
              <a:spcAft>
                <a:spcPts val="1200"/>
              </a:spcAft>
              <a:buNone/>
            </a:pPr>
            <a:r>
              <a:rPr lang="en" sz="1000"/>
              <a:t> </a:t>
            </a:r>
            <a:endParaRPr sz="1000"/>
          </a:p>
        </p:txBody>
      </p:sp>
      <p:pic>
        <p:nvPicPr>
          <p:cNvPr id="78" name="Google Shape;78;p16"/>
          <p:cNvPicPr preferRelativeResize="0"/>
          <p:nvPr/>
        </p:nvPicPr>
        <p:blipFill>
          <a:blip r:embed="rId3">
            <a:alphaModFix/>
          </a:blip>
          <a:stretch>
            <a:fillRect/>
          </a:stretch>
        </p:blipFill>
        <p:spPr>
          <a:xfrm>
            <a:off x="1977820" y="2706000"/>
            <a:ext cx="1479225" cy="1663375"/>
          </a:xfrm>
          <a:prstGeom prst="rect">
            <a:avLst/>
          </a:prstGeom>
          <a:noFill/>
          <a:ln>
            <a:noFill/>
          </a:ln>
        </p:spPr>
      </p:pic>
      <p:pic>
        <p:nvPicPr>
          <p:cNvPr id="79" name="Google Shape;79;p16"/>
          <p:cNvPicPr preferRelativeResize="0"/>
          <p:nvPr/>
        </p:nvPicPr>
        <p:blipFill>
          <a:blip r:embed="rId4">
            <a:alphaModFix/>
          </a:blip>
          <a:stretch>
            <a:fillRect/>
          </a:stretch>
        </p:blipFill>
        <p:spPr>
          <a:xfrm>
            <a:off x="311700" y="2706000"/>
            <a:ext cx="1562100" cy="15621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t>First Summer Meeting</a:t>
            </a:r>
            <a:r>
              <a:rPr lang="en"/>
              <a:t>                                  Arjun Sawhney</a:t>
            </a:r>
            <a:endParaRPr u="sng"/>
          </a:p>
        </p:txBody>
      </p:sp>
      <p:sp>
        <p:nvSpPr>
          <p:cNvPr id="85" name="Google Shape;85;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chemeClr val="dk1"/>
                </a:solidFill>
                <a:latin typeface="Helvetica Neue"/>
                <a:ea typeface="Helvetica Neue"/>
                <a:cs typeface="Helvetica Neue"/>
                <a:sym typeface="Helvetica Neue"/>
              </a:rPr>
              <a:t>Present Agenda:</a:t>
            </a:r>
            <a:endParaRPr b="1"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Setting aside goals for the summer</a:t>
            </a:r>
            <a:endParaRPr sz="1100">
              <a:solidFill>
                <a:schemeClr val="dk1"/>
              </a:solidFill>
              <a:latin typeface="Helvetica Neue"/>
              <a:ea typeface="Helvetica Neue"/>
              <a:cs typeface="Helvetica Neue"/>
              <a:sym typeface="Helvetica Neue"/>
            </a:endParaRPr>
          </a:p>
          <a:p>
            <a:pPr indent="-298450" lvl="1" marL="9144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Team-building (MC server)</a:t>
            </a:r>
            <a:endParaRPr sz="1100">
              <a:solidFill>
                <a:schemeClr val="dk1"/>
              </a:solidFill>
              <a:latin typeface="Helvetica Neue"/>
              <a:ea typeface="Helvetica Neue"/>
              <a:cs typeface="Helvetica Neue"/>
              <a:sym typeface="Helvetica Neue"/>
            </a:endParaRPr>
          </a:p>
          <a:p>
            <a:pPr indent="-298450" lvl="1" marL="9144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Success criteria and understanding expectations</a:t>
            </a:r>
            <a:endParaRPr sz="1100">
              <a:solidFill>
                <a:schemeClr val="dk1"/>
              </a:solidFill>
              <a:latin typeface="Helvetica Neue"/>
              <a:ea typeface="Helvetica Neue"/>
              <a:cs typeface="Helvetica Neue"/>
              <a:sym typeface="Helvetica Neue"/>
            </a:endParaRPr>
          </a:p>
          <a:p>
            <a:pPr indent="-298450" lvl="1" marL="9144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Beginning subteam work and meetings</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chemeClr val="dk1"/>
                </a:solidFill>
                <a:latin typeface="Helvetica Neue"/>
                <a:ea typeface="Helvetica Neue"/>
                <a:cs typeface="Helvetica Neue"/>
                <a:sym typeface="Helvetica Neue"/>
              </a:rPr>
              <a:t>To-do:</a:t>
            </a:r>
            <a:endParaRPr b="1"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Subteam meetings set aside</a:t>
            </a:r>
            <a:endParaRPr sz="1100">
              <a:solidFill>
                <a:schemeClr val="dk1"/>
              </a:solidFill>
              <a:latin typeface="Helvetica Neue"/>
              <a:ea typeface="Helvetica Neue"/>
              <a:cs typeface="Helvetica Neue"/>
              <a:sym typeface="Helvetica Neue"/>
            </a:endParaRPr>
          </a:p>
          <a:p>
            <a:pPr indent="-298450" lvl="1" marL="9144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Contact information obtained for each subteam</a:t>
            </a:r>
            <a:endParaRPr sz="1100">
              <a:solidFill>
                <a:schemeClr val="dk1"/>
              </a:solidFill>
              <a:latin typeface="Helvetica Neue"/>
              <a:ea typeface="Helvetica Neue"/>
              <a:cs typeface="Helvetica Neue"/>
              <a:sym typeface="Helvetica Neue"/>
            </a:endParaRPr>
          </a:p>
          <a:p>
            <a:pPr indent="-298450" lvl="1" marL="9144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Meeting times decided upon</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Downloading software</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Minecraft server!!</a:t>
            </a:r>
            <a:endParaRPr sz="1100">
              <a:solidFill>
                <a:schemeClr val="dk1"/>
              </a:solidFill>
              <a:latin typeface="Helvetica Neue"/>
              <a:ea typeface="Helvetica Neue"/>
              <a:cs typeface="Helvetica Neue"/>
              <a:sym typeface="Helvetica Neue"/>
            </a:endParaRPr>
          </a:p>
        </p:txBody>
      </p:sp>
      <p:sp>
        <p:nvSpPr>
          <p:cNvPr id="86" name="Google Shape;86;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u="sng">
                <a:solidFill>
                  <a:schemeClr val="hlink"/>
                </a:solidFill>
                <a:hlinkClick r:id="rId3"/>
              </a:rPr>
              <a:t>First Meeting</a:t>
            </a:r>
            <a:endParaRPr sz="1200"/>
          </a:p>
          <a:p>
            <a:pPr indent="0" lvl="0" marL="0" rtl="0" algn="l">
              <a:spcBef>
                <a:spcPts val="1200"/>
              </a:spcBef>
              <a:spcAft>
                <a:spcPts val="0"/>
              </a:spcAft>
              <a:buNone/>
            </a:pPr>
            <a:r>
              <a:rPr lang="en" sz="1200"/>
              <a:t>Major notes: </a:t>
            </a:r>
            <a:endParaRPr sz="1200"/>
          </a:p>
          <a:p>
            <a:pPr indent="-304800" lvl="0" marL="457200" rtl="0" algn="l">
              <a:spcBef>
                <a:spcPts val="1200"/>
              </a:spcBef>
              <a:spcAft>
                <a:spcPts val="0"/>
              </a:spcAft>
              <a:buSzPts val="1200"/>
              <a:buChar char="●"/>
            </a:pPr>
            <a:r>
              <a:rPr lang="en" sz="1200"/>
              <a:t>Team notebooks meant for continual meeting notes, use for every meeting</a:t>
            </a:r>
            <a:endParaRPr sz="1200"/>
          </a:p>
          <a:p>
            <a:pPr indent="-304800" lvl="0" marL="457200" rtl="0" algn="l">
              <a:spcBef>
                <a:spcPts val="0"/>
              </a:spcBef>
              <a:spcAft>
                <a:spcPts val="0"/>
              </a:spcAft>
              <a:buSzPts val="1200"/>
              <a:buChar char="●"/>
            </a:pPr>
            <a:r>
              <a:rPr lang="en" sz="1200"/>
              <a:t>Programs have been covered that we expect subteams to utilize, subteams will begin to download them in preparation to learn</a:t>
            </a:r>
            <a:endParaRPr sz="1200"/>
          </a:p>
          <a:p>
            <a:pPr indent="-304800" lvl="0" marL="457200" rtl="0" algn="l">
              <a:spcBef>
                <a:spcPts val="0"/>
              </a:spcBef>
              <a:spcAft>
                <a:spcPts val="0"/>
              </a:spcAft>
              <a:buSzPts val="1200"/>
              <a:buChar char="●"/>
            </a:pPr>
            <a:r>
              <a:rPr lang="en" sz="1200"/>
              <a:t>Subteams have created weekly meeting times</a:t>
            </a:r>
            <a:endParaRPr sz="1200"/>
          </a:p>
          <a:p>
            <a:pPr indent="-304800" lvl="0" marL="457200" rtl="0" algn="l">
              <a:spcBef>
                <a:spcPts val="0"/>
              </a:spcBef>
              <a:spcAft>
                <a:spcPts val="0"/>
              </a:spcAft>
              <a:buSzPts val="1200"/>
              <a:buChar char="●"/>
            </a:pPr>
            <a:r>
              <a:rPr lang="en" sz="1200"/>
              <a:t>Google Calendar creation for all subteams to keep track of meetings</a:t>
            </a:r>
            <a:endParaRPr sz="1200"/>
          </a:p>
          <a:p>
            <a:pPr indent="0" lvl="0" marL="0" rtl="0" algn="l">
              <a:spcBef>
                <a:spcPts val="1200"/>
              </a:spcBef>
              <a:spcAft>
                <a:spcPts val="1200"/>
              </a:spcAft>
              <a:buNone/>
            </a:pPr>
            <a:r>
              <a:t/>
            </a:r>
            <a:endParaRPr sz="1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t>Team Meeting 6/02/2025</a:t>
            </a:r>
            <a:r>
              <a:rPr lang="en"/>
              <a:t>                                 Zack Hobbs</a:t>
            </a:r>
            <a:endParaRPr u="sng"/>
          </a:p>
        </p:txBody>
      </p:sp>
      <p:sp>
        <p:nvSpPr>
          <p:cNvPr id="92" name="Google Shape;92;p18"/>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chemeClr val="dk1"/>
                </a:solidFill>
                <a:latin typeface="Helvetica Neue"/>
                <a:ea typeface="Helvetica Neue"/>
                <a:cs typeface="Helvetica Neue"/>
                <a:sym typeface="Helvetica Neue"/>
              </a:rPr>
              <a:t>Present Agenda:</a:t>
            </a:r>
            <a:endParaRPr b="1"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Went over research progress</a:t>
            </a:r>
            <a:endParaRPr sz="1100">
              <a:solidFill>
                <a:schemeClr val="dk1"/>
              </a:solidFill>
              <a:latin typeface="Helvetica Neue"/>
              <a:ea typeface="Helvetica Neue"/>
              <a:cs typeface="Helvetica Neue"/>
              <a:sym typeface="Helvetica Neue"/>
            </a:endParaRPr>
          </a:p>
          <a:p>
            <a:pPr indent="-298450" lvl="1" marL="9144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TMS</a:t>
            </a:r>
            <a:endParaRPr sz="1100">
              <a:solidFill>
                <a:schemeClr val="dk1"/>
              </a:solidFill>
              <a:latin typeface="Helvetica Neue"/>
              <a:ea typeface="Helvetica Neue"/>
              <a:cs typeface="Helvetica Neue"/>
              <a:sym typeface="Helvetica Neue"/>
            </a:endParaRPr>
          </a:p>
          <a:p>
            <a:pPr indent="-298450" lvl="1" marL="9144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C&amp;C</a:t>
            </a:r>
            <a:endParaRPr sz="1100">
              <a:solidFill>
                <a:schemeClr val="dk1"/>
              </a:solidFill>
              <a:latin typeface="Helvetica Neue"/>
              <a:ea typeface="Helvetica Neue"/>
              <a:cs typeface="Helvetica Neue"/>
              <a:sym typeface="Helvetica Neue"/>
            </a:endParaRPr>
          </a:p>
          <a:p>
            <a:pPr indent="-298450" lvl="1" marL="9144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F&amp;P</a:t>
            </a:r>
            <a:endParaRPr sz="1100">
              <a:solidFill>
                <a:schemeClr val="dk1"/>
              </a:solidFill>
              <a:latin typeface="Helvetica Neue"/>
              <a:ea typeface="Helvetica Neue"/>
              <a:cs typeface="Helvetica Neue"/>
              <a:sym typeface="Helvetica Neue"/>
            </a:endParaRPr>
          </a:p>
          <a:p>
            <a:pPr indent="-298450" lvl="1" marL="9144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EPS</a:t>
            </a:r>
            <a:endParaRPr sz="1100">
              <a:solidFill>
                <a:schemeClr val="dk1"/>
              </a:solidFill>
              <a:latin typeface="Helvetica Neue"/>
              <a:ea typeface="Helvetica Neue"/>
              <a:cs typeface="Helvetica Neue"/>
              <a:sym typeface="Helvetica Neue"/>
            </a:endParaRPr>
          </a:p>
          <a:p>
            <a:pPr indent="-298450" lvl="1" marL="9144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G&amp;C</a:t>
            </a:r>
            <a:endParaRPr sz="1100">
              <a:solidFill>
                <a:schemeClr val="dk1"/>
              </a:solidFill>
              <a:latin typeface="Helvetica Neue"/>
              <a:ea typeface="Helvetica Neue"/>
              <a:cs typeface="Helvetica Neue"/>
              <a:sym typeface="Helvetica Neue"/>
            </a:endParaRPr>
          </a:p>
          <a:p>
            <a:pPr indent="-298450" lvl="1" marL="9144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Zack’s speech about needs and requirements</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chemeClr val="dk1"/>
                </a:solidFill>
                <a:latin typeface="Helvetica Neue"/>
                <a:ea typeface="Helvetica Neue"/>
                <a:cs typeface="Helvetica Neue"/>
                <a:sym typeface="Helvetica Neue"/>
              </a:rPr>
              <a:t>Future Agenda:</a:t>
            </a:r>
            <a:endParaRPr b="1"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Start on Needs</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Look at the starter kits</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1100">
              <a:solidFill>
                <a:schemeClr val="dk1"/>
              </a:solidFill>
              <a:latin typeface="Helvetica Neue"/>
              <a:ea typeface="Helvetica Neue"/>
              <a:cs typeface="Helvetica Neue"/>
              <a:sym typeface="Helvetica Neue"/>
            </a:endParaRPr>
          </a:p>
        </p:txBody>
      </p:sp>
      <p:sp>
        <p:nvSpPr>
          <p:cNvPr id="93" name="Google Shape;93;p18"/>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lnSpcReduction="20000"/>
          </a:bodyPr>
          <a:lstStyle/>
          <a:p>
            <a:pPr indent="-311150" lvl="0" marL="457200" rtl="0" algn="l">
              <a:spcBef>
                <a:spcPts val="0"/>
              </a:spcBef>
              <a:spcAft>
                <a:spcPts val="0"/>
              </a:spcAft>
              <a:buSzPts val="1300"/>
              <a:buChar char="●"/>
            </a:pPr>
            <a:r>
              <a:rPr lang="en" sz="1300"/>
              <a:t>TMS</a:t>
            </a:r>
            <a:endParaRPr sz="1300"/>
          </a:p>
          <a:p>
            <a:pPr indent="-311150" lvl="1" marL="914400" rtl="0" algn="l">
              <a:spcBef>
                <a:spcPts val="0"/>
              </a:spcBef>
              <a:spcAft>
                <a:spcPts val="0"/>
              </a:spcAft>
              <a:buSzPts val="1300"/>
              <a:buChar char="○"/>
            </a:pPr>
            <a:r>
              <a:rPr lang="en" sz="1300"/>
              <a:t>Assigned research past teams to better understand goals of the </a:t>
            </a:r>
            <a:r>
              <a:rPr lang="en" sz="1300"/>
              <a:t>challenge</a:t>
            </a:r>
            <a:endParaRPr sz="1300"/>
          </a:p>
          <a:p>
            <a:pPr indent="-311150" lvl="0" marL="457200" rtl="0" algn="l">
              <a:spcBef>
                <a:spcPts val="0"/>
              </a:spcBef>
              <a:spcAft>
                <a:spcPts val="0"/>
              </a:spcAft>
              <a:buSzPts val="1300"/>
              <a:buChar char="●"/>
            </a:pPr>
            <a:r>
              <a:rPr lang="en" sz="1300"/>
              <a:t>C&amp;C</a:t>
            </a:r>
            <a:endParaRPr sz="1300"/>
          </a:p>
          <a:p>
            <a:pPr indent="-311150" lvl="1" marL="914400" rtl="0" algn="l">
              <a:spcBef>
                <a:spcPts val="0"/>
              </a:spcBef>
              <a:spcAft>
                <a:spcPts val="0"/>
              </a:spcAft>
              <a:buSzPts val="1300"/>
              <a:buChar char="○"/>
            </a:pPr>
            <a:r>
              <a:rPr lang="en" sz="1300"/>
              <a:t>Started researching components, especially camera</a:t>
            </a:r>
            <a:endParaRPr sz="1300"/>
          </a:p>
          <a:p>
            <a:pPr indent="-311150" lvl="0" marL="457200" rtl="0" algn="l">
              <a:spcBef>
                <a:spcPts val="0"/>
              </a:spcBef>
              <a:spcAft>
                <a:spcPts val="0"/>
              </a:spcAft>
              <a:buSzPts val="1300"/>
              <a:buChar char="●"/>
            </a:pPr>
            <a:r>
              <a:rPr lang="en" sz="1300"/>
              <a:t>EPS</a:t>
            </a:r>
            <a:endParaRPr sz="1300"/>
          </a:p>
          <a:p>
            <a:pPr indent="-311150" lvl="1" marL="914400" rtl="0" algn="l">
              <a:spcBef>
                <a:spcPts val="0"/>
              </a:spcBef>
              <a:spcAft>
                <a:spcPts val="0"/>
              </a:spcAft>
              <a:buSzPts val="1300"/>
              <a:buChar char="○"/>
            </a:pPr>
            <a:r>
              <a:rPr lang="en" sz="1300"/>
              <a:t>Looked into past teams and into </a:t>
            </a:r>
            <a:r>
              <a:rPr lang="en" sz="1300"/>
              <a:t>safety</a:t>
            </a:r>
            <a:r>
              <a:rPr lang="en" sz="1300"/>
              <a:t> req. And PCB design software</a:t>
            </a:r>
            <a:endParaRPr sz="1300"/>
          </a:p>
          <a:p>
            <a:pPr indent="-311150" lvl="0" marL="457200" rtl="0" algn="l">
              <a:spcBef>
                <a:spcPts val="0"/>
              </a:spcBef>
              <a:spcAft>
                <a:spcPts val="0"/>
              </a:spcAft>
              <a:buSzPts val="1300"/>
              <a:buChar char="●"/>
            </a:pPr>
            <a:r>
              <a:rPr lang="en" sz="1300"/>
              <a:t>F&amp;P</a:t>
            </a:r>
            <a:endParaRPr sz="1300"/>
          </a:p>
          <a:p>
            <a:pPr indent="-311150" lvl="1" marL="914400" rtl="0" algn="l">
              <a:spcBef>
                <a:spcPts val="0"/>
              </a:spcBef>
              <a:spcAft>
                <a:spcPts val="0"/>
              </a:spcAft>
              <a:buSzPts val="1300"/>
              <a:buChar char="○"/>
            </a:pPr>
            <a:r>
              <a:rPr lang="en" sz="1300"/>
              <a:t>Working on Servus project</a:t>
            </a:r>
            <a:endParaRPr sz="1300"/>
          </a:p>
          <a:p>
            <a:pPr indent="-311150" lvl="0" marL="457200" rtl="0" algn="l">
              <a:spcBef>
                <a:spcPts val="0"/>
              </a:spcBef>
              <a:spcAft>
                <a:spcPts val="0"/>
              </a:spcAft>
              <a:buSzPts val="1300"/>
              <a:buChar char="●"/>
            </a:pPr>
            <a:r>
              <a:rPr lang="en" sz="1300"/>
              <a:t>G&amp;C</a:t>
            </a:r>
            <a:endParaRPr sz="1300"/>
          </a:p>
          <a:p>
            <a:pPr indent="-311150" lvl="1" marL="914400" rtl="0" algn="l">
              <a:spcBef>
                <a:spcPts val="0"/>
              </a:spcBef>
              <a:spcAft>
                <a:spcPts val="0"/>
              </a:spcAft>
              <a:buSzPts val="1300"/>
              <a:buChar char="○"/>
            </a:pPr>
            <a:r>
              <a:rPr lang="en" sz="1300"/>
              <a:t>Researched materials for the robot</a:t>
            </a:r>
            <a:endParaRPr sz="1300"/>
          </a:p>
          <a:p>
            <a:pPr indent="0" lvl="0" marL="914400" rtl="0" algn="l">
              <a:spcBef>
                <a:spcPts val="1200"/>
              </a:spcBef>
              <a:spcAft>
                <a:spcPts val="0"/>
              </a:spcAft>
              <a:buNone/>
            </a:pPr>
            <a:r>
              <a:t/>
            </a:r>
            <a:endParaRPr sz="1300"/>
          </a:p>
          <a:p>
            <a:pPr indent="0" lvl="0" marL="0" rtl="0" algn="l">
              <a:spcBef>
                <a:spcPts val="1200"/>
              </a:spcBef>
              <a:spcAft>
                <a:spcPts val="1200"/>
              </a:spcAft>
              <a:buNone/>
            </a:pPr>
            <a:r>
              <a:t/>
            </a:r>
            <a:endParaRPr/>
          </a:p>
        </p:txBody>
      </p:sp>
      <p:sp>
        <p:nvSpPr>
          <p:cNvPr id="94" name="Google Shape;94;p18"/>
          <p:cNvSpPr txBox="1"/>
          <p:nvPr/>
        </p:nvSpPr>
        <p:spPr>
          <a:xfrm>
            <a:off x="171525" y="81425"/>
            <a:ext cx="2419500" cy="36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rgbClr val="FF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t>Leads meeting </a:t>
            </a:r>
            <a:r>
              <a:rPr lang="en" u="sng"/>
              <a:t>6/03/2025</a:t>
            </a:r>
            <a:r>
              <a:rPr lang="en"/>
              <a:t>                          Emily BWM</a:t>
            </a:r>
            <a:endParaRPr u="sng"/>
          </a:p>
        </p:txBody>
      </p:sp>
      <p:sp>
        <p:nvSpPr>
          <p:cNvPr id="100" name="Google Shape;100;p19"/>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chemeClr val="dk1"/>
                </a:solidFill>
                <a:latin typeface="Helvetica Neue"/>
                <a:ea typeface="Helvetica Neue"/>
                <a:cs typeface="Helvetica Neue"/>
                <a:sym typeface="Helvetica Neue"/>
              </a:rPr>
              <a:t>Present Agenda:</a:t>
            </a:r>
            <a:endParaRPr b="1"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Summer Deadlines </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Submission details</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Expectations </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chemeClr val="dk1"/>
                </a:solidFill>
                <a:latin typeface="Helvetica Neue"/>
                <a:ea typeface="Helvetica Neue"/>
                <a:cs typeface="Helvetica Neue"/>
                <a:sym typeface="Helvetica Neue"/>
              </a:rPr>
              <a:t>Future Agenda:</a:t>
            </a:r>
            <a:endParaRPr b="1"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Communicate news by next general meeting</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Communicate with OCEN faculty advisor regarding faculty mentor for MATE ROV</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1100">
              <a:solidFill>
                <a:schemeClr val="dk1"/>
              </a:solidFill>
              <a:latin typeface="Helvetica Neue"/>
              <a:ea typeface="Helvetica Neue"/>
              <a:cs typeface="Helvetica Neue"/>
              <a:sym typeface="Helvetica Neue"/>
            </a:endParaRPr>
          </a:p>
        </p:txBody>
      </p:sp>
      <p:sp>
        <p:nvSpPr>
          <p:cNvPr id="101" name="Google Shape;101;p19"/>
          <p:cNvSpPr txBox="1"/>
          <p:nvPr>
            <p:ph idx="2" type="body"/>
          </p:nvPr>
        </p:nvSpPr>
        <p:spPr>
          <a:xfrm>
            <a:off x="4680000" y="1152475"/>
            <a:ext cx="4485300" cy="3725700"/>
          </a:xfrm>
          <a:prstGeom prst="rect">
            <a:avLst/>
          </a:prstGeom>
        </p:spPr>
        <p:txBody>
          <a:bodyPr anchorCtr="0" anchor="t" bIns="91425" lIns="91425" spcFirstLastPara="1" rIns="91425" wrap="square" tIns="91425">
            <a:normAutofit fontScale="92500" lnSpcReduction="20000"/>
          </a:bodyPr>
          <a:lstStyle/>
          <a:p>
            <a:pPr indent="-304959" lvl="0" marL="457200" rtl="0" algn="l">
              <a:spcBef>
                <a:spcPts val="0"/>
              </a:spcBef>
              <a:spcAft>
                <a:spcPts val="0"/>
              </a:spcAft>
              <a:buSzPct val="100000"/>
              <a:buChar char="●"/>
            </a:pPr>
            <a:r>
              <a:rPr lang="en" sz="1300"/>
              <a:t>Monthly deliverables keeps people on task over long periods of time</a:t>
            </a:r>
            <a:endParaRPr sz="1300"/>
          </a:p>
          <a:p>
            <a:pPr indent="-304959" lvl="0" marL="457200" rtl="0" algn="l">
              <a:spcBef>
                <a:spcPts val="0"/>
              </a:spcBef>
              <a:spcAft>
                <a:spcPts val="0"/>
              </a:spcAft>
              <a:buSzPct val="100000"/>
              <a:buChar char="●"/>
            </a:pPr>
            <a:r>
              <a:rPr lang="en" sz="1300"/>
              <a:t>Deliverable progress of quantitative success criteria </a:t>
            </a:r>
            <a:endParaRPr sz="1300"/>
          </a:p>
          <a:p>
            <a:pPr indent="-304959" lvl="0" marL="457200" rtl="0" algn="l">
              <a:spcBef>
                <a:spcPts val="0"/>
              </a:spcBef>
              <a:spcAft>
                <a:spcPts val="0"/>
              </a:spcAft>
              <a:buSzPct val="100000"/>
              <a:buChar char="●"/>
            </a:pPr>
            <a:r>
              <a:rPr lang="en" sz="1300">
                <a:highlight>
                  <a:srgbClr val="FFFF00"/>
                </a:highlight>
              </a:rPr>
              <a:t>NEEDS </a:t>
            </a:r>
            <a:r>
              <a:rPr lang="en" sz="1300">
                <a:highlight>
                  <a:srgbClr val="FFFF00"/>
                </a:highlight>
              </a:rPr>
              <a:t>deliverable due </a:t>
            </a:r>
            <a:r>
              <a:rPr lang="en" sz="1300">
                <a:highlight>
                  <a:srgbClr val="FFFF00"/>
                </a:highlight>
              </a:rPr>
              <a:t>6/20/2025</a:t>
            </a:r>
            <a:endParaRPr sz="1300">
              <a:highlight>
                <a:srgbClr val="FFFF00"/>
              </a:highlight>
            </a:endParaRPr>
          </a:p>
          <a:p>
            <a:pPr indent="-304959" lvl="1" marL="914400" rtl="0" algn="l">
              <a:spcBef>
                <a:spcPts val="0"/>
              </a:spcBef>
              <a:spcAft>
                <a:spcPts val="0"/>
              </a:spcAft>
              <a:buSzPct val="100000"/>
              <a:buChar char="○"/>
            </a:pPr>
            <a:r>
              <a:rPr lang="en" sz="1300"/>
              <a:t>Progress check for needs </a:t>
            </a:r>
            <a:endParaRPr sz="1300"/>
          </a:p>
          <a:p>
            <a:pPr indent="-304959" lvl="1" marL="914400" rtl="0" algn="l">
              <a:spcBef>
                <a:spcPts val="0"/>
              </a:spcBef>
              <a:spcAft>
                <a:spcPts val="0"/>
              </a:spcAft>
              <a:buSzPct val="100000"/>
              <a:buChar char="○"/>
            </a:pPr>
            <a:r>
              <a:rPr lang="en" sz="1300"/>
              <a:t>SMART &amp; at least 10, well supported (w/ citations and rationale)</a:t>
            </a:r>
            <a:endParaRPr sz="1300"/>
          </a:p>
          <a:p>
            <a:pPr indent="-304959" lvl="0" marL="457200" rtl="0" algn="l">
              <a:spcBef>
                <a:spcPts val="0"/>
              </a:spcBef>
              <a:spcAft>
                <a:spcPts val="0"/>
              </a:spcAft>
              <a:buSzPct val="100000"/>
              <a:buChar char="●"/>
            </a:pPr>
            <a:r>
              <a:rPr lang="en" sz="1300">
                <a:highlight>
                  <a:srgbClr val="FFFF00"/>
                </a:highlight>
              </a:rPr>
              <a:t>REQUIREMENTS </a:t>
            </a:r>
            <a:r>
              <a:rPr lang="en" sz="1300">
                <a:highlight>
                  <a:srgbClr val="FFFF00"/>
                </a:highlight>
              </a:rPr>
              <a:t>deliverable due</a:t>
            </a:r>
            <a:r>
              <a:rPr lang="en" sz="1300">
                <a:highlight>
                  <a:srgbClr val="FFFF00"/>
                </a:highlight>
              </a:rPr>
              <a:t> 7/20/2025</a:t>
            </a:r>
            <a:endParaRPr sz="1300">
              <a:highlight>
                <a:srgbClr val="FFFF00"/>
              </a:highlight>
            </a:endParaRPr>
          </a:p>
          <a:p>
            <a:pPr indent="-304959" lvl="1" marL="914400" rtl="0" algn="l">
              <a:spcBef>
                <a:spcPts val="0"/>
              </a:spcBef>
              <a:spcAft>
                <a:spcPts val="0"/>
              </a:spcAft>
              <a:buSzPct val="100000"/>
              <a:buChar char="○"/>
            </a:pPr>
            <a:r>
              <a:rPr lang="en" sz="1300"/>
              <a:t>Progress check for requirements</a:t>
            </a:r>
            <a:endParaRPr sz="1300"/>
          </a:p>
          <a:p>
            <a:pPr indent="-304959" lvl="1" marL="914400" rtl="0" algn="l">
              <a:spcBef>
                <a:spcPts val="0"/>
              </a:spcBef>
              <a:spcAft>
                <a:spcPts val="0"/>
              </a:spcAft>
              <a:buSzPct val="100000"/>
              <a:buChar char="○"/>
            </a:pPr>
            <a:r>
              <a:rPr lang="en" sz="1300"/>
              <a:t>SMART, industry standard &amp; at least 10, </a:t>
            </a:r>
            <a:r>
              <a:rPr lang="en" sz="1300"/>
              <a:t>well supported (w/ citations and rationale)</a:t>
            </a:r>
            <a:endParaRPr sz="1300"/>
          </a:p>
          <a:p>
            <a:pPr indent="-304959" lvl="0" marL="457200" rtl="0" algn="l">
              <a:spcBef>
                <a:spcPts val="0"/>
              </a:spcBef>
              <a:spcAft>
                <a:spcPts val="0"/>
              </a:spcAft>
              <a:buSzPct val="100000"/>
              <a:buChar char="●"/>
            </a:pPr>
            <a:r>
              <a:rPr lang="en" sz="1300">
                <a:highlight>
                  <a:srgbClr val="FFFF00"/>
                </a:highlight>
              </a:rPr>
              <a:t>SOLUTIONS deliverable due 8/20/2025</a:t>
            </a:r>
            <a:endParaRPr sz="1300">
              <a:highlight>
                <a:srgbClr val="FFFF00"/>
              </a:highlight>
            </a:endParaRPr>
          </a:p>
          <a:p>
            <a:pPr indent="-304959" lvl="1" marL="914400" rtl="0" algn="l">
              <a:spcBef>
                <a:spcPts val="0"/>
              </a:spcBef>
              <a:spcAft>
                <a:spcPts val="0"/>
              </a:spcAft>
              <a:buSzPct val="100000"/>
              <a:buChar char="○"/>
            </a:pPr>
            <a:r>
              <a:rPr lang="en" sz="1300"/>
              <a:t>50 solutions per subteam</a:t>
            </a:r>
            <a:endParaRPr sz="1300"/>
          </a:p>
          <a:p>
            <a:pPr indent="-304959" lvl="1" marL="914400" rtl="0" algn="l">
              <a:spcBef>
                <a:spcPts val="0"/>
              </a:spcBef>
              <a:spcAft>
                <a:spcPts val="0"/>
              </a:spcAft>
              <a:buSzPct val="100000"/>
              <a:buChar char="○"/>
            </a:pPr>
            <a:r>
              <a:rPr lang="en" sz="1300"/>
              <a:t>Use the mission req. t</a:t>
            </a:r>
            <a:r>
              <a:rPr lang="en" sz="1300"/>
              <a:t>o write 50 one sentence solutions that could solve one or more of the subteam requirements</a:t>
            </a:r>
            <a:endParaRPr sz="1300"/>
          </a:p>
          <a:p>
            <a:pPr indent="-304959" lvl="1" marL="914400" rtl="0" algn="l">
              <a:spcBef>
                <a:spcPts val="0"/>
              </a:spcBef>
              <a:spcAft>
                <a:spcPts val="0"/>
              </a:spcAft>
              <a:buSzPct val="100000"/>
              <a:buChar char="○"/>
            </a:pPr>
            <a:r>
              <a:rPr lang="en" sz="1300"/>
              <a:t>Innovate! No ideas are bad ideas in this development stage!</a:t>
            </a:r>
            <a:endParaRPr sz="1300"/>
          </a:p>
          <a:p>
            <a:pPr indent="-304959" lvl="1" marL="914400" rtl="0" algn="l">
              <a:spcBef>
                <a:spcPts val="0"/>
              </a:spcBef>
              <a:spcAft>
                <a:spcPts val="0"/>
              </a:spcAft>
              <a:buSzPct val="100000"/>
              <a:buChar char="○"/>
            </a:pPr>
            <a:r>
              <a:rPr lang="en" sz="1300"/>
              <a:t>Include what requirement(s) the developed solution would achieve.</a:t>
            </a:r>
            <a:endParaRPr/>
          </a:p>
        </p:txBody>
      </p:sp>
      <p:sp>
        <p:nvSpPr>
          <p:cNvPr id="102" name="Google Shape;102;p19"/>
          <p:cNvSpPr txBox="1"/>
          <p:nvPr/>
        </p:nvSpPr>
        <p:spPr>
          <a:xfrm>
            <a:off x="171525" y="81425"/>
            <a:ext cx="2419500" cy="36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t>Team M</a:t>
            </a:r>
            <a:r>
              <a:rPr lang="en" u="sng"/>
              <a:t>eeting 6/09/2025</a:t>
            </a:r>
            <a:r>
              <a:rPr lang="en"/>
              <a:t>                          Arjun Sawhney</a:t>
            </a:r>
            <a:endParaRPr u="sng"/>
          </a:p>
        </p:txBody>
      </p:sp>
      <p:sp>
        <p:nvSpPr>
          <p:cNvPr id="108" name="Google Shape;108;p20"/>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chemeClr val="dk1"/>
                </a:solidFill>
                <a:latin typeface="Helvetica Neue"/>
                <a:ea typeface="Helvetica Neue"/>
                <a:cs typeface="Helvetica Neue"/>
                <a:sym typeface="Helvetica Neue"/>
              </a:rPr>
              <a:t>Present Agenda:</a:t>
            </a:r>
            <a:endParaRPr b="1"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Progress checks by having multiple deadlines to keep constant progress</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chemeClr val="dk1"/>
                </a:solidFill>
                <a:latin typeface="Helvetica Neue"/>
                <a:ea typeface="Helvetica Neue"/>
                <a:cs typeface="Helvetica Neue"/>
                <a:sym typeface="Helvetica Neue"/>
              </a:rPr>
              <a:t>Future Agenda:</a:t>
            </a:r>
            <a:endParaRPr b="1"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Fulfilling deadlines for each subteam</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Subteams deciding on teambuilding events</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t/>
            </a:r>
            <a:endParaRPr sz="1100">
              <a:solidFill>
                <a:schemeClr val="dk1"/>
              </a:solidFill>
              <a:latin typeface="Helvetica Neue"/>
              <a:ea typeface="Helvetica Neue"/>
              <a:cs typeface="Helvetica Neue"/>
              <a:sym typeface="Helvetica Neue"/>
            </a:endParaRPr>
          </a:p>
        </p:txBody>
      </p:sp>
      <p:sp>
        <p:nvSpPr>
          <p:cNvPr id="109" name="Google Shape;109;p20"/>
          <p:cNvSpPr txBox="1"/>
          <p:nvPr>
            <p:ph idx="2" type="body"/>
          </p:nvPr>
        </p:nvSpPr>
        <p:spPr>
          <a:xfrm>
            <a:off x="4680000" y="1152475"/>
            <a:ext cx="4485300" cy="37257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sz="1300"/>
              <a:t>Multiple deadlines being set up</a:t>
            </a:r>
            <a:endParaRPr sz="1300"/>
          </a:p>
          <a:p>
            <a:pPr indent="-311150" lvl="0" marL="457200" rtl="0" algn="l">
              <a:spcBef>
                <a:spcPts val="0"/>
              </a:spcBef>
              <a:spcAft>
                <a:spcPts val="0"/>
              </a:spcAft>
              <a:buSzPts val="1300"/>
              <a:buChar char="●"/>
            </a:pPr>
            <a:r>
              <a:rPr lang="en" sz="1300"/>
              <a:t>3 deliverables for the summer</a:t>
            </a:r>
            <a:endParaRPr sz="1300"/>
          </a:p>
          <a:p>
            <a:pPr indent="-311150" lvl="1" marL="914400" rtl="0" algn="l">
              <a:spcBef>
                <a:spcPts val="0"/>
              </a:spcBef>
              <a:spcAft>
                <a:spcPts val="0"/>
              </a:spcAft>
              <a:buSzPts val="1300"/>
              <a:buChar char="○"/>
            </a:pPr>
            <a:r>
              <a:rPr lang="en" sz="1300"/>
              <a:t>Needs, due June 20th</a:t>
            </a:r>
            <a:endParaRPr sz="1300"/>
          </a:p>
          <a:p>
            <a:pPr indent="-311150" lvl="1" marL="914400" rtl="0" algn="l">
              <a:spcBef>
                <a:spcPts val="0"/>
              </a:spcBef>
              <a:spcAft>
                <a:spcPts val="0"/>
              </a:spcAft>
              <a:buSzPts val="1300"/>
              <a:buChar char="○"/>
            </a:pPr>
            <a:r>
              <a:rPr lang="en" sz="1300"/>
              <a:t>Requirements, due July 20th</a:t>
            </a:r>
            <a:endParaRPr sz="1300"/>
          </a:p>
          <a:p>
            <a:pPr indent="-311150" lvl="1" marL="914400" rtl="0" algn="l">
              <a:spcBef>
                <a:spcPts val="0"/>
              </a:spcBef>
              <a:spcAft>
                <a:spcPts val="0"/>
              </a:spcAft>
              <a:buSzPts val="1300"/>
              <a:buChar char="○"/>
            </a:pPr>
            <a:r>
              <a:rPr lang="en" sz="1300"/>
              <a:t>Solutions, due August 20th</a:t>
            </a:r>
            <a:endParaRPr sz="1300"/>
          </a:p>
          <a:p>
            <a:pPr indent="-311150" lvl="0" marL="457200" rtl="0" algn="l">
              <a:spcBef>
                <a:spcPts val="0"/>
              </a:spcBef>
              <a:spcAft>
                <a:spcPts val="0"/>
              </a:spcAft>
              <a:buSzPts val="1300"/>
              <a:buChar char="●"/>
            </a:pPr>
            <a:r>
              <a:rPr lang="en" sz="1300"/>
              <a:t>Questions</a:t>
            </a:r>
            <a:endParaRPr sz="1300"/>
          </a:p>
          <a:p>
            <a:pPr indent="-311150" lvl="1" marL="914400" rtl="0" algn="l">
              <a:spcBef>
                <a:spcPts val="0"/>
              </a:spcBef>
              <a:spcAft>
                <a:spcPts val="0"/>
              </a:spcAft>
              <a:buSzPts val="1300"/>
              <a:buChar char="○"/>
            </a:pPr>
            <a:r>
              <a:rPr lang="en" sz="1300"/>
              <a:t>Citation</a:t>
            </a:r>
            <a:r>
              <a:rPr lang="en" sz="1300"/>
              <a:t> format, IEEE for now</a:t>
            </a:r>
            <a:endParaRPr sz="1300"/>
          </a:p>
          <a:p>
            <a:pPr indent="-311150" lvl="1" marL="914400" rtl="0" algn="l">
              <a:spcBef>
                <a:spcPts val="0"/>
              </a:spcBef>
              <a:spcAft>
                <a:spcPts val="0"/>
              </a:spcAft>
              <a:buSzPts val="1300"/>
              <a:buChar char="○"/>
            </a:pPr>
            <a:r>
              <a:rPr lang="en" sz="1300"/>
              <a:t>Submissions for subteams will be through Google Drive folders</a:t>
            </a:r>
            <a:endParaRPr sz="1300"/>
          </a:p>
          <a:p>
            <a:pPr indent="-311150" lvl="0" marL="457200" rtl="0" algn="l">
              <a:spcBef>
                <a:spcPts val="0"/>
              </a:spcBef>
              <a:spcAft>
                <a:spcPts val="0"/>
              </a:spcAft>
              <a:buSzPts val="1300"/>
              <a:buChar char="●"/>
            </a:pPr>
            <a:r>
              <a:rPr lang="en" sz="1300"/>
              <a:t>Subteams are to come up with “team-building”, for example TMS doing Valorant</a:t>
            </a:r>
            <a:endParaRPr sz="1300"/>
          </a:p>
        </p:txBody>
      </p:sp>
      <p:sp>
        <p:nvSpPr>
          <p:cNvPr id="110" name="Google Shape;110;p20"/>
          <p:cNvSpPr txBox="1"/>
          <p:nvPr/>
        </p:nvSpPr>
        <p:spPr>
          <a:xfrm>
            <a:off x="171525" y="81425"/>
            <a:ext cx="2419500" cy="36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rgbClr val="FF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t>Team lead Meeting 6/09/2025</a:t>
            </a:r>
            <a:r>
              <a:rPr lang="en"/>
              <a:t>                          Emily BWM</a:t>
            </a:r>
            <a:endParaRPr u="sng"/>
          </a:p>
        </p:txBody>
      </p:sp>
      <p:sp>
        <p:nvSpPr>
          <p:cNvPr id="116" name="Google Shape;116;p21"/>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chemeClr val="dk1"/>
                </a:solidFill>
                <a:latin typeface="Helvetica Neue"/>
                <a:ea typeface="Helvetica Neue"/>
                <a:cs typeface="Helvetica Neue"/>
                <a:sym typeface="Helvetica Neue"/>
              </a:rPr>
              <a:t>Present Agenda:</a:t>
            </a:r>
            <a:endParaRPr b="1"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Progress checks by having multiple deadlines to keep constant progress</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chemeClr val="dk1"/>
                </a:solidFill>
                <a:latin typeface="Helvetica Neue"/>
                <a:ea typeface="Helvetica Neue"/>
                <a:cs typeface="Helvetica Neue"/>
                <a:sym typeface="Helvetica Neue"/>
              </a:rPr>
              <a:t>Future Agenda:</a:t>
            </a:r>
            <a:endParaRPr b="1"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Fulfilling deadlines for each subteam</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Subteam leads going back to respective teams to decide on AutoCAD vs SolidWorks vs others to standardize software between electrical and mechanical disciplines</a:t>
            </a:r>
            <a:endParaRPr sz="1100">
              <a:solidFill>
                <a:schemeClr val="dk1"/>
              </a:solidFill>
              <a:latin typeface="Helvetica Neue"/>
              <a:ea typeface="Helvetica Neue"/>
              <a:cs typeface="Helvetica Neue"/>
              <a:sym typeface="Helvetica Neue"/>
            </a:endParaRPr>
          </a:p>
        </p:txBody>
      </p:sp>
      <p:sp>
        <p:nvSpPr>
          <p:cNvPr id="117" name="Google Shape;117;p21"/>
          <p:cNvSpPr txBox="1"/>
          <p:nvPr>
            <p:ph idx="2" type="body"/>
          </p:nvPr>
        </p:nvSpPr>
        <p:spPr>
          <a:xfrm>
            <a:off x="4680000" y="1152475"/>
            <a:ext cx="4485300" cy="3725700"/>
          </a:xfrm>
          <a:prstGeom prst="rect">
            <a:avLst/>
          </a:prstGeom>
        </p:spPr>
        <p:txBody>
          <a:bodyPr anchorCtr="0" anchor="t" bIns="91425" lIns="91425" spcFirstLastPara="1" rIns="91425" wrap="square" tIns="91425">
            <a:normAutofit fontScale="92500" lnSpcReduction="20000"/>
          </a:bodyPr>
          <a:lstStyle/>
          <a:p>
            <a:pPr indent="-304959" lvl="0" marL="457200" rtl="0" algn="l">
              <a:spcBef>
                <a:spcPts val="0"/>
              </a:spcBef>
              <a:spcAft>
                <a:spcPts val="0"/>
              </a:spcAft>
              <a:buSzPct val="100000"/>
              <a:buChar char="●"/>
            </a:pPr>
            <a:r>
              <a:rPr lang="en" sz="1300"/>
              <a:t>GNC lead might be divided into manager and technical leaders to make sure that no one is feeling </a:t>
            </a:r>
            <a:r>
              <a:rPr lang="en" sz="1300"/>
              <a:t>overwhelmed.</a:t>
            </a:r>
            <a:endParaRPr sz="1300"/>
          </a:p>
          <a:p>
            <a:pPr indent="-304959" lvl="0" marL="457200" rtl="0" algn="l">
              <a:spcBef>
                <a:spcPts val="0"/>
              </a:spcBef>
              <a:spcAft>
                <a:spcPts val="0"/>
              </a:spcAft>
              <a:buSzPct val="100000"/>
              <a:buChar char="●"/>
            </a:pPr>
            <a:r>
              <a:rPr lang="en" sz="1300"/>
              <a:t>F&amp;P had their first meeting yesterday where they got to see technical reports, and developed a deadline for getting ANSYS &amp; SolidWorks certificates. </a:t>
            </a:r>
            <a:endParaRPr sz="1300"/>
          </a:p>
          <a:p>
            <a:pPr indent="-304959" lvl="0" marL="457200" rtl="0" algn="l">
              <a:spcBef>
                <a:spcPts val="0"/>
              </a:spcBef>
              <a:spcAft>
                <a:spcPts val="0"/>
              </a:spcAft>
              <a:buSzPct val="100000"/>
              <a:buChar char="●"/>
            </a:pPr>
            <a:r>
              <a:rPr lang="en" sz="1300"/>
              <a:t>TMS looked at Pioneer vs Explorer expectations, looking towards building their quantitative success criteria </a:t>
            </a:r>
            <a:endParaRPr sz="1300"/>
          </a:p>
          <a:p>
            <a:pPr indent="-304959" lvl="0" marL="457200" rtl="0" algn="l">
              <a:spcBef>
                <a:spcPts val="0"/>
              </a:spcBef>
              <a:spcAft>
                <a:spcPts val="0"/>
              </a:spcAft>
              <a:buSzPct val="100000"/>
              <a:buChar char="●"/>
            </a:pPr>
            <a:r>
              <a:rPr lang="en" sz="1300"/>
              <a:t>C&amp;C pivoted to looking at past teams and develop a rationale. </a:t>
            </a:r>
            <a:endParaRPr sz="1300"/>
          </a:p>
          <a:p>
            <a:pPr indent="-304959" lvl="0" marL="457200" rtl="0" algn="l">
              <a:spcBef>
                <a:spcPts val="0"/>
              </a:spcBef>
              <a:spcAft>
                <a:spcPts val="0"/>
              </a:spcAft>
              <a:buSzPct val="100000"/>
              <a:buChar char="●"/>
            </a:pPr>
            <a:r>
              <a:rPr lang="en" sz="1300"/>
              <a:t>EPS is looking at past teams to find identify general requirements and needs. Requirements and needs won’t be as specific, it will be more general. Thinking of coming up with general and custom electrical (PCB) components. </a:t>
            </a:r>
            <a:endParaRPr sz="1300"/>
          </a:p>
          <a:p>
            <a:pPr indent="-304959" lvl="0" marL="457200" rtl="0" algn="l">
              <a:spcBef>
                <a:spcPts val="0"/>
              </a:spcBef>
              <a:spcAft>
                <a:spcPts val="0"/>
              </a:spcAft>
              <a:buSzPct val="100000"/>
              <a:buChar char="●"/>
            </a:pPr>
            <a:r>
              <a:rPr lang="en" sz="1300"/>
              <a:t>Wiring softwares? EPS and C&amp;C</a:t>
            </a:r>
            <a:endParaRPr sz="1300"/>
          </a:p>
          <a:p>
            <a:pPr indent="-304959" lvl="0" marL="457200" rtl="0" algn="l">
              <a:spcBef>
                <a:spcPts val="0"/>
              </a:spcBef>
              <a:spcAft>
                <a:spcPts val="0"/>
              </a:spcAft>
              <a:buSzPct val="100000"/>
              <a:buChar char="●"/>
            </a:pPr>
            <a:r>
              <a:rPr lang="en" sz="1300"/>
              <a:t>Set an standard software, making sure that our work is compatible for the future. </a:t>
            </a:r>
            <a:endParaRPr sz="1300"/>
          </a:p>
          <a:p>
            <a:pPr indent="-304959" lvl="0" marL="457200" rtl="0" algn="l">
              <a:spcBef>
                <a:spcPts val="0"/>
              </a:spcBef>
              <a:spcAft>
                <a:spcPts val="0"/>
              </a:spcAft>
              <a:buSzPct val="100000"/>
              <a:buChar char="●"/>
            </a:pPr>
            <a:r>
              <a:rPr lang="en" sz="1300"/>
              <a:t>Next week after general meeting will have a subteam meeting regarding standard softwares. </a:t>
            </a:r>
            <a:endParaRPr sz="1300"/>
          </a:p>
        </p:txBody>
      </p:sp>
      <p:sp>
        <p:nvSpPr>
          <p:cNvPr id="118" name="Google Shape;118;p21"/>
          <p:cNvSpPr txBox="1"/>
          <p:nvPr/>
        </p:nvSpPr>
        <p:spPr>
          <a:xfrm>
            <a:off x="171525" y="81425"/>
            <a:ext cx="2419500" cy="36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rgbClr val="FF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t>Team Meeting 6/16/2025</a:t>
            </a:r>
            <a:r>
              <a:rPr lang="en"/>
              <a:t>                          Arjun Sawhney</a:t>
            </a:r>
            <a:endParaRPr u="sng"/>
          </a:p>
        </p:txBody>
      </p:sp>
      <p:sp>
        <p:nvSpPr>
          <p:cNvPr id="124" name="Google Shape;124;p22"/>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chemeClr val="dk1"/>
                </a:solidFill>
                <a:latin typeface="Helvetica Neue"/>
                <a:ea typeface="Helvetica Neue"/>
                <a:cs typeface="Helvetica Neue"/>
                <a:sym typeface="Helvetica Neue"/>
              </a:rPr>
              <a:t>Present Agenda:</a:t>
            </a:r>
            <a:endParaRPr b="1"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Overview: NEEDS Deliverable due 6/20</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Deadline Reminder</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Explain where to submit the NEEDS</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Show an example of what we expect for this submission. (TMS)</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We will be strict in the future with citations</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chemeClr val="dk1"/>
                </a:solidFill>
                <a:latin typeface="Helvetica Neue"/>
                <a:ea typeface="Helvetica Neue"/>
                <a:cs typeface="Helvetica Neue"/>
                <a:sym typeface="Helvetica Neue"/>
              </a:rPr>
              <a:t>Future Agenda:</a:t>
            </a:r>
            <a:endParaRPr b="1"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Completing the Needs Deliverable by the 20th</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Asking questions when necessary to other subteams</a:t>
            </a:r>
            <a:endParaRPr sz="1100">
              <a:solidFill>
                <a:schemeClr val="dk1"/>
              </a:solidFill>
              <a:latin typeface="Helvetica Neue"/>
              <a:ea typeface="Helvetica Neue"/>
              <a:cs typeface="Helvetica Neue"/>
              <a:sym typeface="Helvetica Neue"/>
            </a:endParaRPr>
          </a:p>
        </p:txBody>
      </p:sp>
      <p:sp>
        <p:nvSpPr>
          <p:cNvPr id="125" name="Google Shape;125;p22"/>
          <p:cNvSpPr txBox="1"/>
          <p:nvPr>
            <p:ph idx="2" type="body"/>
          </p:nvPr>
        </p:nvSpPr>
        <p:spPr>
          <a:xfrm>
            <a:off x="4680000" y="1152475"/>
            <a:ext cx="4485300" cy="37257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sz="1300"/>
              <a:t>Needs deliverable is to be completed in the MATE ROV Mission Requirements spreadsheet, filling out the System Needs and Needs columns</a:t>
            </a:r>
            <a:endParaRPr sz="1300"/>
          </a:p>
          <a:p>
            <a:pPr indent="-311150" lvl="1" marL="914400" rtl="0" algn="l">
              <a:spcBef>
                <a:spcPts val="0"/>
              </a:spcBef>
              <a:spcAft>
                <a:spcPts val="0"/>
              </a:spcAft>
              <a:buSzPts val="1300"/>
              <a:buChar char="○"/>
            </a:pPr>
            <a:r>
              <a:rPr lang="en" sz="1300"/>
              <a:t>Following the “shall” format</a:t>
            </a:r>
            <a:endParaRPr sz="1300"/>
          </a:p>
          <a:p>
            <a:pPr indent="-311150" lvl="1" marL="914400" rtl="0" algn="l">
              <a:spcBef>
                <a:spcPts val="0"/>
              </a:spcBef>
              <a:spcAft>
                <a:spcPts val="0"/>
              </a:spcAft>
              <a:buSzPts val="1300"/>
              <a:buChar char="○"/>
            </a:pPr>
            <a:r>
              <a:rPr lang="en" sz="1300"/>
              <a:t>Ensure </a:t>
            </a:r>
            <a:r>
              <a:rPr lang="en" sz="1300"/>
              <a:t>compatibility</a:t>
            </a:r>
            <a:r>
              <a:rPr lang="en" sz="1300"/>
              <a:t> with other subteams, communicate when necessary</a:t>
            </a:r>
            <a:endParaRPr sz="1300"/>
          </a:p>
          <a:p>
            <a:pPr indent="-311150" lvl="1" marL="914400" rtl="0" algn="l">
              <a:spcBef>
                <a:spcPts val="0"/>
              </a:spcBef>
              <a:spcAft>
                <a:spcPts val="0"/>
              </a:spcAft>
              <a:buSzPts val="1300"/>
              <a:buChar char="○"/>
            </a:pPr>
            <a:r>
              <a:rPr lang="en" sz="1300"/>
              <a:t>Subteams with best needs deliverable gets free NASA swag</a:t>
            </a:r>
            <a:endParaRPr sz="1300"/>
          </a:p>
        </p:txBody>
      </p:sp>
      <p:sp>
        <p:nvSpPr>
          <p:cNvPr id="126" name="Google Shape;126;p22"/>
          <p:cNvSpPr txBox="1"/>
          <p:nvPr/>
        </p:nvSpPr>
        <p:spPr>
          <a:xfrm>
            <a:off x="171525" y="81425"/>
            <a:ext cx="2419500" cy="36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rgbClr val="FF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t>Team Lead Meeting 6/16/2025</a:t>
            </a:r>
            <a:r>
              <a:rPr lang="en"/>
              <a:t>              Arjun Sawhney</a:t>
            </a:r>
            <a:endParaRPr u="sng"/>
          </a:p>
        </p:txBody>
      </p:sp>
      <p:sp>
        <p:nvSpPr>
          <p:cNvPr id="132" name="Google Shape;132;p23"/>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chemeClr val="dk1"/>
                </a:solidFill>
                <a:latin typeface="Helvetica Neue"/>
                <a:ea typeface="Helvetica Neue"/>
                <a:cs typeface="Helvetica Neue"/>
                <a:sym typeface="Helvetica Neue"/>
              </a:rPr>
              <a:t>Present Agenda:</a:t>
            </a:r>
            <a:endParaRPr b="1"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Subteam communication and interactions between each other</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Software determination</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rPr b="1" lang="en" sz="1100">
                <a:solidFill>
                  <a:schemeClr val="dk1"/>
                </a:solidFill>
                <a:latin typeface="Helvetica Neue"/>
                <a:ea typeface="Helvetica Neue"/>
                <a:cs typeface="Helvetica Neue"/>
                <a:sym typeface="Helvetica Neue"/>
              </a:rPr>
              <a:t>Future Agenda:</a:t>
            </a:r>
            <a:endParaRPr b="1"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Completing Needs deliverable</a:t>
            </a:r>
            <a:endParaRPr sz="1100">
              <a:solidFill>
                <a:schemeClr val="dk1"/>
              </a:solidFill>
              <a:latin typeface="Helvetica Neue"/>
              <a:ea typeface="Helvetica Neue"/>
              <a:cs typeface="Helvetica Neue"/>
              <a:sym typeface="Helvetica Neue"/>
            </a:endParaRPr>
          </a:p>
        </p:txBody>
      </p:sp>
      <p:sp>
        <p:nvSpPr>
          <p:cNvPr id="133" name="Google Shape;133;p23"/>
          <p:cNvSpPr txBox="1"/>
          <p:nvPr>
            <p:ph idx="2" type="body"/>
          </p:nvPr>
        </p:nvSpPr>
        <p:spPr>
          <a:xfrm>
            <a:off x="4680000" y="1152475"/>
            <a:ext cx="4485300" cy="3917100"/>
          </a:xfrm>
          <a:prstGeom prst="rect">
            <a:avLst/>
          </a:prstGeom>
        </p:spPr>
        <p:txBody>
          <a:bodyPr anchorCtr="0" anchor="t" bIns="91425" lIns="91425" spcFirstLastPara="1" rIns="91425" wrap="square" tIns="91425">
            <a:normAutofit lnSpcReduction="10000"/>
          </a:bodyPr>
          <a:lstStyle/>
          <a:p>
            <a:pPr indent="-311150" lvl="0" marL="457200" rtl="0" algn="l">
              <a:spcBef>
                <a:spcPts val="0"/>
              </a:spcBef>
              <a:spcAft>
                <a:spcPts val="0"/>
              </a:spcAft>
              <a:buSzPts val="1300"/>
              <a:buChar char="●"/>
            </a:pPr>
            <a:r>
              <a:rPr lang="en" sz="1300"/>
              <a:t>GNC and C&amp;C setting line between subteams to evaluate responsibilities</a:t>
            </a:r>
            <a:endParaRPr sz="1300"/>
          </a:p>
          <a:p>
            <a:pPr indent="-311150" lvl="1" marL="914400" rtl="0" algn="l">
              <a:spcBef>
                <a:spcPts val="0"/>
              </a:spcBef>
              <a:spcAft>
                <a:spcPts val="0"/>
              </a:spcAft>
              <a:buSzPts val="1300"/>
              <a:buChar char="○"/>
            </a:pPr>
            <a:r>
              <a:rPr lang="en" sz="1300"/>
              <a:t>GNC using the data from C&amp;C and interpreting to create motion and guidance, utilizes the data and assumes clean data</a:t>
            </a:r>
            <a:endParaRPr sz="1300"/>
          </a:p>
          <a:p>
            <a:pPr indent="-311150" lvl="0" marL="457200" rtl="0" algn="l">
              <a:spcBef>
                <a:spcPts val="0"/>
              </a:spcBef>
              <a:spcAft>
                <a:spcPts val="0"/>
              </a:spcAft>
              <a:buSzPts val="1300"/>
              <a:buChar char="●"/>
            </a:pPr>
            <a:r>
              <a:rPr lang="en" sz="1300"/>
              <a:t>F&amp;P and TMS relationship, regarding thruster position and whose responsibility it is</a:t>
            </a:r>
            <a:endParaRPr sz="1300"/>
          </a:p>
          <a:p>
            <a:pPr indent="-311150" lvl="0" marL="457200" rtl="0" algn="l">
              <a:spcBef>
                <a:spcPts val="0"/>
              </a:spcBef>
              <a:spcAft>
                <a:spcPts val="0"/>
              </a:spcAft>
              <a:buSzPts val="1300"/>
              <a:buChar char="●"/>
            </a:pPr>
            <a:r>
              <a:rPr lang="en" sz="1300"/>
              <a:t>TMS and GNC communication, motor control and the interaction for information on movement</a:t>
            </a:r>
            <a:endParaRPr sz="1300"/>
          </a:p>
          <a:p>
            <a:pPr indent="-311150" lvl="0" marL="457200" rtl="0" algn="l">
              <a:spcBef>
                <a:spcPts val="0"/>
              </a:spcBef>
              <a:spcAft>
                <a:spcPts val="0"/>
              </a:spcAft>
              <a:buSzPts val="1300"/>
              <a:buChar char="●"/>
            </a:pPr>
            <a:r>
              <a:rPr lang="en" sz="1300"/>
              <a:t>EPS communication with all subteams to calculate power budget for everyone</a:t>
            </a:r>
            <a:endParaRPr sz="1300"/>
          </a:p>
          <a:p>
            <a:pPr indent="0" lvl="0" marL="457200" rtl="0" algn="l">
              <a:spcBef>
                <a:spcPts val="1200"/>
              </a:spcBef>
              <a:spcAft>
                <a:spcPts val="0"/>
              </a:spcAft>
              <a:buNone/>
            </a:pPr>
            <a:r>
              <a:t/>
            </a:r>
            <a:endParaRPr sz="1300"/>
          </a:p>
          <a:p>
            <a:pPr indent="-311150" lvl="0" marL="457200" rtl="0" algn="l">
              <a:spcBef>
                <a:spcPts val="1200"/>
              </a:spcBef>
              <a:spcAft>
                <a:spcPts val="0"/>
              </a:spcAft>
              <a:buSzPts val="1300"/>
              <a:buChar char="●"/>
            </a:pPr>
            <a:r>
              <a:rPr lang="en" sz="1300"/>
              <a:t>EPS using Kicad for PCB design</a:t>
            </a:r>
            <a:endParaRPr sz="1300"/>
          </a:p>
          <a:p>
            <a:pPr indent="-311150" lvl="0" marL="457200" rtl="0" algn="l">
              <a:spcBef>
                <a:spcPts val="0"/>
              </a:spcBef>
              <a:spcAft>
                <a:spcPts val="0"/>
              </a:spcAft>
              <a:buSzPts val="1300"/>
              <a:buChar char="●"/>
            </a:pPr>
            <a:r>
              <a:rPr b="1" lang="en" sz="1300"/>
              <a:t>Solidworks</a:t>
            </a:r>
            <a:r>
              <a:rPr lang="en" sz="1300"/>
              <a:t> decided on for CAD, also compatible w/ Kicad</a:t>
            </a:r>
            <a:endParaRPr sz="1300"/>
          </a:p>
          <a:p>
            <a:pPr indent="-311150" lvl="0" marL="457200" rtl="0" algn="l">
              <a:spcBef>
                <a:spcPts val="0"/>
              </a:spcBef>
              <a:spcAft>
                <a:spcPts val="0"/>
              </a:spcAft>
              <a:buSzPts val="1300"/>
              <a:buChar char="●"/>
            </a:pPr>
            <a:r>
              <a:rPr lang="en" sz="1300"/>
              <a:t>Ansys decided for fluids simulation</a:t>
            </a:r>
            <a:endParaRPr sz="1300"/>
          </a:p>
        </p:txBody>
      </p:sp>
      <p:sp>
        <p:nvSpPr>
          <p:cNvPr id="134" name="Google Shape;134;p23"/>
          <p:cNvSpPr txBox="1"/>
          <p:nvPr/>
        </p:nvSpPr>
        <p:spPr>
          <a:xfrm>
            <a:off x="171525" y="81425"/>
            <a:ext cx="2419500" cy="36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rgbClr val="FF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t>Team Meeting 6/23</a:t>
            </a:r>
            <a:r>
              <a:rPr lang="en"/>
              <a:t>                               Emily BWM</a:t>
            </a:r>
            <a:endParaRPr u="sng"/>
          </a:p>
        </p:txBody>
      </p:sp>
      <p:sp>
        <p:nvSpPr>
          <p:cNvPr id="140" name="Google Shape;140;p24"/>
          <p:cNvSpPr txBox="1"/>
          <p:nvPr>
            <p:ph idx="1" type="body"/>
          </p:nvPr>
        </p:nvSpPr>
        <p:spPr>
          <a:xfrm>
            <a:off x="311700" y="1152475"/>
            <a:ext cx="2222700" cy="1106100"/>
          </a:xfrm>
          <a:prstGeom prst="rect">
            <a:avLst/>
          </a:prstGeom>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None/>
            </a:pPr>
            <a:r>
              <a:rPr b="1" lang="en" sz="1100">
                <a:solidFill>
                  <a:schemeClr val="dk1"/>
                </a:solidFill>
                <a:latin typeface="Helvetica Neue"/>
                <a:ea typeface="Helvetica Neue"/>
                <a:cs typeface="Helvetica Neue"/>
                <a:sym typeface="Helvetica Neue"/>
              </a:rPr>
              <a:t>Present Agenda:</a:t>
            </a:r>
            <a:endParaRPr b="1"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Requirements details</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Citation format: IEEE</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Budget for ROV: Less than 7.5K</a:t>
            </a:r>
            <a:endParaRPr sz="1100">
              <a:solidFill>
                <a:schemeClr val="dk1"/>
              </a:solidFill>
              <a:latin typeface="Helvetica Neue"/>
              <a:ea typeface="Helvetica Neue"/>
              <a:cs typeface="Helvetica Neue"/>
              <a:sym typeface="Helvetica Neue"/>
            </a:endParaRPr>
          </a:p>
        </p:txBody>
      </p:sp>
      <p:sp>
        <p:nvSpPr>
          <p:cNvPr id="141" name="Google Shape;141;p24"/>
          <p:cNvSpPr txBox="1"/>
          <p:nvPr>
            <p:ph idx="2" type="body"/>
          </p:nvPr>
        </p:nvSpPr>
        <p:spPr>
          <a:xfrm>
            <a:off x="2534400" y="1249375"/>
            <a:ext cx="8706600" cy="3416400"/>
          </a:xfrm>
          <a:prstGeom prst="rect">
            <a:avLst/>
          </a:prstGeom>
        </p:spPr>
        <p:txBody>
          <a:bodyPr anchorCtr="0" anchor="t" bIns="91425" lIns="91425" spcFirstLastPara="1" rIns="91425" wrap="square" tIns="91425">
            <a:noAutofit/>
          </a:bodyPr>
          <a:lstStyle/>
          <a:p>
            <a:pPr indent="-286544" lvl="0" marL="457200" rtl="0" algn="l">
              <a:lnSpc>
                <a:spcPct val="95000"/>
              </a:lnSpc>
              <a:spcBef>
                <a:spcPts val="0"/>
              </a:spcBef>
              <a:spcAft>
                <a:spcPts val="0"/>
              </a:spcAft>
              <a:buSzPts val="913"/>
              <a:buChar char="●"/>
            </a:pPr>
            <a:r>
              <a:rPr lang="en" sz="913"/>
              <a:t>Requirements derivable is due on</a:t>
            </a:r>
            <a:r>
              <a:rPr b="1" lang="en" sz="913"/>
              <a:t> July 20th</a:t>
            </a:r>
            <a:r>
              <a:rPr lang="en" sz="913"/>
              <a:t> </a:t>
            </a:r>
            <a:endParaRPr sz="913"/>
          </a:p>
          <a:p>
            <a:pPr indent="-286544" lvl="0" marL="457200" rtl="0" algn="l">
              <a:lnSpc>
                <a:spcPct val="95000"/>
              </a:lnSpc>
              <a:spcBef>
                <a:spcPts val="0"/>
              </a:spcBef>
              <a:spcAft>
                <a:spcPts val="0"/>
              </a:spcAft>
              <a:buSzPts val="913"/>
              <a:buChar char="●"/>
            </a:pPr>
            <a:r>
              <a:rPr lang="en" sz="913"/>
              <a:t>Requirements need to be </a:t>
            </a:r>
            <a:r>
              <a:rPr b="1" lang="en" sz="913"/>
              <a:t>specific, measurable, realistic</a:t>
            </a:r>
            <a:endParaRPr b="1" sz="913"/>
          </a:p>
          <a:p>
            <a:pPr indent="-286544" lvl="0" marL="457200" rtl="0" algn="l">
              <a:lnSpc>
                <a:spcPct val="95000"/>
              </a:lnSpc>
              <a:spcBef>
                <a:spcPts val="0"/>
              </a:spcBef>
              <a:spcAft>
                <a:spcPts val="0"/>
              </a:spcAft>
              <a:buSzPts val="913"/>
              <a:buChar char="●"/>
            </a:pPr>
            <a:r>
              <a:rPr lang="en" sz="913"/>
              <a:t>Finding numbers might be a struggle, so if you do not have a number, highlight it to approach it as soon as you can. </a:t>
            </a:r>
            <a:endParaRPr sz="913"/>
          </a:p>
          <a:p>
            <a:pPr indent="-286544" lvl="0" marL="457200" rtl="0" algn="l">
              <a:lnSpc>
                <a:spcPct val="95000"/>
              </a:lnSpc>
              <a:spcBef>
                <a:spcPts val="0"/>
              </a:spcBef>
              <a:spcAft>
                <a:spcPts val="0"/>
              </a:spcAft>
              <a:buSzPts val="913"/>
              <a:buChar char="●"/>
            </a:pPr>
            <a:r>
              <a:rPr lang="en" sz="913"/>
              <a:t>TMS is getting certified SolidWorks,starting on requirements</a:t>
            </a:r>
            <a:endParaRPr sz="913"/>
          </a:p>
          <a:p>
            <a:pPr indent="-286544" lvl="0" marL="457200" rtl="0" algn="l">
              <a:lnSpc>
                <a:spcPct val="95000"/>
              </a:lnSpc>
              <a:spcBef>
                <a:spcPts val="0"/>
              </a:spcBef>
              <a:spcAft>
                <a:spcPts val="0"/>
              </a:spcAft>
              <a:buSzPts val="913"/>
              <a:buChar char="●"/>
            </a:pPr>
            <a:r>
              <a:rPr lang="en" sz="913"/>
              <a:t>EPS looking into requirements, communicate with teams to get numbers for requirements. Still looking at past teams</a:t>
            </a:r>
            <a:endParaRPr sz="913"/>
          </a:p>
          <a:p>
            <a:pPr indent="-286544" lvl="0" marL="457200" rtl="0" algn="l">
              <a:lnSpc>
                <a:spcPct val="95000"/>
              </a:lnSpc>
              <a:spcBef>
                <a:spcPts val="0"/>
              </a:spcBef>
              <a:spcAft>
                <a:spcPts val="0"/>
              </a:spcAft>
              <a:buSzPts val="913"/>
              <a:buChar char="●"/>
            </a:pPr>
            <a:r>
              <a:rPr lang="en" sz="913"/>
              <a:t>C&amp;C Introduced requirements, roles as a subteam</a:t>
            </a:r>
            <a:endParaRPr sz="913"/>
          </a:p>
          <a:p>
            <a:pPr indent="-286544" lvl="0" marL="457200" rtl="0" algn="l">
              <a:lnSpc>
                <a:spcPct val="95000"/>
              </a:lnSpc>
              <a:spcBef>
                <a:spcPts val="0"/>
              </a:spcBef>
              <a:spcAft>
                <a:spcPts val="0"/>
              </a:spcAft>
              <a:buSzPts val="913"/>
              <a:buChar char="●"/>
            </a:pPr>
            <a:r>
              <a:rPr lang="en" sz="913"/>
              <a:t>TMS certified at SolidWorks, starting with ANSYS and </a:t>
            </a:r>
            <a:r>
              <a:rPr lang="en" sz="913"/>
              <a:t>fluids</a:t>
            </a:r>
            <a:r>
              <a:rPr lang="en" sz="913"/>
              <a:t>. Will start tomorrow with requirements. </a:t>
            </a:r>
            <a:endParaRPr sz="913"/>
          </a:p>
          <a:p>
            <a:pPr indent="-286544" lvl="0" marL="457200" rtl="0" algn="l">
              <a:lnSpc>
                <a:spcPct val="95000"/>
              </a:lnSpc>
              <a:spcBef>
                <a:spcPts val="0"/>
              </a:spcBef>
              <a:spcAft>
                <a:spcPts val="0"/>
              </a:spcAft>
              <a:buSzPts val="913"/>
              <a:buChar char="●"/>
            </a:pPr>
            <a:r>
              <a:rPr lang="en" sz="913"/>
              <a:t>GNC doing general research and looking for requirements</a:t>
            </a:r>
            <a:endParaRPr sz="913"/>
          </a:p>
          <a:p>
            <a:pPr indent="-286544" lvl="0" marL="457200" rtl="0" algn="l">
              <a:lnSpc>
                <a:spcPct val="95000"/>
              </a:lnSpc>
              <a:spcBef>
                <a:spcPts val="0"/>
              </a:spcBef>
              <a:spcAft>
                <a:spcPts val="0"/>
              </a:spcAft>
              <a:buSzPts val="913"/>
              <a:buChar char="●"/>
            </a:pPr>
            <a:r>
              <a:rPr lang="en" sz="913"/>
              <a:t>NASA RASCAL experience: </a:t>
            </a:r>
            <a:endParaRPr sz="913"/>
          </a:p>
          <a:p>
            <a:pPr indent="-286544" lvl="1" marL="914400" rtl="0" algn="l">
              <a:lnSpc>
                <a:spcPct val="95000"/>
              </a:lnSpc>
              <a:spcBef>
                <a:spcPts val="0"/>
              </a:spcBef>
              <a:spcAft>
                <a:spcPts val="0"/>
              </a:spcAft>
              <a:buSzPts val="913"/>
              <a:buChar char="○"/>
            </a:pPr>
            <a:r>
              <a:rPr lang="en" sz="913"/>
              <a:t>3 BOM</a:t>
            </a:r>
            <a:endParaRPr sz="913"/>
          </a:p>
          <a:p>
            <a:pPr indent="-286544" lvl="1" marL="914400" rtl="0" algn="l">
              <a:lnSpc>
                <a:spcPct val="95000"/>
              </a:lnSpc>
              <a:spcBef>
                <a:spcPts val="0"/>
              </a:spcBef>
              <a:spcAft>
                <a:spcPts val="0"/>
              </a:spcAft>
              <a:buSzPts val="913"/>
              <a:buChar char="○"/>
            </a:pPr>
            <a:r>
              <a:rPr lang="en" sz="913"/>
              <a:t>Track all your finances</a:t>
            </a:r>
            <a:endParaRPr sz="913"/>
          </a:p>
          <a:p>
            <a:pPr indent="-286544" lvl="1" marL="914400" rtl="0" algn="l">
              <a:lnSpc>
                <a:spcPct val="95000"/>
              </a:lnSpc>
              <a:spcBef>
                <a:spcPts val="0"/>
              </a:spcBef>
              <a:spcAft>
                <a:spcPts val="0"/>
              </a:spcAft>
              <a:buSzPts val="913"/>
              <a:buChar char="○"/>
            </a:pPr>
            <a:r>
              <a:rPr lang="en" sz="913"/>
              <a:t>Find cheapest ways to get things done</a:t>
            </a:r>
            <a:endParaRPr sz="913"/>
          </a:p>
          <a:p>
            <a:pPr indent="-286544" lvl="1" marL="914400" rtl="0" algn="l">
              <a:lnSpc>
                <a:spcPct val="95000"/>
              </a:lnSpc>
              <a:spcBef>
                <a:spcPts val="0"/>
              </a:spcBef>
              <a:spcAft>
                <a:spcPts val="0"/>
              </a:spcAft>
              <a:buSzPts val="913"/>
              <a:buChar char="○"/>
            </a:pPr>
            <a:r>
              <a:rPr lang="en" sz="913"/>
              <a:t>Solidify</a:t>
            </a:r>
            <a:r>
              <a:rPr lang="en" sz="913"/>
              <a:t> how you will be integrating all your systems.</a:t>
            </a:r>
            <a:endParaRPr sz="913"/>
          </a:p>
          <a:p>
            <a:pPr indent="-286544" lvl="0" marL="457200" rtl="0" algn="l">
              <a:lnSpc>
                <a:spcPct val="95000"/>
              </a:lnSpc>
              <a:spcBef>
                <a:spcPts val="0"/>
              </a:spcBef>
              <a:spcAft>
                <a:spcPts val="0"/>
              </a:spcAft>
              <a:buSzPts val="913"/>
              <a:buChar char="●"/>
            </a:pPr>
            <a:r>
              <a:rPr lang="en" sz="913"/>
              <a:t>Leave specific specs to the end. </a:t>
            </a:r>
            <a:r>
              <a:rPr b="1" lang="en" sz="913"/>
              <a:t>Buy the bigger pieces first.</a:t>
            </a:r>
            <a:endParaRPr b="1" sz="913"/>
          </a:p>
          <a:p>
            <a:pPr indent="-286544" lvl="0" marL="457200" rtl="0" algn="l">
              <a:lnSpc>
                <a:spcPct val="95000"/>
              </a:lnSpc>
              <a:spcBef>
                <a:spcPts val="0"/>
              </a:spcBef>
              <a:spcAft>
                <a:spcPts val="0"/>
              </a:spcAft>
              <a:buSzPts val="913"/>
              <a:buChar char="●"/>
            </a:pPr>
            <a:r>
              <a:rPr lang="en" sz="913"/>
              <a:t>Thinking about the 50 solutions activity -&gt; Good way of reflecting on the impact of costs on decisions. </a:t>
            </a:r>
            <a:endParaRPr sz="913"/>
          </a:p>
          <a:p>
            <a:pPr indent="-286544" lvl="0" marL="457200" rtl="0" algn="l">
              <a:lnSpc>
                <a:spcPct val="95000"/>
              </a:lnSpc>
              <a:spcBef>
                <a:spcPts val="0"/>
              </a:spcBef>
              <a:spcAft>
                <a:spcPts val="0"/>
              </a:spcAft>
              <a:buSzPts val="913"/>
              <a:buChar char="●"/>
            </a:pPr>
            <a:r>
              <a:rPr lang="en" sz="913"/>
              <a:t>Get a blueprint before you start buying.</a:t>
            </a:r>
            <a:endParaRPr sz="913"/>
          </a:p>
          <a:p>
            <a:pPr indent="-286544" lvl="0" marL="457200" rtl="0" algn="l">
              <a:lnSpc>
                <a:spcPct val="95000"/>
              </a:lnSpc>
              <a:spcBef>
                <a:spcPts val="0"/>
              </a:spcBef>
              <a:spcAft>
                <a:spcPts val="0"/>
              </a:spcAft>
              <a:buSzPts val="913"/>
              <a:buChar char="●"/>
            </a:pPr>
            <a:r>
              <a:rPr b="1" lang="en" sz="913"/>
              <a:t>Keep track of all the </a:t>
            </a:r>
            <a:r>
              <a:rPr b="1" lang="en" sz="913"/>
              <a:t>expenses</a:t>
            </a:r>
            <a:r>
              <a:rPr lang="en" sz="913"/>
              <a:t> -&gt; Money will flow through reimbursement. </a:t>
            </a:r>
            <a:endParaRPr sz="913"/>
          </a:p>
          <a:p>
            <a:pPr indent="-286544" lvl="0" marL="457200" rtl="0" algn="l">
              <a:lnSpc>
                <a:spcPct val="95000"/>
              </a:lnSpc>
              <a:spcBef>
                <a:spcPts val="0"/>
              </a:spcBef>
              <a:spcAft>
                <a:spcPts val="0"/>
              </a:spcAft>
              <a:buSzPts val="913"/>
              <a:buChar char="●"/>
            </a:pPr>
            <a:r>
              <a:rPr lang="en" sz="913"/>
              <a:t>Average spending of teams for pioneers was 8K </a:t>
            </a:r>
            <a:endParaRPr sz="913"/>
          </a:p>
          <a:p>
            <a:pPr indent="-286544" lvl="0" marL="457200" rtl="0" algn="l">
              <a:lnSpc>
                <a:spcPct val="95000"/>
              </a:lnSpc>
              <a:spcBef>
                <a:spcPts val="0"/>
              </a:spcBef>
              <a:spcAft>
                <a:spcPts val="0"/>
              </a:spcAft>
              <a:buSzPts val="913"/>
              <a:buChar char="●"/>
            </a:pPr>
            <a:r>
              <a:rPr lang="en" sz="913"/>
              <a:t>Rapid Prototyping:</a:t>
            </a:r>
            <a:endParaRPr sz="913"/>
          </a:p>
          <a:p>
            <a:pPr indent="-286544" lvl="1" marL="914400" rtl="0" algn="l">
              <a:lnSpc>
                <a:spcPct val="95000"/>
              </a:lnSpc>
              <a:spcBef>
                <a:spcPts val="0"/>
              </a:spcBef>
              <a:spcAft>
                <a:spcPts val="0"/>
              </a:spcAft>
              <a:buSzPts val="913"/>
              <a:buChar char="○"/>
            </a:pPr>
            <a:r>
              <a:rPr lang="en" sz="913"/>
              <a:t>First prototype could be in 3D print to make sure all parts are compatible </a:t>
            </a:r>
            <a:endParaRPr sz="913"/>
          </a:p>
          <a:p>
            <a:pPr indent="-286544" lvl="1" marL="914400" rtl="0" algn="l">
              <a:lnSpc>
                <a:spcPct val="95000"/>
              </a:lnSpc>
              <a:spcBef>
                <a:spcPts val="0"/>
              </a:spcBef>
              <a:spcAft>
                <a:spcPts val="0"/>
              </a:spcAft>
              <a:buSzPts val="913"/>
              <a:buChar char="○"/>
            </a:pPr>
            <a:r>
              <a:rPr lang="en" sz="913"/>
              <a:t>The more you can digitally create things, the more money you will save </a:t>
            </a:r>
            <a:endParaRPr sz="913"/>
          </a:p>
          <a:p>
            <a:pPr indent="-286544" lvl="0" marL="457200" rtl="0" algn="l">
              <a:lnSpc>
                <a:spcPct val="95000"/>
              </a:lnSpc>
              <a:spcBef>
                <a:spcPts val="0"/>
              </a:spcBef>
              <a:spcAft>
                <a:spcPts val="0"/>
              </a:spcAft>
              <a:buSzPts val="913"/>
              <a:buChar char="●"/>
            </a:pPr>
            <a:r>
              <a:rPr lang="en" sz="913"/>
              <a:t>Requirements must be cited in IEEE format: </a:t>
            </a:r>
            <a:r>
              <a:rPr lang="en" sz="913" u="sng">
                <a:solidFill>
                  <a:schemeClr val="hlink"/>
                </a:solidFill>
                <a:hlinkClick r:id="rId3"/>
              </a:rPr>
              <a:t>https://www.mybib.com/tools/ieee-citation-generator</a:t>
            </a:r>
            <a:r>
              <a:rPr lang="en" sz="913"/>
              <a:t> </a:t>
            </a:r>
            <a:endParaRPr sz="913"/>
          </a:p>
          <a:p>
            <a:pPr indent="-286544" lvl="0" marL="457200" rtl="0" algn="l">
              <a:lnSpc>
                <a:spcPct val="95000"/>
              </a:lnSpc>
              <a:spcBef>
                <a:spcPts val="0"/>
              </a:spcBef>
              <a:spcAft>
                <a:spcPts val="0"/>
              </a:spcAft>
              <a:buSzPts val="913"/>
              <a:buChar char="●"/>
            </a:pPr>
            <a:r>
              <a:rPr lang="en" sz="913"/>
              <a:t>Formatting NEEDS and REQUIREMENTS:</a:t>
            </a:r>
            <a:endParaRPr sz="913"/>
          </a:p>
          <a:p>
            <a:pPr indent="-286544" lvl="1" marL="914400" rtl="0" algn="l">
              <a:lnSpc>
                <a:spcPct val="95000"/>
              </a:lnSpc>
              <a:spcBef>
                <a:spcPts val="0"/>
              </a:spcBef>
              <a:spcAft>
                <a:spcPts val="0"/>
              </a:spcAft>
              <a:buSzPts val="913"/>
              <a:buChar char="○"/>
            </a:pPr>
            <a:r>
              <a:rPr lang="en" sz="913"/>
              <a:t>Requirement identification: Each subteam should have their own number </a:t>
            </a:r>
            <a:endParaRPr sz="913"/>
          </a:p>
          <a:p>
            <a:pPr indent="-286544" lvl="0" marL="457200" rtl="0" algn="l">
              <a:lnSpc>
                <a:spcPct val="95000"/>
              </a:lnSpc>
              <a:spcBef>
                <a:spcPts val="0"/>
              </a:spcBef>
              <a:spcAft>
                <a:spcPts val="0"/>
              </a:spcAft>
              <a:buSzPts val="913"/>
              <a:buChar char="●"/>
            </a:pPr>
            <a:r>
              <a:rPr lang="en" sz="913"/>
              <a:t>Make sure to have cost margins for everything that you do</a:t>
            </a:r>
            <a:endParaRPr sz="913"/>
          </a:p>
          <a:p>
            <a:pPr indent="-286544" lvl="0" marL="457200" rtl="0" algn="l">
              <a:lnSpc>
                <a:spcPct val="95000"/>
              </a:lnSpc>
              <a:spcBef>
                <a:spcPts val="0"/>
              </a:spcBef>
              <a:spcAft>
                <a:spcPts val="0"/>
              </a:spcAft>
              <a:buSzPts val="913"/>
              <a:buChar char="●"/>
            </a:pPr>
            <a:r>
              <a:rPr lang="en" sz="913"/>
              <a:t>Do analogous BOM, go down subsystem level to figure out how much money subteams will spend</a:t>
            </a:r>
            <a:endParaRPr sz="913"/>
          </a:p>
          <a:p>
            <a:pPr indent="-286544" lvl="1" marL="914400" rtl="0" algn="l">
              <a:lnSpc>
                <a:spcPct val="95000"/>
              </a:lnSpc>
              <a:spcBef>
                <a:spcPts val="0"/>
              </a:spcBef>
              <a:spcAft>
                <a:spcPts val="0"/>
              </a:spcAft>
              <a:buSzPts val="913"/>
              <a:buChar char="○"/>
            </a:pPr>
            <a:r>
              <a:rPr lang="en" sz="913"/>
              <a:t>Figure out costs for each subsystem</a:t>
            </a:r>
            <a:endParaRPr sz="913"/>
          </a:p>
          <a:p>
            <a:pPr indent="-286544" lvl="1" marL="914400" rtl="0" algn="l">
              <a:lnSpc>
                <a:spcPct val="95000"/>
              </a:lnSpc>
              <a:spcBef>
                <a:spcPts val="0"/>
              </a:spcBef>
              <a:spcAft>
                <a:spcPts val="0"/>
              </a:spcAft>
              <a:buSzPts val="913"/>
              <a:buChar char="○"/>
            </a:pPr>
            <a:r>
              <a:rPr lang="en" sz="913"/>
              <a:t>Buff each subsystem cost, then add the costs</a:t>
            </a:r>
            <a:endParaRPr sz="913"/>
          </a:p>
          <a:p>
            <a:pPr indent="-286544" lvl="0" marL="457200" rtl="0" algn="l">
              <a:lnSpc>
                <a:spcPct val="95000"/>
              </a:lnSpc>
              <a:spcBef>
                <a:spcPts val="0"/>
              </a:spcBef>
              <a:spcAft>
                <a:spcPts val="0"/>
              </a:spcAft>
              <a:buSzPts val="913"/>
              <a:buChar char="●"/>
            </a:pPr>
            <a:r>
              <a:t/>
            </a:r>
            <a:endParaRPr sz="913"/>
          </a:p>
          <a:p>
            <a:pPr indent="0" lvl="0" marL="0" rtl="0" algn="l">
              <a:lnSpc>
                <a:spcPct val="95000"/>
              </a:lnSpc>
              <a:spcBef>
                <a:spcPts val="1200"/>
              </a:spcBef>
              <a:spcAft>
                <a:spcPts val="1200"/>
              </a:spcAft>
              <a:buSzPts val="688"/>
              <a:buNone/>
            </a:pPr>
            <a:r>
              <a:t/>
            </a:r>
            <a:endParaRPr sz="975"/>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t>Team Meeting 6/30</a:t>
            </a:r>
            <a:r>
              <a:rPr lang="en"/>
              <a:t>                               Emily BWM</a:t>
            </a:r>
            <a:endParaRPr u="sng"/>
          </a:p>
        </p:txBody>
      </p:sp>
      <p:sp>
        <p:nvSpPr>
          <p:cNvPr id="147" name="Google Shape;147;p25"/>
          <p:cNvSpPr txBox="1"/>
          <p:nvPr>
            <p:ph idx="1" type="body"/>
          </p:nvPr>
        </p:nvSpPr>
        <p:spPr>
          <a:xfrm>
            <a:off x="311700" y="1152475"/>
            <a:ext cx="2222700" cy="11061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chemeClr val="dk1"/>
                </a:solidFill>
                <a:latin typeface="Helvetica Neue"/>
                <a:ea typeface="Helvetica Neue"/>
                <a:cs typeface="Helvetica Neue"/>
                <a:sym typeface="Helvetica Neue"/>
              </a:rPr>
              <a:t>Present Agenda:</a:t>
            </a:r>
            <a:endParaRPr b="1"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Relaxed week</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Make sure to be </a:t>
            </a:r>
            <a:r>
              <a:rPr lang="en" sz="1100">
                <a:solidFill>
                  <a:schemeClr val="dk1"/>
                </a:solidFill>
                <a:latin typeface="Helvetica Neue"/>
                <a:ea typeface="Helvetica Neue"/>
                <a:cs typeface="Helvetica Neue"/>
                <a:sym typeface="Helvetica Neue"/>
              </a:rPr>
              <a:t>consistent</a:t>
            </a:r>
            <a:r>
              <a:rPr lang="en" sz="1100">
                <a:solidFill>
                  <a:schemeClr val="dk1"/>
                </a:solidFill>
                <a:latin typeface="Helvetica Neue"/>
                <a:ea typeface="Helvetica Neue"/>
                <a:cs typeface="Helvetica Neue"/>
                <a:sym typeface="Helvetica Neue"/>
              </a:rPr>
              <a:t> with citations </a:t>
            </a:r>
            <a:endParaRPr sz="1100">
              <a:solidFill>
                <a:schemeClr val="dk1"/>
              </a:solidFill>
              <a:latin typeface="Helvetica Neue"/>
              <a:ea typeface="Helvetica Neue"/>
              <a:cs typeface="Helvetica Neue"/>
              <a:sym typeface="Helvetica Neue"/>
            </a:endParaRPr>
          </a:p>
        </p:txBody>
      </p:sp>
      <p:sp>
        <p:nvSpPr>
          <p:cNvPr id="148" name="Google Shape;148;p25"/>
          <p:cNvSpPr txBox="1"/>
          <p:nvPr>
            <p:ph idx="2" type="body"/>
          </p:nvPr>
        </p:nvSpPr>
        <p:spPr>
          <a:xfrm>
            <a:off x="2534400" y="1249375"/>
            <a:ext cx="8706600" cy="3416400"/>
          </a:xfrm>
          <a:prstGeom prst="rect">
            <a:avLst/>
          </a:prstGeom>
        </p:spPr>
        <p:txBody>
          <a:bodyPr anchorCtr="0" anchor="t" bIns="91425" lIns="91425" spcFirstLastPara="1" rIns="91425" wrap="square" tIns="91425">
            <a:noAutofit/>
          </a:bodyPr>
          <a:lstStyle/>
          <a:p>
            <a:pPr indent="-286544" lvl="0" marL="457200" rtl="0" algn="l">
              <a:lnSpc>
                <a:spcPct val="95000"/>
              </a:lnSpc>
              <a:spcBef>
                <a:spcPts val="0"/>
              </a:spcBef>
              <a:spcAft>
                <a:spcPts val="0"/>
              </a:spcAft>
              <a:buSzPts val="913"/>
              <a:buChar char="●"/>
            </a:pPr>
            <a:r>
              <a:rPr lang="en" sz="913"/>
              <a:t>Due to this week’s holiday we decided to expect less progress next general meeting. </a:t>
            </a:r>
            <a:endParaRPr sz="913"/>
          </a:p>
          <a:p>
            <a:pPr indent="-286544" lvl="1" marL="914400" rtl="0" algn="l">
              <a:lnSpc>
                <a:spcPct val="95000"/>
              </a:lnSpc>
              <a:spcBef>
                <a:spcPts val="0"/>
              </a:spcBef>
              <a:spcAft>
                <a:spcPts val="0"/>
              </a:spcAft>
              <a:buSzPts val="913"/>
              <a:buChar char="○"/>
            </a:pPr>
            <a:r>
              <a:rPr lang="en" sz="913"/>
              <a:t>Deadlines won’t change </a:t>
            </a:r>
            <a:endParaRPr sz="913"/>
          </a:p>
          <a:p>
            <a:pPr indent="-286544" lvl="1" marL="914400" rtl="0" algn="l">
              <a:lnSpc>
                <a:spcPct val="95000"/>
              </a:lnSpc>
              <a:spcBef>
                <a:spcPts val="0"/>
              </a:spcBef>
              <a:spcAft>
                <a:spcPts val="0"/>
              </a:spcAft>
              <a:buSzPts val="913"/>
              <a:buChar char="○"/>
            </a:pPr>
            <a:r>
              <a:rPr lang="en" sz="913"/>
              <a:t>Be sure to have a good focus next meeting</a:t>
            </a:r>
            <a:endParaRPr sz="913"/>
          </a:p>
          <a:p>
            <a:pPr indent="-286544" lvl="0" marL="457200" rtl="0" algn="l">
              <a:lnSpc>
                <a:spcPct val="95000"/>
              </a:lnSpc>
              <a:spcBef>
                <a:spcPts val="0"/>
              </a:spcBef>
              <a:spcAft>
                <a:spcPts val="0"/>
              </a:spcAft>
              <a:buSzPts val="913"/>
              <a:buChar char="●"/>
            </a:pPr>
            <a:r>
              <a:rPr lang="en" sz="913"/>
              <a:t>Sub teams must make sure to have citations and links</a:t>
            </a:r>
            <a:endParaRPr sz="913"/>
          </a:p>
          <a:p>
            <a:pPr indent="-286544" lvl="0" marL="457200" rtl="0" algn="l">
              <a:lnSpc>
                <a:spcPct val="95000"/>
              </a:lnSpc>
              <a:spcBef>
                <a:spcPts val="0"/>
              </a:spcBef>
              <a:spcAft>
                <a:spcPts val="0"/>
              </a:spcAft>
              <a:buSzPts val="913"/>
              <a:buChar char="●"/>
            </a:pPr>
            <a:r>
              <a:rPr lang="en" sz="913"/>
              <a:t>EPS found general guidelines, working towards requirements</a:t>
            </a:r>
            <a:endParaRPr sz="913"/>
          </a:p>
          <a:p>
            <a:pPr indent="-286544" lvl="1" marL="914400" rtl="0" algn="l">
              <a:lnSpc>
                <a:spcPct val="95000"/>
              </a:lnSpc>
              <a:spcBef>
                <a:spcPts val="0"/>
              </a:spcBef>
              <a:spcAft>
                <a:spcPts val="0"/>
              </a:spcAft>
              <a:buSzPts val="913"/>
              <a:buChar char="○"/>
            </a:pPr>
            <a:r>
              <a:rPr lang="en" sz="913"/>
              <a:t>We have the basics we are unable to know the requirements exactly</a:t>
            </a:r>
            <a:endParaRPr sz="913"/>
          </a:p>
          <a:p>
            <a:pPr indent="-286544" lvl="0" marL="457200" rtl="0" algn="l">
              <a:lnSpc>
                <a:spcPct val="95000"/>
              </a:lnSpc>
              <a:spcBef>
                <a:spcPts val="0"/>
              </a:spcBef>
              <a:spcAft>
                <a:spcPts val="0"/>
              </a:spcAft>
              <a:buSzPts val="913"/>
              <a:buChar char="●"/>
            </a:pPr>
            <a:r>
              <a:rPr lang="en" sz="913"/>
              <a:t>TMS have been using competition guidelines, safety sheets, many sources from the MATE ROV competitions</a:t>
            </a:r>
            <a:endParaRPr sz="913"/>
          </a:p>
          <a:p>
            <a:pPr indent="-286544" lvl="0" marL="457200" rtl="0" algn="l">
              <a:lnSpc>
                <a:spcPct val="95000"/>
              </a:lnSpc>
              <a:spcBef>
                <a:spcPts val="0"/>
              </a:spcBef>
              <a:spcAft>
                <a:spcPts val="0"/>
              </a:spcAft>
              <a:buSzPts val="913"/>
              <a:buChar char="●"/>
            </a:pPr>
            <a:r>
              <a:rPr lang="en" sz="913"/>
              <a:t>C&amp;C </a:t>
            </a:r>
            <a:r>
              <a:rPr lang="en" sz="913"/>
              <a:t>have</a:t>
            </a:r>
            <a:r>
              <a:rPr lang="en" sz="913"/>
              <a:t> been working on requirements, might need guidance </a:t>
            </a:r>
            <a:endParaRPr sz="913"/>
          </a:p>
          <a:p>
            <a:pPr indent="-286544" lvl="0" marL="457200" rtl="0" algn="l">
              <a:lnSpc>
                <a:spcPct val="95000"/>
              </a:lnSpc>
              <a:spcBef>
                <a:spcPts val="0"/>
              </a:spcBef>
              <a:spcAft>
                <a:spcPts val="0"/>
              </a:spcAft>
              <a:buSzPts val="913"/>
              <a:buChar char="●"/>
            </a:pPr>
            <a:r>
              <a:rPr lang="en" sz="913"/>
              <a:t>F&amp;P noticed that lots of requirements will come from the handbook</a:t>
            </a:r>
            <a:endParaRPr sz="913"/>
          </a:p>
          <a:p>
            <a:pPr indent="-286544" lvl="0" marL="457200" rtl="0" algn="l">
              <a:lnSpc>
                <a:spcPct val="95000"/>
              </a:lnSpc>
              <a:spcBef>
                <a:spcPts val="0"/>
              </a:spcBef>
              <a:spcAft>
                <a:spcPts val="0"/>
              </a:spcAft>
              <a:buSzPts val="913"/>
              <a:buChar char="●"/>
            </a:pPr>
            <a:r>
              <a:rPr lang="en" sz="913"/>
              <a:t>We started with sub system requirements</a:t>
            </a:r>
            <a:endParaRPr sz="913"/>
          </a:p>
          <a:p>
            <a:pPr indent="-286544" lvl="1" marL="914400" rtl="0" algn="l">
              <a:lnSpc>
                <a:spcPct val="95000"/>
              </a:lnSpc>
              <a:spcBef>
                <a:spcPts val="0"/>
              </a:spcBef>
              <a:spcAft>
                <a:spcPts val="0"/>
              </a:spcAft>
              <a:buSzPts val="913"/>
              <a:buChar char="○"/>
            </a:pPr>
            <a:r>
              <a:rPr lang="en" sz="913"/>
              <a:t>Start broad and narrow it down.</a:t>
            </a:r>
            <a:endParaRPr sz="913"/>
          </a:p>
          <a:p>
            <a:pPr indent="-286544" lvl="1" marL="914400" rtl="0" algn="l">
              <a:lnSpc>
                <a:spcPct val="95000"/>
              </a:lnSpc>
              <a:spcBef>
                <a:spcPts val="0"/>
              </a:spcBef>
              <a:spcAft>
                <a:spcPts val="0"/>
              </a:spcAft>
              <a:buSzPts val="913"/>
              <a:buChar char="○"/>
            </a:pPr>
            <a:r>
              <a:rPr lang="en" sz="913"/>
              <a:t>Best way to go about this is to ask what does the MATE ROV need to go as a whole?</a:t>
            </a:r>
            <a:endParaRPr sz="913"/>
          </a:p>
          <a:p>
            <a:pPr indent="-286544" lvl="2" marL="1371600" rtl="0" algn="l">
              <a:lnSpc>
                <a:spcPct val="95000"/>
              </a:lnSpc>
              <a:spcBef>
                <a:spcPts val="0"/>
              </a:spcBef>
              <a:spcAft>
                <a:spcPts val="0"/>
              </a:spcAft>
              <a:buSzPts val="913"/>
              <a:buChar char="■"/>
            </a:pPr>
            <a:r>
              <a:rPr lang="en" sz="913"/>
              <a:t>Start general then narrow it down. </a:t>
            </a:r>
            <a:endParaRPr sz="913"/>
          </a:p>
          <a:p>
            <a:pPr indent="0" lvl="0" marL="0" rtl="0" algn="l">
              <a:lnSpc>
                <a:spcPct val="95000"/>
              </a:lnSpc>
              <a:spcBef>
                <a:spcPts val="1200"/>
              </a:spcBef>
              <a:spcAft>
                <a:spcPts val="0"/>
              </a:spcAft>
              <a:buNone/>
            </a:pPr>
            <a:r>
              <a:t/>
            </a:r>
            <a:endParaRPr sz="913"/>
          </a:p>
          <a:p>
            <a:pPr indent="0" lvl="0" marL="0" rtl="0" algn="l">
              <a:lnSpc>
                <a:spcPct val="95000"/>
              </a:lnSpc>
              <a:spcBef>
                <a:spcPts val="1200"/>
              </a:spcBef>
              <a:spcAft>
                <a:spcPts val="1200"/>
              </a:spcAft>
              <a:buSzPts val="688"/>
              <a:buNone/>
            </a:pPr>
            <a:r>
              <a:t/>
            </a:r>
            <a:endParaRPr sz="975"/>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t>Team Meeting 7/7</a:t>
            </a:r>
            <a:r>
              <a:rPr lang="en"/>
              <a:t>                               Arjun Sawhney</a:t>
            </a:r>
            <a:endParaRPr u="sng"/>
          </a:p>
        </p:txBody>
      </p:sp>
      <p:sp>
        <p:nvSpPr>
          <p:cNvPr id="154" name="Google Shape;154;p26"/>
          <p:cNvSpPr txBox="1"/>
          <p:nvPr>
            <p:ph idx="1" type="body"/>
          </p:nvPr>
        </p:nvSpPr>
        <p:spPr>
          <a:xfrm>
            <a:off x="311700" y="1152475"/>
            <a:ext cx="2222700" cy="1106100"/>
          </a:xfrm>
          <a:prstGeom prst="rect">
            <a:avLst/>
          </a:prstGeom>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None/>
            </a:pPr>
            <a:r>
              <a:rPr b="1" lang="en" sz="1100">
                <a:solidFill>
                  <a:schemeClr val="dk1"/>
                </a:solidFill>
                <a:latin typeface="Helvetica Neue"/>
                <a:ea typeface="Helvetica Neue"/>
                <a:cs typeface="Helvetica Neue"/>
                <a:sym typeface="Helvetica Neue"/>
              </a:rPr>
              <a:t>Present Agenda:</a:t>
            </a:r>
            <a:endParaRPr b="1"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Subteams discussing their work for the week</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Discussing mission requirements</a:t>
            </a:r>
            <a:endParaRPr sz="1100">
              <a:solidFill>
                <a:schemeClr val="dk1"/>
              </a:solidFill>
              <a:latin typeface="Helvetica Neue"/>
              <a:ea typeface="Helvetica Neue"/>
              <a:cs typeface="Helvetica Neue"/>
              <a:sym typeface="Helvetica Neue"/>
            </a:endParaRPr>
          </a:p>
        </p:txBody>
      </p:sp>
      <p:sp>
        <p:nvSpPr>
          <p:cNvPr id="155" name="Google Shape;155;p26"/>
          <p:cNvSpPr txBox="1"/>
          <p:nvPr>
            <p:ph idx="2" type="body"/>
          </p:nvPr>
        </p:nvSpPr>
        <p:spPr>
          <a:xfrm>
            <a:off x="2534400" y="1249375"/>
            <a:ext cx="6552600" cy="3416400"/>
          </a:xfrm>
          <a:prstGeom prst="rect">
            <a:avLst/>
          </a:prstGeom>
        </p:spPr>
        <p:txBody>
          <a:bodyPr anchorCtr="0" anchor="t" bIns="91425" lIns="91425" spcFirstLastPara="1" rIns="91425" wrap="square" tIns="91425">
            <a:noAutofit/>
          </a:bodyPr>
          <a:lstStyle/>
          <a:p>
            <a:pPr indent="-286544" lvl="0" marL="457200" rtl="0" algn="l">
              <a:lnSpc>
                <a:spcPct val="95000"/>
              </a:lnSpc>
              <a:spcBef>
                <a:spcPts val="0"/>
              </a:spcBef>
              <a:spcAft>
                <a:spcPts val="0"/>
              </a:spcAft>
              <a:buSzPts val="913"/>
              <a:buChar char="●"/>
            </a:pPr>
            <a:r>
              <a:rPr lang="en" sz="913"/>
              <a:t>Requirements derivable is due on</a:t>
            </a:r>
            <a:r>
              <a:rPr b="1" lang="en" sz="913"/>
              <a:t> July 20th</a:t>
            </a:r>
            <a:r>
              <a:rPr lang="en" sz="913"/>
              <a:t> </a:t>
            </a:r>
            <a:endParaRPr sz="913"/>
          </a:p>
          <a:p>
            <a:pPr indent="-286544" lvl="0" marL="457200" rtl="0" algn="l">
              <a:lnSpc>
                <a:spcPct val="95000"/>
              </a:lnSpc>
              <a:spcBef>
                <a:spcPts val="0"/>
              </a:spcBef>
              <a:spcAft>
                <a:spcPts val="0"/>
              </a:spcAft>
              <a:buSzPts val="913"/>
              <a:buChar char="●"/>
            </a:pPr>
            <a:r>
              <a:rPr lang="en" sz="913"/>
              <a:t>Requirements need to be </a:t>
            </a:r>
            <a:r>
              <a:rPr b="1" lang="en" sz="913"/>
              <a:t>specific, measurable, realistic</a:t>
            </a:r>
            <a:endParaRPr b="1" sz="913"/>
          </a:p>
          <a:p>
            <a:pPr indent="0" lvl="0" marL="0" rtl="0" algn="l">
              <a:lnSpc>
                <a:spcPct val="95000"/>
              </a:lnSpc>
              <a:spcBef>
                <a:spcPts val="1200"/>
              </a:spcBef>
              <a:spcAft>
                <a:spcPts val="0"/>
              </a:spcAft>
              <a:buNone/>
            </a:pPr>
            <a:r>
              <a:rPr lang="en" sz="913"/>
              <a:t> </a:t>
            </a:r>
            <a:endParaRPr sz="913"/>
          </a:p>
          <a:p>
            <a:pPr indent="-286544" lvl="0" marL="457200" rtl="0" algn="l">
              <a:lnSpc>
                <a:spcPct val="95000"/>
              </a:lnSpc>
              <a:spcBef>
                <a:spcPts val="1200"/>
              </a:spcBef>
              <a:spcAft>
                <a:spcPts val="0"/>
              </a:spcAft>
              <a:buSzPts val="913"/>
              <a:buChar char="●"/>
            </a:pPr>
            <a:r>
              <a:rPr lang="en" sz="913"/>
              <a:t>TMS - 80% done with requirements, continue to finish requirements for the rest of the week</a:t>
            </a:r>
            <a:endParaRPr sz="913"/>
          </a:p>
          <a:p>
            <a:pPr indent="-286544" lvl="0" marL="457200" rtl="0" algn="l">
              <a:lnSpc>
                <a:spcPct val="95000"/>
              </a:lnSpc>
              <a:spcBef>
                <a:spcPts val="0"/>
              </a:spcBef>
              <a:spcAft>
                <a:spcPts val="0"/>
              </a:spcAft>
              <a:buSzPts val="913"/>
              <a:buChar char="●"/>
            </a:pPr>
            <a:r>
              <a:rPr lang="en" sz="913"/>
              <a:t>EPS - Have all requirements done without mission tasks, looking to put together a better list with numbers</a:t>
            </a:r>
            <a:endParaRPr sz="913"/>
          </a:p>
          <a:p>
            <a:pPr indent="-286544" lvl="0" marL="457200" rtl="0" algn="l">
              <a:lnSpc>
                <a:spcPct val="95000"/>
              </a:lnSpc>
              <a:spcBef>
                <a:spcPts val="0"/>
              </a:spcBef>
              <a:spcAft>
                <a:spcPts val="0"/>
              </a:spcAft>
              <a:buSzPts val="913"/>
              <a:buChar char="●"/>
            </a:pPr>
            <a:r>
              <a:rPr lang="en" sz="913"/>
              <a:t>C&amp;C - Brainstormed their ideas for requirements, have a better understanding and now will finish things up</a:t>
            </a:r>
            <a:endParaRPr sz="913"/>
          </a:p>
          <a:p>
            <a:pPr indent="-286544" lvl="0" marL="457200" rtl="0" algn="l">
              <a:lnSpc>
                <a:spcPct val="95000"/>
              </a:lnSpc>
              <a:spcBef>
                <a:spcPts val="0"/>
              </a:spcBef>
              <a:spcAft>
                <a:spcPts val="0"/>
              </a:spcAft>
              <a:buSzPts val="913"/>
              <a:buChar char="●"/>
            </a:pPr>
            <a:r>
              <a:rPr lang="en" sz="913"/>
              <a:t>F&amp;P - Finished their mesh course, need a bit more time, need to do more courses/learning and will watch videos to get more Ansys understanding</a:t>
            </a:r>
            <a:endParaRPr sz="913"/>
          </a:p>
          <a:p>
            <a:pPr indent="-286544" lvl="1" marL="914400" rtl="0" algn="l">
              <a:lnSpc>
                <a:spcPct val="95000"/>
              </a:lnSpc>
              <a:spcBef>
                <a:spcPts val="0"/>
              </a:spcBef>
              <a:spcAft>
                <a:spcPts val="0"/>
              </a:spcAft>
              <a:buSzPts val="913"/>
              <a:buChar char="○"/>
            </a:pPr>
            <a:r>
              <a:rPr lang="en" sz="913"/>
              <a:t>Regarding requirements, will begin requirements tomorrow in another meeting</a:t>
            </a:r>
            <a:endParaRPr sz="913"/>
          </a:p>
          <a:p>
            <a:pPr indent="-286544" lvl="1" marL="914400" rtl="0" algn="l">
              <a:lnSpc>
                <a:spcPct val="95000"/>
              </a:lnSpc>
              <a:spcBef>
                <a:spcPts val="0"/>
              </a:spcBef>
              <a:spcAft>
                <a:spcPts val="0"/>
              </a:spcAft>
              <a:buSzPts val="913"/>
              <a:buChar char="○"/>
            </a:pPr>
            <a:r>
              <a:rPr lang="en" sz="913"/>
              <a:t>Team is occupied with work and vacation, will schedule more meetings to finish by deadline</a:t>
            </a:r>
            <a:endParaRPr sz="913"/>
          </a:p>
          <a:p>
            <a:pPr indent="-286544" lvl="0" marL="457200" rtl="0" algn="l">
              <a:lnSpc>
                <a:spcPct val="95000"/>
              </a:lnSpc>
              <a:spcBef>
                <a:spcPts val="0"/>
              </a:spcBef>
              <a:spcAft>
                <a:spcPts val="0"/>
              </a:spcAft>
              <a:buSzPts val="913"/>
              <a:buChar char="●"/>
            </a:pPr>
            <a:r>
              <a:rPr lang="en" sz="913"/>
              <a:t>GNC - Team was on vacation/busy, this week will meet up to get requirements work done</a:t>
            </a:r>
            <a:endParaRPr sz="913"/>
          </a:p>
          <a:p>
            <a:pPr indent="-286544" lvl="1" marL="914400" rtl="0" algn="l">
              <a:lnSpc>
                <a:spcPct val="95000"/>
              </a:lnSpc>
              <a:spcBef>
                <a:spcPts val="0"/>
              </a:spcBef>
              <a:spcAft>
                <a:spcPts val="0"/>
              </a:spcAft>
              <a:buSzPts val="913"/>
              <a:buChar char="○"/>
            </a:pPr>
            <a:r>
              <a:rPr lang="en" sz="913"/>
              <a:t>Will coordinate with C&amp;C since subteams are very similar, working on same platform</a:t>
            </a:r>
            <a:endParaRPr sz="913"/>
          </a:p>
          <a:p>
            <a:pPr indent="0" lvl="0" marL="0" rtl="0" algn="l">
              <a:lnSpc>
                <a:spcPct val="95000"/>
              </a:lnSpc>
              <a:spcBef>
                <a:spcPts val="1200"/>
              </a:spcBef>
              <a:spcAft>
                <a:spcPts val="0"/>
              </a:spcAft>
              <a:buNone/>
            </a:pPr>
            <a:r>
              <a:rPr lang="en" sz="913"/>
              <a:t>Mission requirements:</a:t>
            </a:r>
            <a:endParaRPr sz="913"/>
          </a:p>
          <a:p>
            <a:pPr indent="-286544" lvl="0" marL="457200" rtl="0" algn="l">
              <a:lnSpc>
                <a:spcPct val="95000"/>
              </a:lnSpc>
              <a:spcBef>
                <a:spcPts val="1200"/>
              </a:spcBef>
              <a:spcAft>
                <a:spcPts val="0"/>
              </a:spcAft>
              <a:buSzPts val="913"/>
              <a:buChar char="●"/>
            </a:pPr>
            <a:r>
              <a:rPr lang="en" sz="913"/>
              <a:t>Looking at system requirements (highest-level requirements over all other subteam requirements), purpose is to trace back subsystem requirements to achieve one of the system requirements</a:t>
            </a:r>
            <a:endParaRPr sz="913"/>
          </a:p>
          <a:p>
            <a:pPr indent="-286544" lvl="0" marL="457200" rtl="0" algn="l">
              <a:lnSpc>
                <a:spcPct val="95000"/>
              </a:lnSpc>
              <a:spcBef>
                <a:spcPts val="0"/>
              </a:spcBef>
              <a:spcAft>
                <a:spcPts val="0"/>
              </a:spcAft>
              <a:buSzPts val="913"/>
              <a:buChar char="●"/>
            </a:pPr>
            <a:r>
              <a:rPr lang="en" sz="913"/>
              <a:t>Creating new categories to hit points for the competition (demonstration, engineering and communication, safety)</a:t>
            </a:r>
            <a:endParaRPr sz="913"/>
          </a:p>
          <a:p>
            <a:pPr indent="-286544" lvl="0" marL="457200" rtl="0" algn="l">
              <a:lnSpc>
                <a:spcPct val="95000"/>
              </a:lnSpc>
              <a:spcBef>
                <a:spcPts val="0"/>
              </a:spcBef>
              <a:spcAft>
                <a:spcPts val="0"/>
              </a:spcAft>
              <a:buSzPts val="913"/>
              <a:buChar char="●"/>
            </a:pPr>
            <a:r>
              <a:rPr lang="en" sz="913"/>
              <a:t>Discussing making requirements around points</a:t>
            </a:r>
            <a:endParaRPr sz="913"/>
          </a:p>
          <a:p>
            <a:pPr indent="-286544" lvl="0" marL="457200" rtl="0" algn="l">
              <a:lnSpc>
                <a:spcPct val="95000"/>
              </a:lnSpc>
              <a:spcBef>
                <a:spcPts val="0"/>
              </a:spcBef>
              <a:spcAft>
                <a:spcPts val="0"/>
              </a:spcAft>
              <a:buSzPts val="913"/>
              <a:buChar char="●"/>
            </a:pPr>
            <a:r>
              <a:rPr lang="en" sz="913"/>
              <a:t>Timeline regarding fabrication deadlines will come with the beginning of the semester</a:t>
            </a:r>
            <a:endParaRPr sz="913"/>
          </a:p>
          <a:p>
            <a:pPr indent="-286544" lvl="0" marL="457200" rtl="0" algn="l">
              <a:lnSpc>
                <a:spcPct val="95000"/>
              </a:lnSpc>
              <a:spcBef>
                <a:spcPts val="0"/>
              </a:spcBef>
              <a:spcAft>
                <a:spcPts val="0"/>
              </a:spcAft>
              <a:buSzPts val="913"/>
              <a:buChar char="●"/>
            </a:pPr>
            <a:r>
              <a:rPr lang="en" sz="913"/>
              <a:t>Compatibility requirements, ensuring that subsystems work together (ex: GNC &amp; C&amp;C and providing numbers)</a:t>
            </a:r>
            <a:endParaRPr sz="913"/>
          </a:p>
          <a:p>
            <a:pPr indent="0" lvl="0" marL="0" rtl="0" algn="l">
              <a:lnSpc>
                <a:spcPct val="95000"/>
              </a:lnSpc>
              <a:spcBef>
                <a:spcPts val="1200"/>
              </a:spcBef>
              <a:spcAft>
                <a:spcPts val="1200"/>
              </a:spcAft>
              <a:buSzPts val="688"/>
              <a:buNone/>
            </a:pPr>
            <a:r>
              <a:t/>
            </a:r>
            <a:endParaRPr sz="975"/>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t>Team Meeting 7/14</a:t>
            </a:r>
            <a:r>
              <a:rPr lang="en"/>
              <a:t>                               Arjun Sawhney</a:t>
            </a:r>
            <a:endParaRPr u="sng"/>
          </a:p>
        </p:txBody>
      </p:sp>
      <p:sp>
        <p:nvSpPr>
          <p:cNvPr id="161" name="Google Shape;161;p27"/>
          <p:cNvSpPr txBox="1"/>
          <p:nvPr>
            <p:ph idx="1" type="body"/>
          </p:nvPr>
        </p:nvSpPr>
        <p:spPr>
          <a:xfrm>
            <a:off x="311700" y="1152475"/>
            <a:ext cx="2766900" cy="1106100"/>
          </a:xfrm>
          <a:prstGeom prst="rect">
            <a:avLst/>
          </a:prstGeom>
        </p:spPr>
        <p:txBody>
          <a:bodyPr anchorCtr="0" anchor="t" bIns="91425" lIns="91425" spcFirstLastPara="1" rIns="91425" wrap="square" tIns="91425">
            <a:normAutofit fontScale="77500" lnSpcReduction="20000"/>
          </a:bodyPr>
          <a:lstStyle/>
          <a:p>
            <a:pPr indent="0" lvl="0" marL="0" rtl="0" algn="l">
              <a:lnSpc>
                <a:spcPct val="115000"/>
              </a:lnSpc>
              <a:spcBef>
                <a:spcPts val="0"/>
              </a:spcBef>
              <a:spcAft>
                <a:spcPts val="0"/>
              </a:spcAft>
              <a:buNone/>
            </a:pPr>
            <a:r>
              <a:rPr b="1" lang="en" sz="1100">
                <a:solidFill>
                  <a:schemeClr val="dk1"/>
                </a:solidFill>
                <a:latin typeface="Helvetica Neue"/>
                <a:ea typeface="Helvetica Neue"/>
                <a:cs typeface="Helvetica Neue"/>
                <a:sym typeface="Helvetica Neue"/>
              </a:rPr>
              <a:t>Present Agenda:</a:t>
            </a:r>
            <a:endParaRPr b="1" sz="1100">
              <a:solidFill>
                <a:schemeClr val="dk1"/>
              </a:solidFill>
              <a:latin typeface="Helvetica Neue"/>
              <a:ea typeface="Helvetica Neue"/>
              <a:cs typeface="Helvetica Neue"/>
              <a:sym typeface="Helvetica Neue"/>
            </a:endParaRPr>
          </a:p>
          <a:p>
            <a:pPr indent="-282734" lvl="0" marL="457200" rtl="0" algn="l">
              <a:lnSpc>
                <a:spcPct val="115000"/>
              </a:lnSpc>
              <a:spcBef>
                <a:spcPts val="0"/>
              </a:spcBef>
              <a:spcAft>
                <a:spcPts val="0"/>
              </a:spcAft>
              <a:buClr>
                <a:schemeClr val="dk1"/>
              </a:buClr>
              <a:buSzPct val="100000"/>
              <a:buFont typeface="Helvetica Neue"/>
              <a:buChar char="❏"/>
            </a:pPr>
            <a:r>
              <a:rPr lang="en" sz="1100">
                <a:solidFill>
                  <a:schemeClr val="dk1"/>
                </a:solidFill>
                <a:latin typeface="Helvetica Neue"/>
                <a:ea typeface="Helvetica Neue"/>
                <a:cs typeface="Helvetica Neue"/>
                <a:sym typeface="Helvetica Neue"/>
              </a:rPr>
              <a:t>Upcoming deadline reminder </a:t>
            </a:r>
            <a:endParaRPr sz="1100">
              <a:solidFill>
                <a:schemeClr val="dk1"/>
              </a:solidFill>
              <a:latin typeface="Helvetica Neue"/>
              <a:ea typeface="Helvetica Neue"/>
              <a:cs typeface="Helvetica Neue"/>
              <a:sym typeface="Helvetica Neue"/>
            </a:endParaRPr>
          </a:p>
          <a:p>
            <a:pPr indent="-282734" lvl="1" marL="914400" rtl="0" algn="l">
              <a:lnSpc>
                <a:spcPct val="115000"/>
              </a:lnSpc>
              <a:spcBef>
                <a:spcPts val="0"/>
              </a:spcBef>
              <a:spcAft>
                <a:spcPts val="0"/>
              </a:spcAft>
              <a:buClr>
                <a:schemeClr val="dk1"/>
              </a:buClr>
              <a:buSzPct val="100000"/>
              <a:buFont typeface="Helvetica Neue"/>
              <a:buChar char="❏"/>
            </a:pPr>
            <a:r>
              <a:rPr lang="en" sz="1100">
                <a:solidFill>
                  <a:schemeClr val="dk1"/>
                </a:solidFill>
                <a:latin typeface="Helvetica Neue"/>
                <a:ea typeface="Helvetica Neue"/>
                <a:cs typeface="Helvetica Neue"/>
                <a:sym typeface="Helvetica Neue"/>
              </a:rPr>
              <a:t>Citation</a:t>
            </a:r>
            <a:endParaRPr sz="1100">
              <a:solidFill>
                <a:schemeClr val="dk1"/>
              </a:solidFill>
              <a:latin typeface="Helvetica Neue"/>
              <a:ea typeface="Helvetica Neue"/>
              <a:cs typeface="Helvetica Neue"/>
              <a:sym typeface="Helvetica Neue"/>
            </a:endParaRPr>
          </a:p>
          <a:p>
            <a:pPr indent="-282734" lvl="1" marL="914400" rtl="0" algn="l">
              <a:lnSpc>
                <a:spcPct val="115000"/>
              </a:lnSpc>
              <a:spcBef>
                <a:spcPts val="0"/>
              </a:spcBef>
              <a:spcAft>
                <a:spcPts val="0"/>
              </a:spcAft>
              <a:buClr>
                <a:schemeClr val="dk1"/>
              </a:buClr>
              <a:buSzPct val="100000"/>
              <a:buFont typeface="Helvetica Neue"/>
              <a:buChar char="❏"/>
            </a:pPr>
            <a:r>
              <a:rPr lang="en" sz="1100">
                <a:solidFill>
                  <a:schemeClr val="dk1"/>
                </a:solidFill>
                <a:latin typeface="Helvetica Neue"/>
                <a:ea typeface="Helvetica Neue"/>
                <a:cs typeface="Helvetica Neue"/>
                <a:sym typeface="Helvetica Neue"/>
              </a:rPr>
              <a:t>Refresher about what we expect for requirements</a:t>
            </a:r>
            <a:endParaRPr sz="1100">
              <a:solidFill>
                <a:schemeClr val="dk1"/>
              </a:solidFill>
              <a:latin typeface="Helvetica Neue"/>
              <a:ea typeface="Helvetica Neue"/>
              <a:cs typeface="Helvetica Neue"/>
              <a:sym typeface="Helvetica Neue"/>
            </a:endParaRPr>
          </a:p>
          <a:p>
            <a:pPr indent="-282734" lvl="1" marL="914400" rtl="0" algn="l">
              <a:lnSpc>
                <a:spcPct val="115000"/>
              </a:lnSpc>
              <a:spcBef>
                <a:spcPts val="0"/>
              </a:spcBef>
              <a:spcAft>
                <a:spcPts val="0"/>
              </a:spcAft>
              <a:buClr>
                <a:schemeClr val="dk1"/>
              </a:buClr>
              <a:buSzPct val="100000"/>
              <a:buFont typeface="Helvetica Neue"/>
              <a:buChar char="❏"/>
            </a:pPr>
            <a:r>
              <a:rPr lang="en" sz="1100">
                <a:solidFill>
                  <a:schemeClr val="dk1"/>
                </a:solidFill>
                <a:latin typeface="Helvetica Neue"/>
                <a:ea typeface="Helvetica Neue"/>
                <a:cs typeface="Helvetica Neue"/>
                <a:sym typeface="Helvetica Neue"/>
              </a:rPr>
              <a:t>Ranges are good </a:t>
            </a:r>
            <a:endParaRPr sz="1100">
              <a:solidFill>
                <a:schemeClr val="dk1"/>
              </a:solidFill>
              <a:latin typeface="Helvetica Neue"/>
              <a:ea typeface="Helvetica Neue"/>
              <a:cs typeface="Helvetica Neue"/>
              <a:sym typeface="Helvetica Neue"/>
            </a:endParaRPr>
          </a:p>
          <a:p>
            <a:pPr indent="-282734" lvl="0" marL="457200" rtl="0" algn="l">
              <a:lnSpc>
                <a:spcPct val="115000"/>
              </a:lnSpc>
              <a:spcBef>
                <a:spcPts val="0"/>
              </a:spcBef>
              <a:spcAft>
                <a:spcPts val="0"/>
              </a:spcAft>
              <a:buClr>
                <a:schemeClr val="dk1"/>
              </a:buClr>
              <a:buSzPct val="100000"/>
              <a:buFont typeface="Helvetica Neue"/>
              <a:buChar char="❏"/>
            </a:pPr>
            <a:r>
              <a:rPr lang="en" sz="1100">
                <a:solidFill>
                  <a:schemeClr val="dk1"/>
                </a:solidFill>
                <a:latin typeface="Helvetica Neue"/>
                <a:ea typeface="Helvetica Neue"/>
                <a:cs typeface="Helvetica Neue"/>
                <a:sym typeface="Helvetica Neue"/>
              </a:rPr>
              <a:t>Discussion</a:t>
            </a:r>
            <a:r>
              <a:rPr lang="en" sz="1100">
                <a:solidFill>
                  <a:schemeClr val="dk1"/>
                </a:solidFill>
                <a:latin typeface="Helvetica Neue"/>
                <a:ea typeface="Helvetica Neue"/>
                <a:cs typeface="Helvetica Neue"/>
                <a:sym typeface="Helvetica Neue"/>
              </a:rPr>
              <a:t> regarding </a:t>
            </a:r>
            <a:r>
              <a:rPr lang="en" sz="1100">
                <a:solidFill>
                  <a:schemeClr val="dk1"/>
                </a:solidFill>
                <a:latin typeface="Helvetica Neue"/>
                <a:ea typeface="Helvetica Neue"/>
                <a:cs typeface="Helvetica Neue"/>
                <a:sym typeface="Helvetica Neue"/>
              </a:rPr>
              <a:t>sub team's</a:t>
            </a:r>
            <a:r>
              <a:rPr lang="en" sz="1100">
                <a:solidFill>
                  <a:schemeClr val="dk1"/>
                </a:solidFill>
                <a:latin typeface="Helvetica Neue"/>
                <a:ea typeface="Helvetica Neue"/>
                <a:cs typeface="Helvetica Neue"/>
                <a:sym typeface="Helvetica Neue"/>
              </a:rPr>
              <a:t> progress</a:t>
            </a:r>
            <a:endParaRPr sz="1100">
              <a:solidFill>
                <a:schemeClr val="dk1"/>
              </a:solidFill>
              <a:latin typeface="Helvetica Neue"/>
              <a:ea typeface="Helvetica Neue"/>
              <a:cs typeface="Helvetica Neue"/>
              <a:sym typeface="Helvetica Neue"/>
            </a:endParaRPr>
          </a:p>
        </p:txBody>
      </p:sp>
      <p:sp>
        <p:nvSpPr>
          <p:cNvPr id="162" name="Google Shape;162;p27"/>
          <p:cNvSpPr txBox="1"/>
          <p:nvPr>
            <p:ph idx="2" type="body"/>
          </p:nvPr>
        </p:nvSpPr>
        <p:spPr>
          <a:xfrm>
            <a:off x="2899750" y="1249375"/>
            <a:ext cx="6187200" cy="3416400"/>
          </a:xfrm>
          <a:prstGeom prst="rect">
            <a:avLst/>
          </a:prstGeom>
        </p:spPr>
        <p:txBody>
          <a:bodyPr anchorCtr="0" anchor="t" bIns="91425" lIns="91425" spcFirstLastPara="1" rIns="91425" wrap="square" tIns="91425">
            <a:noAutofit/>
          </a:bodyPr>
          <a:lstStyle/>
          <a:p>
            <a:pPr indent="-285750" lvl="0" marL="457200" rtl="0" algn="l">
              <a:lnSpc>
                <a:spcPct val="95000"/>
              </a:lnSpc>
              <a:spcBef>
                <a:spcPts val="0"/>
              </a:spcBef>
              <a:spcAft>
                <a:spcPts val="0"/>
              </a:spcAft>
              <a:buSzPts val="900"/>
              <a:buChar char="●"/>
            </a:pPr>
            <a:r>
              <a:rPr lang="en" sz="900"/>
              <a:t>Upcoming deadline for July 20th, focusing on finishing requirements and consistency with formatting</a:t>
            </a:r>
            <a:endParaRPr sz="900"/>
          </a:p>
          <a:p>
            <a:pPr indent="-285750" lvl="1" marL="914400" rtl="0" algn="l">
              <a:lnSpc>
                <a:spcPct val="95000"/>
              </a:lnSpc>
              <a:spcBef>
                <a:spcPts val="0"/>
              </a:spcBef>
              <a:spcAft>
                <a:spcPts val="0"/>
              </a:spcAft>
              <a:buSzPts val="900"/>
              <a:buChar char="○"/>
            </a:pPr>
            <a:r>
              <a:rPr lang="en" sz="900"/>
              <a:t>Expectations: Have requirements so we can check boxes for a successful vehicle</a:t>
            </a:r>
            <a:endParaRPr sz="900"/>
          </a:p>
          <a:p>
            <a:pPr indent="-285750" lvl="1" marL="914400" rtl="0" algn="l">
              <a:lnSpc>
                <a:spcPct val="95000"/>
              </a:lnSpc>
              <a:spcBef>
                <a:spcPts val="0"/>
              </a:spcBef>
              <a:spcAft>
                <a:spcPts val="0"/>
              </a:spcAft>
              <a:buSzPts val="900"/>
              <a:buChar char="○"/>
            </a:pPr>
            <a:r>
              <a:rPr lang="en" sz="900"/>
              <a:t>Having clear, concise requirements, reference the example when necessary</a:t>
            </a:r>
            <a:endParaRPr sz="900"/>
          </a:p>
          <a:p>
            <a:pPr indent="-285750" lvl="0" marL="457200" rtl="0" algn="l">
              <a:lnSpc>
                <a:spcPct val="95000"/>
              </a:lnSpc>
              <a:spcBef>
                <a:spcPts val="0"/>
              </a:spcBef>
              <a:spcAft>
                <a:spcPts val="0"/>
              </a:spcAft>
              <a:buSzPts val="900"/>
              <a:buChar char="●"/>
            </a:pPr>
            <a:r>
              <a:rPr lang="en" sz="900"/>
              <a:t>EPS: To get familiar with Kicad, doing individual projects</a:t>
            </a:r>
            <a:endParaRPr sz="900"/>
          </a:p>
          <a:p>
            <a:pPr indent="-285750" lvl="1" marL="914400" rtl="0" algn="l">
              <a:lnSpc>
                <a:spcPct val="95000"/>
              </a:lnSpc>
              <a:spcBef>
                <a:spcPts val="0"/>
              </a:spcBef>
              <a:spcAft>
                <a:spcPts val="0"/>
              </a:spcAft>
              <a:buSzPts val="900"/>
              <a:buChar char="○"/>
            </a:pPr>
            <a:r>
              <a:rPr lang="en" sz="900"/>
              <a:t>Research for MATE ROV, looking at various systems by previous teams, increasing familiarity for requirements and future work</a:t>
            </a:r>
            <a:endParaRPr sz="900"/>
          </a:p>
          <a:p>
            <a:pPr indent="-285750" lvl="1" marL="914400" rtl="0" algn="l">
              <a:lnSpc>
                <a:spcPct val="95000"/>
              </a:lnSpc>
              <a:spcBef>
                <a:spcPts val="0"/>
              </a:spcBef>
              <a:spcAft>
                <a:spcPts val="0"/>
              </a:spcAft>
              <a:buSzPts val="900"/>
              <a:buChar char="○"/>
            </a:pPr>
            <a:r>
              <a:rPr lang="en" sz="900"/>
              <a:t>Note from Zach, with unclear needs for requirements, feel free to use ranges to account for wider areas but to still be able to get numbers down for clearer requirements, this goes for all subteams</a:t>
            </a:r>
            <a:endParaRPr sz="900"/>
          </a:p>
          <a:p>
            <a:pPr indent="-285750" lvl="0" marL="457200" rtl="0" algn="l">
              <a:lnSpc>
                <a:spcPct val="95000"/>
              </a:lnSpc>
              <a:spcBef>
                <a:spcPts val="0"/>
              </a:spcBef>
              <a:spcAft>
                <a:spcPts val="0"/>
              </a:spcAft>
              <a:buSzPts val="900"/>
              <a:buChar char="●"/>
            </a:pPr>
            <a:r>
              <a:rPr lang="en" sz="900"/>
              <a:t>F&amp;P: Meeting with EPS, doing an ANSYS Mesh course and will update at tomorrow’s meeting</a:t>
            </a:r>
            <a:endParaRPr sz="900"/>
          </a:p>
          <a:p>
            <a:pPr indent="-285750" lvl="1" marL="914400" rtl="0" algn="l">
              <a:lnSpc>
                <a:spcPct val="95000"/>
              </a:lnSpc>
              <a:spcBef>
                <a:spcPts val="0"/>
              </a:spcBef>
              <a:spcAft>
                <a:spcPts val="0"/>
              </a:spcAft>
              <a:buSzPts val="900"/>
              <a:buChar char="○"/>
            </a:pPr>
            <a:r>
              <a:rPr lang="en" sz="900"/>
              <a:t>Requirements are pretty much complete, also checking on tomorrow’s meeting</a:t>
            </a:r>
            <a:endParaRPr sz="900"/>
          </a:p>
          <a:p>
            <a:pPr indent="-285750" lvl="0" marL="457200" rtl="0" algn="l">
              <a:lnSpc>
                <a:spcPct val="95000"/>
              </a:lnSpc>
              <a:spcBef>
                <a:spcPts val="0"/>
              </a:spcBef>
              <a:spcAft>
                <a:spcPts val="0"/>
              </a:spcAft>
              <a:buSzPts val="900"/>
              <a:buChar char="●"/>
            </a:pPr>
            <a:r>
              <a:rPr lang="en" sz="900"/>
              <a:t>TMS: Should be finished with requirements by Wednesday, needs to decide on where to go next</a:t>
            </a:r>
            <a:endParaRPr sz="900"/>
          </a:p>
          <a:p>
            <a:pPr indent="-285750" lvl="1" marL="914400" rtl="0" algn="l">
              <a:lnSpc>
                <a:spcPct val="95000"/>
              </a:lnSpc>
              <a:spcBef>
                <a:spcPts val="0"/>
              </a:spcBef>
              <a:spcAft>
                <a:spcPts val="0"/>
              </a:spcAft>
              <a:buSzPts val="900"/>
              <a:buChar char="○"/>
            </a:pPr>
            <a:r>
              <a:rPr lang="en" sz="900"/>
              <a:t>Already set up CAD course for certification, other than that, waiting on next moves</a:t>
            </a:r>
            <a:endParaRPr sz="900"/>
          </a:p>
          <a:p>
            <a:pPr indent="-285750" lvl="0" marL="457200" rtl="0" algn="l">
              <a:lnSpc>
                <a:spcPct val="95000"/>
              </a:lnSpc>
              <a:spcBef>
                <a:spcPts val="0"/>
              </a:spcBef>
              <a:spcAft>
                <a:spcPts val="0"/>
              </a:spcAft>
              <a:buSzPts val="900"/>
              <a:buChar char="●"/>
            </a:pPr>
            <a:r>
              <a:rPr lang="en" sz="900"/>
              <a:t>C&amp;C: Good spot with requirements, pretty much finished, have a couple left but has everything they want to hit</a:t>
            </a:r>
            <a:endParaRPr sz="900"/>
          </a:p>
          <a:p>
            <a:pPr indent="-285750" lvl="1" marL="914400" rtl="0" algn="l">
              <a:lnSpc>
                <a:spcPct val="95000"/>
              </a:lnSpc>
              <a:spcBef>
                <a:spcPts val="0"/>
              </a:spcBef>
              <a:spcAft>
                <a:spcPts val="0"/>
              </a:spcAft>
              <a:buSzPts val="900"/>
              <a:buChar char="○"/>
            </a:pPr>
            <a:r>
              <a:rPr lang="en" sz="900"/>
              <a:t>Doing research to support GNC, communication with GNC is high, blueOS</a:t>
            </a:r>
            <a:endParaRPr sz="900"/>
          </a:p>
          <a:p>
            <a:pPr indent="-285750" lvl="0" marL="457200" rtl="0" algn="l">
              <a:lnSpc>
                <a:spcPct val="95000"/>
              </a:lnSpc>
              <a:spcBef>
                <a:spcPts val="0"/>
              </a:spcBef>
              <a:spcAft>
                <a:spcPts val="0"/>
              </a:spcAft>
              <a:buSzPts val="900"/>
              <a:buChar char="●"/>
            </a:pPr>
            <a:r>
              <a:rPr lang="en" sz="900"/>
              <a:t>GNC: Doing research into software and options, what other teams do, blueOS by coordination with C&amp;C</a:t>
            </a:r>
            <a:endParaRPr sz="900"/>
          </a:p>
          <a:p>
            <a:pPr indent="-285750" lvl="1" marL="914400" rtl="0" algn="l">
              <a:lnSpc>
                <a:spcPct val="95000"/>
              </a:lnSpc>
              <a:spcBef>
                <a:spcPts val="0"/>
              </a:spcBef>
              <a:spcAft>
                <a:spcPts val="0"/>
              </a:spcAft>
              <a:buSzPts val="900"/>
              <a:buChar char="○"/>
            </a:pPr>
            <a:r>
              <a:rPr lang="en" sz="900"/>
              <a:t>Will be good by deadline</a:t>
            </a:r>
            <a:endParaRPr sz="900"/>
          </a:p>
          <a:p>
            <a:pPr indent="0" lvl="0" marL="0" rtl="0" algn="l">
              <a:lnSpc>
                <a:spcPct val="95000"/>
              </a:lnSpc>
              <a:spcBef>
                <a:spcPts val="1200"/>
              </a:spcBef>
              <a:spcAft>
                <a:spcPts val="1200"/>
              </a:spcAft>
              <a:buSzPts val="688"/>
              <a:buNone/>
            </a:pPr>
            <a:r>
              <a:t/>
            </a:r>
            <a:endParaRPr sz="975"/>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t>Team Meeting 7/21</a:t>
            </a:r>
            <a:r>
              <a:rPr lang="en"/>
              <a:t>                               Emily BWM</a:t>
            </a:r>
            <a:endParaRPr u="sng"/>
          </a:p>
        </p:txBody>
      </p:sp>
      <p:sp>
        <p:nvSpPr>
          <p:cNvPr id="168" name="Google Shape;168;p28"/>
          <p:cNvSpPr txBox="1"/>
          <p:nvPr>
            <p:ph idx="1" type="body"/>
          </p:nvPr>
        </p:nvSpPr>
        <p:spPr>
          <a:xfrm>
            <a:off x="311700" y="1152475"/>
            <a:ext cx="2766900" cy="11061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chemeClr val="dk1"/>
                </a:solidFill>
                <a:latin typeface="Helvetica Neue"/>
                <a:ea typeface="Helvetica Neue"/>
                <a:cs typeface="Helvetica Neue"/>
                <a:sym typeface="Helvetica Neue"/>
              </a:rPr>
              <a:t>Present Agenda:</a:t>
            </a:r>
            <a:endParaRPr b="1"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Subteam-to-subteam constructive criticism session!</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50 ideas Assignment </a:t>
            </a:r>
            <a:endParaRPr sz="1100">
              <a:solidFill>
                <a:schemeClr val="dk1"/>
              </a:solidFill>
              <a:latin typeface="Helvetica Neue"/>
              <a:ea typeface="Helvetica Neue"/>
              <a:cs typeface="Helvetica Neue"/>
              <a:sym typeface="Helvetica Neue"/>
            </a:endParaRPr>
          </a:p>
        </p:txBody>
      </p:sp>
      <p:sp>
        <p:nvSpPr>
          <p:cNvPr id="169" name="Google Shape;169;p28"/>
          <p:cNvSpPr txBox="1"/>
          <p:nvPr>
            <p:ph idx="2" type="body"/>
          </p:nvPr>
        </p:nvSpPr>
        <p:spPr>
          <a:xfrm>
            <a:off x="2899750" y="1249375"/>
            <a:ext cx="61872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900"/>
              <a:t>Subteam to subteam criticism </a:t>
            </a:r>
            <a:r>
              <a:rPr lang="en" sz="900"/>
              <a:t>session</a:t>
            </a:r>
            <a:endParaRPr sz="900"/>
          </a:p>
          <a:p>
            <a:pPr indent="-285750" lvl="0" marL="457200" rtl="0" algn="l">
              <a:lnSpc>
                <a:spcPct val="95000"/>
              </a:lnSpc>
              <a:spcBef>
                <a:spcPts val="1200"/>
              </a:spcBef>
              <a:spcAft>
                <a:spcPts val="0"/>
              </a:spcAft>
              <a:buSzPts val="900"/>
              <a:buChar char="●"/>
            </a:pPr>
            <a:r>
              <a:rPr lang="en" sz="900"/>
              <a:t>This is a good way of improving communication with random subteams and being able to help each other.</a:t>
            </a:r>
            <a:endParaRPr sz="900"/>
          </a:p>
          <a:p>
            <a:pPr indent="-285750" lvl="0" marL="457200" rtl="0" algn="l">
              <a:lnSpc>
                <a:spcPct val="95000"/>
              </a:lnSpc>
              <a:spcBef>
                <a:spcPts val="0"/>
              </a:spcBef>
              <a:spcAft>
                <a:spcPts val="0"/>
              </a:spcAft>
              <a:buSzPts val="900"/>
              <a:buChar char="●"/>
            </a:pPr>
            <a:r>
              <a:rPr lang="en" sz="900"/>
              <a:t>Your subteam will be assigned another subteam </a:t>
            </a:r>
            <a:endParaRPr sz="900"/>
          </a:p>
          <a:p>
            <a:pPr indent="-285750" lvl="0" marL="457200" rtl="0" algn="l">
              <a:lnSpc>
                <a:spcPct val="95000"/>
              </a:lnSpc>
              <a:spcBef>
                <a:spcPts val="0"/>
              </a:spcBef>
              <a:spcAft>
                <a:spcPts val="0"/>
              </a:spcAft>
              <a:buSzPts val="900"/>
              <a:buChar char="●"/>
            </a:pPr>
            <a:r>
              <a:rPr lang="en" sz="900"/>
              <a:t>You will create a doc and work with your subteam members to review the assigned subteam’s requirements and leave notes on specific requirements.</a:t>
            </a:r>
            <a:endParaRPr sz="900"/>
          </a:p>
          <a:p>
            <a:pPr indent="0" lvl="0" marL="0" rtl="0" algn="l">
              <a:lnSpc>
                <a:spcPct val="95000"/>
              </a:lnSpc>
              <a:spcBef>
                <a:spcPts val="1200"/>
              </a:spcBef>
              <a:spcAft>
                <a:spcPts val="0"/>
              </a:spcAft>
              <a:buNone/>
            </a:pPr>
            <a:r>
              <a:rPr lang="en" sz="900"/>
              <a:t>50 Ideas Assignment</a:t>
            </a:r>
            <a:endParaRPr sz="900"/>
          </a:p>
          <a:p>
            <a:pPr indent="-285750" lvl="0" marL="457200" rtl="0" algn="l">
              <a:lnSpc>
                <a:spcPct val="95000"/>
              </a:lnSpc>
              <a:spcBef>
                <a:spcPts val="1200"/>
              </a:spcBef>
              <a:spcAft>
                <a:spcPts val="0"/>
              </a:spcAft>
              <a:buSzPts val="900"/>
              <a:buChar char="●"/>
            </a:pPr>
            <a:r>
              <a:rPr lang="en" sz="900"/>
              <a:t>50 ideas for each sub team, they should be relevant to the subteam’s requirements.</a:t>
            </a:r>
            <a:endParaRPr sz="900"/>
          </a:p>
          <a:p>
            <a:pPr indent="-285750" lvl="0" marL="457200" rtl="0" algn="l">
              <a:lnSpc>
                <a:spcPct val="95000"/>
              </a:lnSpc>
              <a:spcBef>
                <a:spcPts val="0"/>
              </a:spcBef>
              <a:spcAft>
                <a:spcPts val="0"/>
              </a:spcAft>
              <a:buSzPts val="900"/>
              <a:buChar char="●"/>
            </a:pPr>
            <a:r>
              <a:rPr lang="en" sz="900"/>
              <a:t>You will able to find the “50 Ideas Assignment” google drawing document </a:t>
            </a:r>
            <a:endParaRPr sz="900"/>
          </a:p>
          <a:p>
            <a:pPr indent="-285750" lvl="0" marL="457200" rtl="0" algn="l">
              <a:lnSpc>
                <a:spcPct val="95000"/>
              </a:lnSpc>
              <a:spcBef>
                <a:spcPts val="0"/>
              </a:spcBef>
              <a:spcAft>
                <a:spcPts val="0"/>
              </a:spcAft>
              <a:buSzPts val="900"/>
              <a:buChar char="●"/>
            </a:pPr>
            <a:r>
              <a:rPr lang="en" sz="900"/>
              <a:t>Most robotics competition tend to aim for optimization of already existing designs without thinking outside the box.</a:t>
            </a:r>
            <a:endParaRPr sz="900"/>
          </a:p>
          <a:p>
            <a:pPr indent="-285750" lvl="0" marL="457200" rtl="0" algn="l">
              <a:lnSpc>
                <a:spcPct val="95000"/>
              </a:lnSpc>
              <a:spcBef>
                <a:spcPts val="0"/>
              </a:spcBef>
              <a:spcAft>
                <a:spcPts val="0"/>
              </a:spcAft>
              <a:buSzPts val="900"/>
              <a:buChar char="●"/>
            </a:pPr>
            <a:r>
              <a:rPr lang="en" sz="900"/>
              <a:t>We want to aim for creativity, thinking outside the box and having fun with this activity.</a:t>
            </a:r>
            <a:endParaRPr sz="900"/>
          </a:p>
          <a:p>
            <a:pPr indent="-285750" lvl="0" marL="457200" rtl="0" algn="l">
              <a:lnSpc>
                <a:spcPct val="95000"/>
              </a:lnSpc>
              <a:spcBef>
                <a:spcPts val="0"/>
              </a:spcBef>
              <a:spcAft>
                <a:spcPts val="0"/>
              </a:spcAft>
              <a:buSzPts val="900"/>
              <a:buChar char="●"/>
            </a:pPr>
            <a:r>
              <a:rPr lang="en" sz="900"/>
              <a:t>There are no bad ideas, no need to be too logical about it.</a:t>
            </a:r>
            <a:endParaRPr sz="900"/>
          </a:p>
          <a:p>
            <a:pPr indent="-285750" lvl="0" marL="457200" rtl="0" algn="l">
              <a:lnSpc>
                <a:spcPct val="95000"/>
              </a:lnSpc>
              <a:spcBef>
                <a:spcPts val="0"/>
              </a:spcBef>
              <a:spcAft>
                <a:spcPts val="0"/>
              </a:spcAft>
              <a:buSzPts val="900"/>
              <a:buChar char="●"/>
            </a:pPr>
            <a:r>
              <a:rPr lang="en" sz="900"/>
              <a:t>Zach had this assignment during high school, where he started brainstorming from specific focuses. Creating ideas based on specific problems. (REFER TO: links and files channel on Discord to check out how he did it)</a:t>
            </a:r>
            <a:endParaRPr sz="900"/>
          </a:p>
          <a:p>
            <a:pPr indent="0" lvl="0" marL="0" rtl="0" algn="l">
              <a:lnSpc>
                <a:spcPct val="95000"/>
              </a:lnSpc>
              <a:spcBef>
                <a:spcPts val="1200"/>
              </a:spcBef>
              <a:spcAft>
                <a:spcPts val="0"/>
              </a:spcAft>
              <a:buNone/>
            </a:pPr>
            <a:r>
              <a:t/>
            </a:r>
            <a:endParaRPr sz="900"/>
          </a:p>
          <a:p>
            <a:pPr indent="0" lvl="0" marL="0" rtl="0" algn="l">
              <a:lnSpc>
                <a:spcPct val="95000"/>
              </a:lnSpc>
              <a:spcBef>
                <a:spcPts val="1200"/>
              </a:spcBef>
              <a:spcAft>
                <a:spcPts val="1200"/>
              </a:spcAft>
              <a:buSzPts val="688"/>
              <a:buNone/>
            </a:pPr>
            <a:r>
              <a:t/>
            </a:r>
            <a:endParaRPr sz="975"/>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t>Team Meeting 7/28</a:t>
            </a:r>
            <a:r>
              <a:rPr lang="en"/>
              <a:t>   			Emily BWM &amp; Arjun Sawhney                           </a:t>
            </a:r>
            <a:endParaRPr u="sng"/>
          </a:p>
        </p:txBody>
      </p:sp>
      <p:sp>
        <p:nvSpPr>
          <p:cNvPr id="175" name="Google Shape;175;p29"/>
          <p:cNvSpPr txBox="1"/>
          <p:nvPr>
            <p:ph idx="1" type="body"/>
          </p:nvPr>
        </p:nvSpPr>
        <p:spPr>
          <a:xfrm>
            <a:off x="311700" y="1152475"/>
            <a:ext cx="2766900" cy="1106100"/>
          </a:xfrm>
          <a:prstGeom prst="rect">
            <a:avLst/>
          </a:prstGeom>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None/>
            </a:pPr>
            <a:r>
              <a:rPr b="1" lang="en" sz="1100">
                <a:solidFill>
                  <a:schemeClr val="dk1"/>
                </a:solidFill>
                <a:latin typeface="Helvetica Neue"/>
                <a:ea typeface="Helvetica Neue"/>
                <a:cs typeface="Helvetica Neue"/>
                <a:sym typeface="Helvetica Neue"/>
              </a:rPr>
              <a:t>Present Agenda:</a:t>
            </a:r>
            <a:endParaRPr b="1" sz="1100">
              <a:solidFill>
                <a:schemeClr val="dk1"/>
              </a:solidFill>
              <a:latin typeface="Helvetica Neue"/>
              <a:ea typeface="Helvetica Neue"/>
              <a:cs typeface="Helvetica Neue"/>
              <a:sym typeface="Helvetica Neue"/>
            </a:endParaRPr>
          </a:p>
          <a:p>
            <a:pPr indent="-293211" lvl="0" marL="457200" rtl="0" algn="l">
              <a:lnSpc>
                <a:spcPct val="115000"/>
              </a:lnSpc>
              <a:spcBef>
                <a:spcPts val="0"/>
              </a:spcBef>
              <a:spcAft>
                <a:spcPts val="0"/>
              </a:spcAft>
              <a:buClr>
                <a:schemeClr val="dk1"/>
              </a:buClr>
              <a:buSzPct val="100000"/>
              <a:buFont typeface="Helvetica Neue"/>
              <a:buChar char="❏"/>
            </a:pPr>
            <a:r>
              <a:rPr lang="en" sz="1100">
                <a:solidFill>
                  <a:schemeClr val="dk1"/>
                </a:solidFill>
                <a:latin typeface="Helvetica Neue"/>
                <a:ea typeface="Helvetica Neue"/>
                <a:cs typeface="Helvetica Neue"/>
                <a:sym typeface="Helvetica Neue"/>
              </a:rPr>
              <a:t>Pitching EnVision volunteering opportunity</a:t>
            </a:r>
            <a:endParaRPr sz="1100">
              <a:solidFill>
                <a:schemeClr val="dk1"/>
              </a:solidFill>
              <a:latin typeface="Helvetica Neue"/>
              <a:ea typeface="Helvetica Neue"/>
              <a:cs typeface="Helvetica Neue"/>
              <a:sym typeface="Helvetica Neue"/>
            </a:endParaRPr>
          </a:p>
          <a:p>
            <a:pPr indent="-293211" lvl="0" marL="457200" rtl="0" algn="l">
              <a:lnSpc>
                <a:spcPct val="115000"/>
              </a:lnSpc>
              <a:spcBef>
                <a:spcPts val="0"/>
              </a:spcBef>
              <a:spcAft>
                <a:spcPts val="0"/>
              </a:spcAft>
              <a:buClr>
                <a:schemeClr val="dk1"/>
              </a:buClr>
              <a:buSzPct val="100000"/>
              <a:buFont typeface="Helvetica Neue"/>
              <a:buChar char="❏"/>
            </a:pPr>
            <a:r>
              <a:rPr lang="en" sz="1100">
                <a:solidFill>
                  <a:schemeClr val="dk1"/>
                </a:solidFill>
                <a:latin typeface="Helvetica Neue"/>
                <a:ea typeface="Helvetica Neue"/>
                <a:cs typeface="Helvetica Neue"/>
                <a:sym typeface="Helvetica Neue"/>
              </a:rPr>
              <a:t>Subteam-to-subteam constructive criticism session!</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1100">
              <a:solidFill>
                <a:schemeClr val="dk1"/>
              </a:solidFill>
              <a:latin typeface="Helvetica Neue"/>
              <a:ea typeface="Helvetica Neue"/>
              <a:cs typeface="Helvetica Neue"/>
              <a:sym typeface="Helvetica Neue"/>
            </a:endParaRPr>
          </a:p>
        </p:txBody>
      </p:sp>
      <p:sp>
        <p:nvSpPr>
          <p:cNvPr id="176" name="Google Shape;176;p29"/>
          <p:cNvSpPr txBox="1"/>
          <p:nvPr>
            <p:ph idx="2" type="body"/>
          </p:nvPr>
        </p:nvSpPr>
        <p:spPr>
          <a:xfrm>
            <a:off x="2899750" y="1249375"/>
            <a:ext cx="61872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800"/>
              <a:t>SEC Volunteering Opportunity</a:t>
            </a:r>
            <a:endParaRPr sz="800"/>
          </a:p>
          <a:p>
            <a:pPr indent="-279400" lvl="0" marL="457200" rtl="0" algn="l">
              <a:lnSpc>
                <a:spcPct val="95000"/>
              </a:lnSpc>
              <a:spcBef>
                <a:spcPts val="1200"/>
              </a:spcBef>
              <a:spcAft>
                <a:spcPts val="0"/>
              </a:spcAft>
              <a:buSzPts val="800"/>
              <a:buChar char="●"/>
            </a:pPr>
            <a:r>
              <a:rPr lang="en" sz="800"/>
              <a:t>Event for elementary school students. </a:t>
            </a:r>
            <a:endParaRPr sz="800"/>
          </a:p>
          <a:p>
            <a:pPr indent="-279400" lvl="0" marL="457200" rtl="0" algn="l">
              <a:lnSpc>
                <a:spcPct val="95000"/>
              </a:lnSpc>
              <a:spcBef>
                <a:spcPts val="0"/>
              </a:spcBef>
              <a:spcAft>
                <a:spcPts val="0"/>
              </a:spcAft>
              <a:buSzPts val="800"/>
              <a:buChar char="●"/>
            </a:pPr>
            <a:r>
              <a:rPr lang="en" sz="800"/>
              <a:t>SEC reached out to us to set up an activity for these kids, Thinktank is interested in MATE ROV doing this </a:t>
            </a:r>
            <a:endParaRPr sz="800"/>
          </a:p>
          <a:p>
            <a:pPr indent="-279400" lvl="1" marL="914400" rtl="0" algn="l">
              <a:lnSpc>
                <a:spcPct val="95000"/>
              </a:lnSpc>
              <a:spcBef>
                <a:spcPts val="0"/>
              </a:spcBef>
              <a:spcAft>
                <a:spcPts val="0"/>
              </a:spcAft>
              <a:buSzPts val="800"/>
              <a:buChar char="○"/>
            </a:pPr>
            <a:r>
              <a:rPr lang="en" sz="800"/>
              <a:t>Implies making a 30 minute contest for elementary students</a:t>
            </a:r>
            <a:endParaRPr sz="800"/>
          </a:p>
          <a:p>
            <a:pPr indent="-279400" lvl="0" marL="457200" rtl="0" algn="l">
              <a:lnSpc>
                <a:spcPct val="95000"/>
              </a:lnSpc>
              <a:spcBef>
                <a:spcPts val="0"/>
              </a:spcBef>
              <a:spcAft>
                <a:spcPts val="0"/>
              </a:spcAft>
              <a:buSzPts val="800"/>
              <a:buChar char="●"/>
            </a:pPr>
            <a:r>
              <a:rPr lang="en" sz="800"/>
              <a:t>This opportunity could provide us bonus points for MATE ROV</a:t>
            </a:r>
            <a:endParaRPr sz="800"/>
          </a:p>
          <a:p>
            <a:pPr indent="-279400" lvl="0" marL="457200" rtl="0" algn="l">
              <a:lnSpc>
                <a:spcPct val="95000"/>
              </a:lnSpc>
              <a:spcBef>
                <a:spcPts val="0"/>
              </a:spcBef>
              <a:spcAft>
                <a:spcPts val="0"/>
              </a:spcAft>
              <a:buSzPts val="800"/>
              <a:buChar char="●"/>
            </a:pPr>
            <a:r>
              <a:rPr lang="en" sz="800"/>
              <a:t>Easy way to volunteer </a:t>
            </a:r>
            <a:endParaRPr sz="800"/>
          </a:p>
          <a:p>
            <a:pPr indent="-279400" lvl="0" marL="457200" rtl="0" algn="l">
              <a:lnSpc>
                <a:spcPct val="95000"/>
              </a:lnSpc>
              <a:spcBef>
                <a:spcPts val="0"/>
              </a:spcBef>
              <a:spcAft>
                <a:spcPts val="0"/>
              </a:spcAft>
              <a:buSzPts val="800"/>
              <a:buChar char="●"/>
            </a:pPr>
            <a:r>
              <a:rPr lang="en" sz="800"/>
              <a:t>This event will be on October 25th </a:t>
            </a:r>
            <a:endParaRPr sz="800"/>
          </a:p>
          <a:p>
            <a:pPr indent="-279400" lvl="0" marL="457200" rtl="0" algn="l">
              <a:lnSpc>
                <a:spcPct val="95000"/>
              </a:lnSpc>
              <a:spcBef>
                <a:spcPts val="0"/>
              </a:spcBef>
              <a:spcAft>
                <a:spcPts val="0"/>
              </a:spcAft>
              <a:buSzPts val="800"/>
              <a:buChar char="●"/>
            </a:pPr>
            <a:r>
              <a:rPr lang="en" sz="800"/>
              <a:t>We will need to provide a budget, idea, and other content</a:t>
            </a:r>
            <a:endParaRPr sz="800"/>
          </a:p>
          <a:p>
            <a:pPr indent="-279400" lvl="0" marL="457200" rtl="0" algn="l">
              <a:lnSpc>
                <a:spcPct val="95000"/>
              </a:lnSpc>
              <a:spcBef>
                <a:spcPts val="0"/>
              </a:spcBef>
              <a:spcAft>
                <a:spcPts val="0"/>
              </a:spcAft>
              <a:buSzPts val="800"/>
              <a:buChar char="●"/>
            </a:pPr>
            <a:r>
              <a:rPr lang="en" sz="800"/>
              <a:t>Creating a boat idea</a:t>
            </a:r>
            <a:endParaRPr sz="800"/>
          </a:p>
          <a:p>
            <a:pPr indent="-279400" lvl="0" marL="457200" rtl="0" algn="l">
              <a:lnSpc>
                <a:spcPct val="95000"/>
              </a:lnSpc>
              <a:spcBef>
                <a:spcPts val="0"/>
              </a:spcBef>
              <a:spcAft>
                <a:spcPts val="0"/>
              </a:spcAft>
              <a:buSzPts val="800"/>
              <a:buChar char="●"/>
            </a:pPr>
            <a:r>
              <a:rPr lang="en" sz="800"/>
              <a:t>Creating a filter with kids</a:t>
            </a:r>
            <a:endParaRPr sz="800"/>
          </a:p>
        </p:txBody>
      </p:sp>
      <p:sp>
        <p:nvSpPr>
          <p:cNvPr id="177" name="Google Shape;177;p29"/>
          <p:cNvSpPr txBox="1"/>
          <p:nvPr/>
        </p:nvSpPr>
        <p:spPr>
          <a:xfrm>
            <a:off x="133625" y="2311500"/>
            <a:ext cx="4580100" cy="25758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0"/>
              </a:spcBef>
              <a:spcAft>
                <a:spcPts val="0"/>
              </a:spcAft>
              <a:buNone/>
            </a:pPr>
            <a:r>
              <a:rPr lang="en" sz="900">
                <a:solidFill>
                  <a:schemeClr val="dk2"/>
                </a:solidFill>
              </a:rPr>
              <a:t>Subteam to subteam criticism session</a:t>
            </a:r>
            <a:endParaRPr sz="900">
              <a:solidFill>
                <a:schemeClr val="dk2"/>
              </a:solidFill>
            </a:endParaRPr>
          </a:p>
          <a:p>
            <a:pPr indent="-279400" lvl="0" marL="457200" rtl="0" algn="l">
              <a:lnSpc>
                <a:spcPct val="95000"/>
              </a:lnSpc>
              <a:spcBef>
                <a:spcPts val="1200"/>
              </a:spcBef>
              <a:spcAft>
                <a:spcPts val="0"/>
              </a:spcAft>
              <a:buClr>
                <a:schemeClr val="dk2"/>
              </a:buClr>
              <a:buSzPts val="800"/>
              <a:buChar char="●"/>
            </a:pPr>
            <a:r>
              <a:rPr lang="en" sz="800">
                <a:solidFill>
                  <a:schemeClr val="dk2"/>
                </a:solidFill>
              </a:rPr>
              <a:t>EPS on TMS requirements</a:t>
            </a:r>
            <a:endParaRPr sz="800">
              <a:solidFill>
                <a:schemeClr val="dk2"/>
              </a:solidFill>
            </a:endParaRPr>
          </a:p>
          <a:p>
            <a:pPr indent="-279400" lvl="1" marL="914400" rtl="0" algn="l">
              <a:lnSpc>
                <a:spcPct val="95000"/>
              </a:lnSpc>
              <a:spcBef>
                <a:spcPts val="0"/>
              </a:spcBef>
              <a:spcAft>
                <a:spcPts val="0"/>
              </a:spcAft>
              <a:buClr>
                <a:schemeClr val="dk2"/>
              </a:buClr>
              <a:buSzPts val="800"/>
              <a:buChar char="○"/>
            </a:pPr>
            <a:r>
              <a:rPr lang="en" sz="800">
                <a:solidFill>
                  <a:schemeClr val="dk2"/>
                </a:solidFill>
              </a:rPr>
              <a:t>TMS - 4.1.1., clarify the requirement if it means attachments or orientation</a:t>
            </a:r>
            <a:endParaRPr sz="800">
              <a:solidFill>
                <a:schemeClr val="dk2"/>
              </a:solidFill>
            </a:endParaRPr>
          </a:p>
          <a:p>
            <a:pPr indent="-279400" lvl="1" marL="914400" rtl="0" algn="l">
              <a:lnSpc>
                <a:spcPct val="95000"/>
              </a:lnSpc>
              <a:spcBef>
                <a:spcPts val="0"/>
              </a:spcBef>
              <a:spcAft>
                <a:spcPts val="0"/>
              </a:spcAft>
              <a:buClr>
                <a:schemeClr val="dk2"/>
              </a:buClr>
              <a:buSzPts val="800"/>
              <a:buChar char="○"/>
            </a:pPr>
            <a:r>
              <a:rPr lang="en" sz="800">
                <a:solidFill>
                  <a:schemeClr val="dk2"/>
                </a:solidFill>
              </a:rPr>
              <a:t>4.4.1 - specify minimum clearance distances</a:t>
            </a:r>
            <a:endParaRPr sz="800">
              <a:solidFill>
                <a:schemeClr val="dk2"/>
              </a:solidFill>
            </a:endParaRPr>
          </a:p>
          <a:p>
            <a:pPr indent="-279400" lvl="1" marL="914400" rtl="0" algn="l">
              <a:lnSpc>
                <a:spcPct val="95000"/>
              </a:lnSpc>
              <a:spcBef>
                <a:spcPts val="0"/>
              </a:spcBef>
              <a:spcAft>
                <a:spcPts val="0"/>
              </a:spcAft>
              <a:buClr>
                <a:schemeClr val="dk2"/>
              </a:buClr>
              <a:buSzPts val="800"/>
              <a:buChar char="○"/>
            </a:pPr>
            <a:r>
              <a:rPr lang="en" sz="800">
                <a:solidFill>
                  <a:schemeClr val="dk2"/>
                </a:solidFill>
              </a:rPr>
              <a:t>4.4.2. - define criteria for toxicity (OSHA standards)</a:t>
            </a:r>
            <a:endParaRPr sz="800">
              <a:solidFill>
                <a:schemeClr val="dk2"/>
              </a:solidFill>
            </a:endParaRPr>
          </a:p>
          <a:p>
            <a:pPr indent="-279400" lvl="1" marL="914400" rtl="0" algn="l">
              <a:lnSpc>
                <a:spcPct val="95000"/>
              </a:lnSpc>
              <a:spcBef>
                <a:spcPts val="0"/>
              </a:spcBef>
              <a:spcAft>
                <a:spcPts val="0"/>
              </a:spcAft>
              <a:buClr>
                <a:schemeClr val="dk2"/>
              </a:buClr>
              <a:buSzPts val="800"/>
              <a:buChar char="○"/>
            </a:pPr>
            <a:r>
              <a:rPr lang="en" sz="800">
                <a:solidFill>
                  <a:schemeClr val="dk2"/>
                </a:solidFill>
              </a:rPr>
              <a:t>4.7.1 - include why only 90% for compliance, TMS response: 5% allows for edge cases</a:t>
            </a:r>
            <a:endParaRPr sz="800">
              <a:solidFill>
                <a:schemeClr val="dk2"/>
              </a:solidFill>
            </a:endParaRPr>
          </a:p>
          <a:p>
            <a:pPr indent="-279400" lvl="1" marL="914400" rtl="0" algn="l">
              <a:lnSpc>
                <a:spcPct val="95000"/>
              </a:lnSpc>
              <a:spcBef>
                <a:spcPts val="0"/>
              </a:spcBef>
              <a:spcAft>
                <a:spcPts val="0"/>
              </a:spcAft>
              <a:buClr>
                <a:schemeClr val="dk2"/>
              </a:buClr>
              <a:buSzPts val="800"/>
              <a:buChar char="○"/>
            </a:pPr>
            <a:r>
              <a:rPr lang="en" sz="800">
                <a:solidFill>
                  <a:schemeClr val="dk2"/>
                </a:solidFill>
              </a:rPr>
              <a:t>4.7.3 - why does every part require the same sealing method, TMS response: misunderstanding</a:t>
            </a:r>
            <a:endParaRPr sz="800">
              <a:solidFill>
                <a:schemeClr val="dk2"/>
              </a:solidFill>
            </a:endParaRPr>
          </a:p>
          <a:p>
            <a:pPr indent="-279400" lvl="1" marL="914400" rtl="0" algn="l">
              <a:lnSpc>
                <a:spcPct val="95000"/>
              </a:lnSpc>
              <a:spcBef>
                <a:spcPts val="0"/>
              </a:spcBef>
              <a:spcAft>
                <a:spcPts val="0"/>
              </a:spcAft>
              <a:buClr>
                <a:schemeClr val="dk2"/>
              </a:buClr>
              <a:buSzPts val="800"/>
              <a:buChar char="○"/>
            </a:pPr>
            <a:r>
              <a:rPr lang="en" sz="800">
                <a:solidFill>
                  <a:schemeClr val="dk2"/>
                </a:solidFill>
              </a:rPr>
              <a:t>4.8.2 - try getting more specific</a:t>
            </a:r>
            <a:endParaRPr sz="800">
              <a:solidFill>
                <a:schemeClr val="dk2"/>
              </a:solidFill>
            </a:endParaRPr>
          </a:p>
          <a:p>
            <a:pPr indent="-279400" lvl="1" marL="914400" rtl="0" algn="l">
              <a:lnSpc>
                <a:spcPct val="95000"/>
              </a:lnSpc>
              <a:spcBef>
                <a:spcPts val="0"/>
              </a:spcBef>
              <a:spcAft>
                <a:spcPts val="0"/>
              </a:spcAft>
              <a:buClr>
                <a:schemeClr val="dk2"/>
              </a:buClr>
              <a:buSzPts val="800"/>
              <a:buChar char="○"/>
            </a:pPr>
            <a:r>
              <a:rPr lang="en" sz="800">
                <a:solidFill>
                  <a:schemeClr val="dk2"/>
                </a:solidFill>
                <a:highlight>
                  <a:srgbClr val="FFFF00"/>
                </a:highlight>
              </a:rPr>
              <a:t>As a team, misunderstanding requirements, we need to focus on making requirements on achieving things and not making solutions</a:t>
            </a:r>
            <a:endParaRPr sz="800">
              <a:solidFill>
                <a:schemeClr val="dk2"/>
              </a:solidFill>
              <a:highlight>
                <a:srgbClr val="FFFF00"/>
              </a:highlight>
            </a:endParaRPr>
          </a:p>
          <a:p>
            <a:pPr indent="-279400" lvl="0" marL="457200" rtl="0" algn="l">
              <a:lnSpc>
                <a:spcPct val="95000"/>
              </a:lnSpc>
              <a:spcBef>
                <a:spcPts val="0"/>
              </a:spcBef>
              <a:spcAft>
                <a:spcPts val="0"/>
              </a:spcAft>
              <a:buClr>
                <a:schemeClr val="dk2"/>
              </a:buClr>
              <a:buSzPts val="800"/>
              <a:buChar char="●"/>
            </a:pPr>
            <a:r>
              <a:rPr lang="en" sz="800">
                <a:solidFill>
                  <a:schemeClr val="dk2"/>
                </a:solidFill>
              </a:rPr>
              <a:t>TMS on C&amp;C requirements</a:t>
            </a:r>
            <a:endParaRPr sz="800">
              <a:solidFill>
                <a:schemeClr val="dk2"/>
              </a:solidFill>
            </a:endParaRPr>
          </a:p>
          <a:p>
            <a:pPr indent="-279400" lvl="1" marL="914400" rtl="0" algn="l">
              <a:lnSpc>
                <a:spcPct val="95000"/>
              </a:lnSpc>
              <a:spcBef>
                <a:spcPts val="0"/>
              </a:spcBef>
              <a:spcAft>
                <a:spcPts val="0"/>
              </a:spcAft>
              <a:buClr>
                <a:schemeClr val="dk2"/>
              </a:buClr>
              <a:buSzPts val="800"/>
              <a:buChar char="○"/>
            </a:pPr>
            <a:r>
              <a:rPr lang="en" sz="800">
                <a:solidFill>
                  <a:schemeClr val="dk2"/>
                </a:solidFill>
              </a:rPr>
              <a:t>Typo errors, lack of parent requirements</a:t>
            </a:r>
            <a:endParaRPr sz="800">
              <a:solidFill>
                <a:schemeClr val="dk2"/>
              </a:solidFill>
            </a:endParaRPr>
          </a:p>
          <a:p>
            <a:pPr indent="-279400" lvl="1" marL="914400" rtl="0" algn="l">
              <a:lnSpc>
                <a:spcPct val="95000"/>
              </a:lnSpc>
              <a:spcBef>
                <a:spcPts val="0"/>
              </a:spcBef>
              <a:spcAft>
                <a:spcPts val="0"/>
              </a:spcAft>
              <a:buClr>
                <a:schemeClr val="dk2"/>
              </a:buClr>
              <a:buSzPts val="800"/>
              <a:buChar char="○"/>
            </a:pPr>
            <a:r>
              <a:rPr lang="en" sz="800">
                <a:solidFill>
                  <a:schemeClr val="dk2"/>
                </a:solidFill>
              </a:rPr>
              <a:t>Do not assume the existence of an item without it being a requirement</a:t>
            </a:r>
            <a:endParaRPr sz="800">
              <a:solidFill>
                <a:schemeClr val="dk2"/>
              </a:solidFill>
            </a:endParaRPr>
          </a:p>
          <a:p>
            <a:pPr indent="-279400" lvl="1" marL="914400" rtl="0" algn="l">
              <a:lnSpc>
                <a:spcPct val="95000"/>
              </a:lnSpc>
              <a:spcBef>
                <a:spcPts val="0"/>
              </a:spcBef>
              <a:spcAft>
                <a:spcPts val="0"/>
              </a:spcAft>
              <a:buClr>
                <a:schemeClr val="dk2"/>
              </a:buClr>
              <a:buSzPts val="800"/>
              <a:buChar char="○"/>
            </a:pPr>
            <a:r>
              <a:rPr lang="en" sz="800">
                <a:solidFill>
                  <a:schemeClr val="dk2"/>
                </a:solidFill>
              </a:rPr>
              <a:t>Some requirements try to attempt multiple issues - divide them</a:t>
            </a:r>
            <a:endParaRPr sz="800">
              <a:solidFill>
                <a:schemeClr val="dk2"/>
              </a:solidFill>
            </a:endParaRPr>
          </a:p>
          <a:p>
            <a:pPr indent="-279400" lvl="1" marL="914400" rtl="0" algn="l">
              <a:lnSpc>
                <a:spcPct val="95000"/>
              </a:lnSpc>
              <a:spcBef>
                <a:spcPts val="0"/>
              </a:spcBef>
              <a:spcAft>
                <a:spcPts val="0"/>
              </a:spcAft>
              <a:buClr>
                <a:schemeClr val="dk2"/>
              </a:buClr>
              <a:buSzPts val="800"/>
              <a:buChar char="○"/>
            </a:pPr>
            <a:r>
              <a:rPr lang="en" sz="800">
                <a:solidFill>
                  <a:schemeClr val="dk2"/>
                </a:solidFill>
              </a:rPr>
              <a:t>Some requirements are missing citations, and some citations are missing </a:t>
            </a:r>
            <a:endParaRPr sz="800">
              <a:solidFill>
                <a:schemeClr val="dk2"/>
              </a:solidFill>
            </a:endParaRPr>
          </a:p>
          <a:p>
            <a:pPr indent="-279400" lvl="1" marL="914400" rtl="0" algn="l">
              <a:lnSpc>
                <a:spcPct val="95000"/>
              </a:lnSpc>
              <a:spcBef>
                <a:spcPts val="0"/>
              </a:spcBef>
              <a:spcAft>
                <a:spcPts val="0"/>
              </a:spcAft>
              <a:buClr>
                <a:schemeClr val="dk2"/>
              </a:buClr>
              <a:buSzPts val="800"/>
              <a:buChar char="○"/>
            </a:pPr>
            <a:r>
              <a:rPr lang="en" sz="800">
                <a:solidFill>
                  <a:schemeClr val="dk2"/>
                </a:solidFill>
              </a:rPr>
              <a:t>Some requirements are not solution-neutral or quantifiable</a:t>
            </a:r>
            <a:endParaRPr sz="800">
              <a:solidFill>
                <a:schemeClr val="dk2"/>
              </a:solidFill>
            </a:endParaRPr>
          </a:p>
          <a:p>
            <a:pPr indent="-279400" lvl="1" marL="914400" rtl="0" algn="l">
              <a:lnSpc>
                <a:spcPct val="95000"/>
              </a:lnSpc>
              <a:spcBef>
                <a:spcPts val="0"/>
              </a:spcBef>
              <a:spcAft>
                <a:spcPts val="0"/>
              </a:spcAft>
              <a:buClr>
                <a:schemeClr val="dk2"/>
              </a:buClr>
              <a:buSzPts val="800"/>
              <a:buChar char="○"/>
            </a:pPr>
            <a:r>
              <a:rPr lang="en" sz="800">
                <a:solidFill>
                  <a:schemeClr val="dk2"/>
                </a:solidFill>
              </a:rPr>
              <a:t>Needs clarification generally</a:t>
            </a:r>
            <a:endParaRPr sz="800">
              <a:solidFill>
                <a:schemeClr val="dk2"/>
              </a:solidFill>
            </a:endParaRPr>
          </a:p>
        </p:txBody>
      </p:sp>
      <p:sp>
        <p:nvSpPr>
          <p:cNvPr id="178" name="Google Shape;178;p29"/>
          <p:cNvSpPr txBox="1"/>
          <p:nvPr/>
        </p:nvSpPr>
        <p:spPr>
          <a:xfrm>
            <a:off x="4493625" y="2438425"/>
            <a:ext cx="4687500" cy="2056500"/>
          </a:xfrm>
          <a:prstGeom prst="rect">
            <a:avLst/>
          </a:prstGeom>
          <a:noFill/>
          <a:ln>
            <a:noFill/>
          </a:ln>
        </p:spPr>
        <p:txBody>
          <a:bodyPr anchorCtr="0" anchor="t" bIns="91425" lIns="91425" spcFirstLastPara="1" rIns="91425" wrap="square" tIns="91425">
            <a:spAutoFit/>
          </a:bodyPr>
          <a:lstStyle/>
          <a:p>
            <a:pPr indent="-279400" lvl="0" marL="457200" rtl="0" algn="l">
              <a:lnSpc>
                <a:spcPct val="95000"/>
              </a:lnSpc>
              <a:spcBef>
                <a:spcPts val="0"/>
              </a:spcBef>
              <a:spcAft>
                <a:spcPts val="0"/>
              </a:spcAft>
              <a:buClr>
                <a:schemeClr val="dk2"/>
              </a:buClr>
              <a:buSzPts val="800"/>
              <a:buChar char="●"/>
            </a:pPr>
            <a:r>
              <a:rPr lang="en" sz="800">
                <a:solidFill>
                  <a:schemeClr val="dk2"/>
                </a:solidFill>
              </a:rPr>
              <a:t>C&amp;C on GNC</a:t>
            </a:r>
            <a:endParaRPr sz="800">
              <a:solidFill>
                <a:schemeClr val="dk2"/>
              </a:solidFill>
            </a:endParaRPr>
          </a:p>
          <a:p>
            <a:pPr indent="-279400" lvl="1" marL="914400" rtl="0" algn="l">
              <a:lnSpc>
                <a:spcPct val="95000"/>
              </a:lnSpc>
              <a:spcBef>
                <a:spcPts val="0"/>
              </a:spcBef>
              <a:spcAft>
                <a:spcPts val="0"/>
              </a:spcAft>
              <a:buClr>
                <a:schemeClr val="dk2"/>
              </a:buClr>
              <a:buSzPts val="800"/>
              <a:buChar char="○"/>
            </a:pPr>
            <a:r>
              <a:rPr lang="en" sz="800">
                <a:solidFill>
                  <a:schemeClr val="dk2"/>
                </a:solidFill>
              </a:rPr>
              <a:t>Some requirements are solution-oriented</a:t>
            </a:r>
            <a:endParaRPr sz="800">
              <a:solidFill>
                <a:schemeClr val="dk2"/>
              </a:solidFill>
            </a:endParaRPr>
          </a:p>
          <a:p>
            <a:pPr indent="-279400" lvl="1" marL="914400" rtl="0" algn="l">
              <a:lnSpc>
                <a:spcPct val="95000"/>
              </a:lnSpc>
              <a:spcBef>
                <a:spcPts val="0"/>
              </a:spcBef>
              <a:spcAft>
                <a:spcPts val="0"/>
              </a:spcAft>
              <a:buClr>
                <a:schemeClr val="dk2"/>
              </a:buClr>
              <a:buSzPts val="800"/>
              <a:buChar char="○"/>
            </a:pPr>
            <a:r>
              <a:rPr lang="en" sz="800">
                <a:solidFill>
                  <a:schemeClr val="dk2"/>
                </a:solidFill>
              </a:rPr>
              <a:t>Also some rationale within some of the requirements, good stuff just in the wrong place</a:t>
            </a:r>
            <a:endParaRPr sz="800">
              <a:solidFill>
                <a:schemeClr val="dk2"/>
              </a:solidFill>
            </a:endParaRPr>
          </a:p>
          <a:p>
            <a:pPr indent="-279400" lvl="1" marL="914400" rtl="0" algn="l">
              <a:lnSpc>
                <a:spcPct val="95000"/>
              </a:lnSpc>
              <a:spcBef>
                <a:spcPts val="0"/>
              </a:spcBef>
              <a:spcAft>
                <a:spcPts val="0"/>
              </a:spcAft>
              <a:buClr>
                <a:schemeClr val="dk2"/>
              </a:buClr>
              <a:buSzPts val="800"/>
              <a:buChar char="○"/>
            </a:pPr>
            <a:r>
              <a:rPr lang="en" sz="800">
                <a:solidFill>
                  <a:schemeClr val="dk2"/>
                </a:solidFill>
              </a:rPr>
              <a:t>Just generally some more clarity on sensors, what do we want to </a:t>
            </a:r>
            <a:r>
              <a:rPr lang="en" sz="800">
                <a:solidFill>
                  <a:schemeClr val="dk2"/>
                </a:solidFill>
              </a:rPr>
              <a:t>measure?</a:t>
            </a:r>
            <a:endParaRPr sz="800">
              <a:solidFill>
                <a:schemeClr val="dk2"/>
              </a:solidFill>
            </a:endParaRPr>
          </a:p>
          <a:p>
            <a:pPr indent="-279400" lvl="1" marL="914400" rtl="0" algn="l">
              <a:lnSpc>
                <a:spcPct val="95000"/>
              </a:lnSpc>
              <a:spcBef>
                <a:spcPts val="0"/>
              </a:spcBef>
              <a:spcAft>
                <a:spcPts val="0"/>
              </a:spcAft>
              <a:buClr>
                <a:schemeClr val="dk2"/>
              </a:buClr>
              <a:buSzPts val="800"/>
              <a:buChar char="○"/>
            </a:pPr>
            <a:r>
              <a:rPr lang="en" sz="800">
                <a:solidFill>
                  <a:schemeClr val="dk2"/>
                </a:solidFill>
              </a:rPr>
              <a:t>Handful of requirements are also relying on certain solutions already being provided, try to avoid that</a:t>
            </a:r>
            <a:endParaRPr sz="800">
              <a:solidFill>
                <a:schemeClr val="dk2"/>
              </a:solidFill>
            </a:endParaRPr>
          </a:p>
          <a:p>
            <a:pPr indent="-279400" lvl="0" marL="457200" rtl="0" algn="l">
              <a:lnSpc>
                <a:spcPct val="95000"/>
              </a:lnSpc>
              <a:spcBef>
                <a:spcPts val="0"/>
              </a:spcBef>
              <a:spcAft>
                <a:spcPts val="0"/>
              </a:spcAft>
              <a:buClr>
                <a:schemeClr val="dk2"/>
              </a:buClr>
              <a:buSzPts val="800"/>
              <a:buChar char="●"/>
            </a:pPr>
            <a:r>
              <a:rPr lang="en" sz="800">
                <a:solidFill>
                  <a:schemeClr val="dk2"/>
                </a:solidFill>
              </a:rPr>
              <a:t>GNC on F&amp;P</a:t>
            </a:r>
            <a:endParaRPr sz="800">
              <a:solidFill>
                <a:schemeClr val="dk2"/>
              </a:solidFill>
            </a:endParaRPr>
          </a:p>
          <a:p>
            <a:pPr indent="-279400" lvl="1" marL="914400" rtl="0" algn="l">
              <a:lnSpc>
                <a:spcPct val="95000"/>
              </a:lnSpc>
              <a:spcBef>
                <a:spcPts val="0"/>
              </a:spcBef>
              <a:spcAft>
                <a:spcPts val="0"/>
              </a:spcAft>
              <a:buClr>
                <a:schemeClr val="dk2"/>
              </a:buClr>
              <a:buSzPts val="800"/>
              <a:buChar char="○"/>
            </a:pPr>
            <a:r>
              <a:rPr lang="en" sz="800">
                <a:solidFill>
                  <a:schemeClr val="dk2"/>
                </a:solidFill>
              </a:rPr>
              <a:t>Estimates/ranges can be used for requirements in 6.1</a:t>
            </a:r>
            <a:endParaRPr sz="800">
              <a:solidFill>
                <a:schemeClr val="dk2"/>
              </a:solidFill>
            </a:endParaRPr>
          </a:p>
          <a:p>
            <a:pPr indent="-279400" lvl="1" marL="914400" rtl="0" algn="l">
              <a:lnSpc>
                <a:spcPct val="95000"/>
              </a:lnSpc>
              <a:spcBef>
                <a:spcPts val="0"/>
              </a:spcBef>
              <a:spcAft>
                <a:spcPts val="0"/>
              </a:spcAft>
              <a:buClr>
                <a:schemeClr val="dk2"/>
              </a:buClr>
              <a:buSzPts val="800"/>
              <a:buChar char="○"/>
            </a:pPr>
            <a:r>
              <a:rPr lang="en" sz="800">
                <a:solidFill>
                  <a:schemeClr val="dk2"/>
                </a:solidFill>
              </a:rPr>
              <a:t>Communicate with EPS to determine power envelope usage</a:t>
            </a:r>
            <a:endParaRPr sz="800">
              <a:solidFill>
                <a:schemeClr val="dk2"/>
              </a:solidFill>
            </a:endParaRPr>
          </a:p>
          <a:p>
            <a:pPr indent="-279400" lvl="1" marL="914400" rtl="0" algn="l">
              <a:lnSpc>
                <a:spcPct val="95000"/>
              </a:lnSpc>
              <a:spcBef>
                <a:spcPts val="0"/>
              </a:spcBef>
              <a:spcAft>
                <a:spcPts val="0"/>
              </a:spcAft>
              <a:buClr>
                <a:schemeClr val="dk2"/>
              </a:buClr>
              <a:buSzPts val="800"/>
              <a:buChar char="○"/>
            </a:pPr>
            <a:r>
              <a:rPr lang="en" sz="800">
                <a:solidFill>
                  <a:schemeClr val="dk2"/>
                </a:solidFill>
              </a:rPr>
              <a:t>Increase specificity if possible without being solution-oriented</a:t>
            </a:r>
            <a:endParaRPr sz="800">
              <a:solidFill>
                <a:schemeClr val="dk2"/>
              </a:solidFill>
            </a:endParaRPr>
          </a:p>
          <a:p>
            <a:pPr indent="-279400" lvl="0" marL="457200" rtl="0" algn="l">
              <a:lnSpc>
                <a:spcPct val="95000"/>
              </a:lnSpc>
              <a:spcBef>
                <a:spcPts val="0"/>
              </a:spcBef>
              <a:spcAft>
                <a:spcPts val="0"/>
              </a:spcAft>
              <a:buClr>
                <a:schemeClr val="dk2"/>
              </a:buClr>
              <a:buSzPts val="800"/>
              <a:buChar char="●"/>
            </a:pPr>
            <a:r>
              <a:rPr lang="en" sz="800">
                <a:solidFill>
                  <a:schemeClr val="dk2"/>
                </a:solidFill>
              </a:rPr>
              <a:t>F&amp;P on EPS</a:t>
            </a:r>
            <a:endParaRPr sz="800">
              <a:solidFill>
                <a:schemeClr val="dk2"/>
              </a:solidFill>
            </a:endParaRPr>
          </a:p>
          <a:p>
            <a:pPr indent="-279400" lvl="1" marL="914400" rtl="0" algn="l">
              <a:lnSpc>
                <a:spcPct val="95000"/>
              </a:lnSpc>
              <a:spcBef>
                <a:spcPts val="0"/>
              </a:spcBef>
              <a:spcAft>
                <a:spcPts val="0"/>
              </a:spcAft>
              <a:buClr>
                <a:schemeClr val="dk2"/>
              </a:buClr>
              <a:buSzPts val="800"/>
              <a:buChar char="○"/>
            </a:pPr>
            <a:r>
              <a:rPr lang="en" sz="800">
                <a:solidFill>
                  <a:schemeClr val="dk2"/>
                </a:solidFill>
              </a:rPr>
              <a:t>Specificity regarding some requirements would be good</a:t>
            </a:r>
            <a:endParaRPr sz="800">
              <a:solidFill>
                <a:schemeClr val="dk2"/>
              </a:solidFill>
            </a:endParaRPr>
          </a:p>
          <a:p>
            <a:pPr indent="-279400" lvl="1" marL="914400" rtl="0" algn="l">
              <a:lnSpc>
                <a:spcPct val="95000"/>
              </a:lnSpc>
              <a:spcBef>
                <a:spcPts val="0"/>
              </a:spcBef>
              <a:spcAft>
                <a:spcPts val="0"/>
              </a:spcAft>
              <a:buClr>
                <a:schemeClr val="dk2"/>
              </a:buClr>
              <a:buSzPts val="800"/>
              <a:buChar char="○"/>
            </a:pPr>
            <a:r>
              <a:rPr lang="en" sz="800">
                <a:solidFill>
                  <a:schemeClr val="dk2"/>
                </a:solidFill>
              </a:rPr>
              <a:t>Generally more values or ranges would also be helpful for specificity</a:t>
            </a:r>
            <a:endParaRPr sz="800">
              <a:solidFill>
                <a:schemeClr val="dk2"/>
              </a:solidFill>
            </a:endParaRPr>
          </a:p>
          <a:p>
            <a:pPr indent="-279400" lvl="1" marL="914400" rtl="0" algn="l">
              <a:lnSpc>
                <a:spcPct val="95000"/>
              </a:lnSpc>
              <a:spcBef>
                <a:spcPts val="0"/>
              </a:spcBef>
              <a:spcAft>
                <a:spcPts val="0"/>
              </a:spcAft>
              <a:buClr>
                <a:schemeClr val="dk2"/>
              </a:buClr>
              <a:buSzPts val="800"/>
              <a:buChar char="○"/>
            </a:pPr>
            <a:r>
              <a:rPr lang="en" sz="800">
                <a:solidFill>
                  <a:schemeClr val="dk2"/>
                </a:solidFill>
              </a:rPr>
              <a:t>EPS response: To avoid being solution-oriented, will leave some requirements, but some number specificity will be looked into</a:t>
            </a:r>
            <a:endParaRPr sz="800">
              <a:solidFill>
                <a:schemeClr val="dk2"/>
              </a:solidFill>
            </a:endParaRPr>
          </a:p>
        </p:txBody>
      </p:sp>
      <p:sp>
        <p:nvSpPr>
          <p:cNvPr id="179" name="Google Shape;179;p29"/>
          <p:cNvSpPr txBox="1"/>
          <p:nvPr/>
        </p:nvSpPr>
        <p:spPr>
          <a:xfrm>
            <a:off x="193000" y="4777250"/>
            <a:ext cx="7405800" cy="447900"/>
          </a:xfrm>
          <a:prstGeom prst="rect">
            <a:avLst/>
          </a:prstGeom>
          <a:noFill/>
          <a:ln>
            <a:noFill/>
          </a:ln>
        </p:spPr>
        <p:txBody>
          <a:bodyPr anchorCtr="0" anchor="t" bIns="91425" lIns="91425" spcFirstLastPara="1" rIns="91425" wrap="square" tIns="91425">
            <a:spAutoFit/>
          </a:bodyPr>
          <a:lstStyle/>
          <a:p>
            <a:pPr indent="-285750" lvl="0" marL="457200" rtl="0" algn="l">
              <a:lnSpc>
                <a:spcPct val="95000"/>
              </a:lnSpc>
              <a:spcBef>
                <a:spcPts val="0"/>
              </a:spcBef>
              <a:spcAft>
                <a:spcPts val="0"/>
              </a:spcAft>
              <a:buClr>
                <a:schemeClr val="dk2"/>
              </a:buClr>
              <a:buSzPts val="900"/>
              <a:buChar char="●"/>
            </a:pPr>
            <a:r>
              <a:rPr lang="en" sz="900">
                <a:solidFill>
                  <a:schemeClr val="dk2"/>
                </a:solidFill>
              </a:rPr>
              <a:t>Highlight in </a:t>
            </a:r>
            <a:r>
              <a:rPr lang="en" sz="900">
                <a:solidFill>
                  <a:schemeClr val="dk2"/>
                </a:solidFill>
                <a:highlight>
                  <a:srgbClr val="00FF00"/>
                </a:highlight>
              </a:rPr>
              <a:t>green</a:t>
            </a:r>
            <a:r>
              <a:rPr lang="en" sz="900">
                <a:solidFill>
                  <a:schemeClr val="dk2"/>
                </a:solidFill>
              </a:rPr>
              <a:t>, the requirements that are subject to change once the 2025-2026 handbook released</a:t>
            </a:r>
            <a:endParaRPr sz="900">
              <a:solidFill>
                <a:schemeClr val="dk2"/>
              </a:solidFill>
            </a:endParaRPr>
          </a:p>
          <a:p>
            <a:pPr indent="-285750" lvl="0" marL="457200" rtl="0" algn="l">
              <a:lnSpc>
                <a:spcPct val="95000"/>
              </a:lnSpc>
              <a:spcBef>
                <a:spcPts val="0"/>
              </a:spcBef>
              <a:spcAft>
                <a:spcPts val="0"/>
              </a:spcAft>
              <a:buClr>
                <a:schemeClr val="dk2"/>
              </a:buClr>
              <a:buSzPts val="900"/>
              <a:buChar char="●"/>
            </a:pPr>
            <a:r>
              <a:rPr lang="en" sz="900">
                <a:solidFill>
                  <a:schemeClr val="dk2"/>
                </a:solidFill>
              </a:rPr>
              <a:t>Be complete with 50 ideas assignment in two weeks, use whichever format that is most practical for you!</a:t>
            </a:r>
            <a:endParaRPr sz="9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t>Team Meeting 8/4</a:t>
            </a:r>
            <a:r>
              <a:rPr lang="en"/>
              <a:t>                               Emily BWM</a:t>
            </a:r>
            <a:endParaRPr u="sng"/>
          </a:p>
        </p:txBody>
      </p:sp>
      <p:sp>
        <p:nvSpPr>
          <p:cNvPr id="185" name="Google Shape;185;p30"/>
          <p:cNvSpPr txBox="1"/>
          <p:nvPr>
            <p:ph idx="1" type="body"/>
          </p:nvPr>
        </p:nvSpPr>
        <p:spPr>
          <a:xfrm>
            <a:off x="311700" y="1152475"/>
            <a:ext cx="2766900" cy="11061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chemeClr val="dk1"/>
                </a:solidFill>
                <a:latin typeface="Helvetica Neue"/>
                <a:ea typeface="Helvetica Neue"/>
                <a:cs typeface="Helvetica Neue"/>
                <a:sym typeface="Helvetica Neue"/>
              </a:rPr>
              <a:t>Present Agenda:</a:t>
            </a:r>
            <a:endParaRPr b="1"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Team Presentation when we return in the Fall to ThinkTank</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1100">
              <a:solidFill>
                <a:schemeClr val="dk1"/>
              </a:solidFill>
              <a:latin typeface="Helvetica Neue"/>
              <a:ea typeface="Helvetica Neue"/>
              <a:cs typeface="Helvetica Neue"/>
              <a:sym typeface="Helvetica Neue"/>
            </a:endParaRPr>
          </a:p>
        </p:txBody>
      </p:sp>
      <p:sp>
        <p:nvSpPr>
          <p:cNvPr id="186" name="Google Shape;186;p30"/>
          <p:cNvSpPr txBox="1"/>
          <p:nvPr>
            <p:ph idx="2" type="body"/>
          </p:nvPr>
        </p:nvSpPr>
        <p:spPr>
          <a:xfrm>
            <a:off x="2858100" y="906650"/>
            <a:ext cx="61872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100">
              <a:solidFill>
                <a:schemeClr val="dk1"/>
              </a:solidFill>
            </a:endParaRPr>
          </a:p>
          <a:p>
            <a:pPr indent="-285750" lvl="0" marL="457200" rtl="0" algn="l">
              <a:spcBef>
                <a:spcPts val="0"/>
              </a:spcBef>
              <a:spcAft>
                <a:spcPts val="0"/>
              </a:spcAft>
              <a:buSzPts val="900"/>
              <a:buChar char="●"/>
            </a:pPr>
            <a:r>
              <a:rPr lang="en" sz="1100">
                <a:solidFill>
                  <a:schemeClr val="dk1"/>
                </a:solidFill>
              </a:rPr>
              <a:t>We are applying for this volunteering opportunity where we will be working with kids. We will provide them some fun STEM related activity.And if you want to participate in this opportunity, just reach out to me or to Zach.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285750" lvl="0" marL="457200" rtl="0" algn="l">
              <a:spcBef>
                <a:spcPts val="0"/>
              </a:spcBef>
              <a:spcAft>
                <a:spcPts val="0"/>
              </a:spcAft>
              <a:buSzPts val="900"/>
              <a:buChar char="●"/>
            </a:pPr>
            <a:r>
              <a:rPr lang="en" sz="1100">
                <a:solidFill>
                  <a:schemeClr val="dk1"/>
                </a:solidFill>
              </a:rPr>
              <a:t>This opportunity will be perfect for the </a:t>
            </a:r>
            <a:r>
              <a:rPr lang="en" sz="1100">
                <a:solidFill>
                  <a:schemeClr val="dk1"/>
                </a:solidFill>
              </a:rPr>
              <a:t>Corporate</a:t>
            </a:r>
            <a:r>
              <a:rPr lang="en" sz="1100">
                <a:solidFill>
                  <a:schemeClr val="dk1"/>
                </a:solidFill>
              </a:rPr>
              <a:t> responsibility section that MATE ROV provided to previous competitions, so this will a productive way of getting things done for this section.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285750" lvl="0" marL="457200" rtl="0" algn="l">
              <a:spcBef>
                <a:spcPts val="0"/>
              </a:spcBef>
              <a:spcAft>
                <a:spcPts val="0"/>
              </a:spcAft>
              <a:buSzPts val="900"/>
              <a:buChar char="●"/>
            </a:pPr>
            <a:r>
              <a:rPr lang="en" sz="1100">
                <a:solidFill>
                  <a:schemeClr val="dk1"/>
                </a:solidFill>
              </a:rPr>
              <a:t>ThinkTank wants us to present our summer progress. Zach and I will be in charge of the formatting, content, and providing you guys with guidance and answers for your questions </a:t>
            </a:r>
            <a:r>
              <a:rPr lang="en" sz="1100">
                <a:solidFill>
                  <a:schemeClr val="dk1"/>
                </a:solidFill>
              </a:rPr>
              <a:t>regarding</a:t>
            </a:r>
            <a:r>
              <a:rPr lang="en" sz="1100">
                <a:solidFill>
                  <a:schemeClr val="dk1"/>
                </a:solidFill>
              </a:rPr>
              <a:t> this presentation. One thing is that ThinkTank didn’t provide much details yet, we only know that they want us to present our progress during the first two weeks of the upcoming semester.</a:t>
            </a:r>
            <a:endParaRPr sz="1100">
              <a:solidFill>
                <a:schemeClr val="dk1"/>
              </a:solidFill>
            </a:endParaRPr>
          </a:p>
          <a:p>
            <a:pPr indent="-285750" lvl="0" marL="457200" rtl="0" algn="l">
              <a:spcBef>
                <a:spcPts val="0"/>
              </a:spcBef>
              <a:spcAft>
                <a:spcPts val="0"/>
              </a:spcAft>
              <a:buSzPts val="900"/>
              <a:buChar char="●"/>
            </a:pPr>
            <a:r>
              <a:rPr lang="en" sz="1100">
                <a:solidFill>
                  <a:schemeClr val="dk1"/>
                </a:solidFill>
              </a:rPr>
              <a:t>EPS focused on 50 ideas assignment, each person puts ideas down and chose </a:t>
            </a:r>
            <a:endParaRPr sz="1100">
              <a:solidFill>
                <a:schemeClr val="dk1"/>
              </a:solidFill>
            </a:endParaRPr>
          </a:p>
          <a:p>
            <a:pPr indent="-285750" lvl="0" marL="457200" rtl="0" algn="l">
              <a:spcBef>
                <a:spcPts val="0"/>
              </a:spcBef>
              <a:spcAft>
                <a:spcPts val="0"/>
              </a:spcAft>
              <a:buSzPts val="900"/>
              <a:buChar char="●"/>
            </a:pPr>
            <a:r>
              <a:rPr lang="en" sz="1100">
                <a:solidFill>
                  <a:schemeClr val="dk1"/>
                </a:solidFill>
              </a:rPr>
              <a:t>TMS is working individually as many ideas as we can and we will reflect on them next meeting</a:t>
            </a:r>
            <a:endParaRPr sz="1100">
              <a:solidFill>
                <a:schemeClr val="dk1"/>
              </a:solidFill>
            </a:endParaRPr>
          </a:p>
          <a:p>
            <a:pPr indent="-285750" lvl="0" marL="457200" rtl="0" algn="l">
              <a:spcBef>
                <a:spcPts val="0"/>
              </a:spcBef>
              <a:spcAft>
                <a:spcPts val="0"/>
              </a:spcAft>
              <a:buSzPts val="900"/>
              <a:buChar char="●"/>
            </a:pPr>
            <a:r>
              <a:rPr lang="en" sz="1100">
                <a:solidFill>
                  <a:schemeClr val="dk1"/>
                </a:solidFill>
              </a:rPr>
              <a:t>C&amp;C put together the google drawing document</a:t>
            </a:r>
            <a:endParaRPr sz="1100">
              <a:solidFill>
                <a:schemeClr val="dk1"/>
              </a:solidFill>
            </a:endParaRPr>
          </a:p>
          <a:p>
            <a:pPr indent="-285750" lvl="0" marL="457200" rtl="0" algn="l">
              <a:spcBef>
                <a:spcPts val="0"/>
              </a:spcBef>
              <a:spcAft>
                <a:spcPts val="0"/>
              </a:spcAft>
              <a:buSzPts val="900"/>
              <a:buChar char="●"/>
            </a:pPr>
            <a:r>
              <a:rPr lang="en" sz="1100">
                <a:solidFill>
                  <a:schemeClr val="dk1"/>
                </a:solidFill>
              </a:rPr>
              <a:t>F&amp;P used canva to work on ideas, 50 slides. </a:t>
            </a:r>
            <a:endParaRPr sz="1100">
              <a:solidFill>
                <a:schemeClr val="dk1"/>
              </a:solidFill>
            </a:endParaRPr>
          </a:p>
          <a:p>
            <a:pPr indent="-285750" lvl="0" marL="457200" rtl="0" algn="l">
              <a:spcBef>
                <a:spcPts val="0"/>
              </a:spcBef>
              <a:spcAft>
                <a:spcPts val="0"/>
              </a:spcAft>
              <a:buSzPts val="900"/>
              <a:buChar char="●"/>
            </a:pPr>
            <a:r>
              <a:rPr lang="en" sz="1100">
                <a:solidFill>
                  <a:schemeClr val="dk1"/>
                </a:solidFill>
              </a:rPr>
              <a:t>GNC combining ideas, </a:t>
            </a:r>
            <a:r>
              <a:rPr lang="en" sz="1100">
                <a:solidFill>
                  <a:schemeClr val="dk1"/>
                </a:solidFill>
              </a:rPr>
              <a:t>haven't</a:t>
            </a:r>
            <a:r>
              <a:rPr lang="en" sz="1100">
                <a:solidFill>
                  <a:schemeClr val="dk1"/>
                </a:solidFill>
              </a:rPr>
              <a:t> decided the format but possible the google drawing document</a:t>
            </a:r>
            <a:endParaRPr sz="1100">
              <a:solidFill>
                <a:schemeClr val="dk1"/>
              </a:solidFill>
            </a:endParaRPr>
          </a:p>
          <a:p>
            <a:pPr indent="0" lvl="0" marL="0" rtl="0" algn="l">
              <a:lnSpc>
                <a:spcPct val="95000"/>
              </a:lnSpc>
              <a:spcBef>
                <a:spcPts val="0"/>
              </a:spcBef>
              <a:spcAft>
                <a:spcPts val="0"/>
              </a:spcAft>
              <a:buNone/>
            </a:pPr>
            <a:r>
              <a:t/>
            </a:r>
            <a:endParaRPr sz="900"/>
          </a:p>
          <a:p>
            <a:pPr indent="0" lvl="0" marL="0" rtl="0" algn="l">
              <a:lnSpc>
                <a:spcPct val="95000"/>
              </a:lnSpc>
              <a:spcBef>
                <a:spcPts val="1200"/>
              </a:spcBef>
              <a:spcAft>
                <a:spcPts val="0"/>
              </a:spcAft>
              <a:buNone/>
            </a:pPr>
            <a:r>
              <a:t/>
            </a:r>
            <a:endParaRPr sz="900"/>
          </a:p>
          <a:p>
            <a:pPr indent="0" lvl="0" marL="0" rtl="0" algn="l">
              <a:lnSpc>
                <a:spcPct val="95000"/>
              </a:lnSpc>
              <a:spcBef>
                <a:spcPts val="1200"/>
              </a:spcBef>
              <a:spcAft>
                <a:spcPts val="1200"/>
              </a:spcAft>
              <a:buSzPts val="688"/>
              <a:buNone/>
            </a:pPr>
            <a:r>
              <a:t/>
            </a:r>
            <a:endParaRPr sz="975"/>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t>Team Meeting 8/11</a:t>
            </a:r>
            <a:r>
              <a:rPr lang="en"/>
              <a:t>                               Emily BWM</a:t>
            </a:r>
            <a:endParaRPr u="sng"/>
          </a:p>
        </p:txBody>
      </p:sp>
      <p:sp>
        <p:nvSpPr>
          <p:cNvPr id="192" name="Google Shape;192;p31"/>
          <p:cNvSpPr txBox="1"/>
          <p:nvPr>
            <p:ph idx="1" type="body"/>
          </p:nvPr>
        </p:nvSpPr>
        <p:spPr>
          <a:xfrm>
            <a:off x="311700" y="1152475"/>
            <a:ext cx="2766900" cy="1106100"/>
          </a:xfrm>
          <a:prstGeom prst="rect">
            <a:avLst/>
          </a:prstGeom>
        </p:spPr>
        <p:txBody>
          <a:bodyPr anchorCtr="0" anchor="t" bIns="91425" lIns="91425" spcFirstLastPara="1" rIns="91425" wrap="square" tIns="91425">
            <a:normAutofit fontScale="77500"/>
          </a:bodyPr>
          <a:lstStyle/>
          <a:p>
            <a:pPr indent="0" lvl="0" marL="0" rtl="0" algn="l">
              <a:lnSpc>
                <a:spcPct val="115000"/>
              </a:lnSpc>
              <a:spcBef>
                <a:spcPts val="0"/>
              </a:spcBef>
              <a:spcAft>
                <a:spcPts val="0"/>
              </a:spcAft>
              <a:buNone/>
            </a:pPr>
            <a:r>
              <a:rPr b="1" lang="en" sz="1100">
                <a:solidFill>
                  <a:schemeClr val="dk1"/>
                </a:solidFill>
                <a:latin typeface="Helvetica Neue"/>
                <a:ea typeface="Helvetica Neue"/>
                <a:cs typeface="Helvetica Neue"/>
                <a:sym typeface="Helvetica Neue"/>
              </a:rPr>
              <a:t>Present Agenda:</a:t>
            </a:r>
            <a:endParaRPr b="1" sz="1100">
              <a:solidFill>
                <a:schemeClr val="dk1"/>
              </a:solidFill>
              <a:latin typeface="Helvetica Neue"/>
              <a:ea typeface="Helvetica Neue"/>
              <a:cs typeface="Helvetica Neue"/>
              <a:sym typeface="Helvetica Neue"/>
            </a:endParaRPr>
          </a:p>
          <a:p>
            <a:pPr indent="-282734" lvl="0" marL="457200" rtl="0" algn="l">
              <a:lnSpc>
                <a:spcPct val="115000"/>
              </a:lnSpc>
              <a:spcBef>
                <a:spcPts val="0"/>
              </a:spcBef>
              <a:spcAft>
                <a:spcPts val="0"/>
              </a:spcAft>
              <a:buClr>
                <a:schemeClr val="dk1"/>
              </a:buClr>
              <a:buSzPct val="100000"/>
              <a:buFont typeface="Helvetica Neue"/>
              <a:buChar char="❏"/>
            </a:pPr>
            <a:r>
              <a:rPr lang="en" sz="1100">
                <a:solidFill>
                  <a:schemeClr val="dk1"/>
                </a:solidFill>
                <a:latin typeface="Helvetica Neue"/>
                <a:ea typeface="Helvetica Neue"/>
                <a:cs typeface="Helvetica Neue"/>
                <a:sym typeface="Helvetica Neue"/>
              </a:rPr>
              <a:t>We are recruiting for our Outreach team!</a:t>
            </a:r>
            <a:endParaRPr sz="1100">
              <a:solidFill>
                <a:schemeClr val="dk1"/>
              </a:solidFill>
              <a:latin typeface="Helvetica Neue"/>
              <a:ea typeface="Helvetica Neue"/>
              <a:cs typeface="Helvetica Neue"/>
              <a:sym typeface="Helvetica Neue"/>
            </a:endParaRPr>
          </a:p>
          <a:p>
            <a:pPr indent="-282734" lvl="0" marL="457200" rtl="0" algn="l">
              <a:lnSpc>
                <a:spcPct val="115000"/>
              </a:lnSpc>
              <a:spcBef>
                <a:spcPts val="0"/>
              </a:spcBef>
              <a:spcAft>
                <a:spcPts val="0"/>
              </a:spcAft>
              <a:buClr>
                <a:schemeClr val="dk1"/>
              </a:buClr>
              <a:buSzPct val="100000"/>
              <a:buFont typeface="Helvetica Neue"/>
              <a:buChar char="❏"/>
            </a:pPr>
            <a:r>
              <a:rPr lang="en" sz="1100">
                <a:solidFill>
                  <a:schemeClr val="dk1"/>
                </a:solidFill>
                <a:latin typeface="Helvetica Neue"/>
                <a:ea typeface="Helvetica Neue"/>
                <a:cs typeface="Helvetica Neue"/>
                <a:sym typeface="Helvetica Neue"/>
              </a:rPr>
              <a:t>Almost done with the 50 Ideas task</a:t>
            </a:r>
            <a:endParaRPr sz="1100">
              <a:solidFill>
                <a:schemeClr val="dk1"/>
              </a:solidFill>
              <a:latin typeface="Helvetica Neue"/>
              <a:ea typeface="Helvetica Neue"/>
              <a:cs typeface="Helvetica Neue"/>
              <a:sym typeface="Helvetica Neue"/>
            </a:endParaRPr>
          </a:p>
          <a:p>
            <a:pPr indent="-282734" lvl="0" marL="457200" rtl="0" algn="l">
              <a:lnSpc>
                <a:spcPct val="115000"/>
              </a:lnSpc>
              <a:spcBef>
                <a:spcPts val="0"/>
              </a:spcBef>
              <a:spcAft>
                <a:spcPts val="0"/>
              </a:spcAft>
              <a:buClr>
                <a:schemeClr val="dk1"/>
              </a:buClr>
              <a:buSzPct val="100000"/>
              <a:buFont typeface="Helvetica Neue"/>
              <a:buChar char="❏"/>
            </a:pPr>
            <a:r>
              <a:rPr lang="en" sz="1100">
                <a:solidFill>
                  <a:schemeClr val="dk1"/>
                </a:solidFill>
                <a:latin typeface="Helvetica Neue"/>
                <a:ea typeface="Helvetica Neue"/>
                <a:cs typeface="Helvetica Neue"/>
                <a:sym typeface="Helvetica Neue"/>
              </a:rPr>
              <a:t>Starting on Summer Progress Presentation</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1100">
              <a:solidFill>
                <a:schemeClr val="dk1"/>
              </a:solidFill>
              <a:latin typeface="Helvetica Neue"/>
              <a:ea typeface="Helvetica Neue"/>
              <a:cs typeface="Helvetica Neue"/>
              <a:sym typeface="Helvetica Neue"/>
            </a:endParaRPr>
          </a:p>
        </p:txBody>
      </p:sp>
      <p:sp>
        <p:nvSpPr>
          <p:cNvPr id="193" name="Google Shape;193;p31"/>
          <p:cNvSpPr txBox="1"/>
          <p:nvPr>
            <p:ph idx="2" type="body"/>
          </p:nvPr>
        </p:nvSpPr>
        <p:spPr>
          <a:xfrm>
            <a:off x="3078600" y="1121825"/>
            <a:ext cx="61872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88"/>
              <a:buNone/>
            </a:pPr>
            <a:r>
              <a:rPr lang="en" sz="1100">
                <a:solidFill>
                  <a:schemeClr val="dk1"/>
                </a:solidFill>
              </a:rPr>
              <a:t>-Progress Presentation will take place on the week of September 1st.</a:t>
            </a:r>
            <a:endParaRPr sz="1100">
              <a:solidFill>
                <a:schemeClr val="dk1"/>
              </a:solidFill>
            </a:endParaRPr>
          </a:p>
          <a:p>
            <a:pPr indent="0" lvl="0" marL="0" rtl="0" algn="l">
              <a:lnSpc>
                <a:spcPct val="95000"/>
              </a:lnSpc>
              <a:spcBef>
                <a:spcPts val="1200"/>
              </a:spcBef>
              <a:spcAft>
                <a:spcPts val="0"/>
              </a:spcAft>
              <a:buSzPts val="688"/>
              <a:buNone/>
            </a:pPr>
            <a:r>
              <a:rPr lang="en" sz="1100">
                <a:solidFill>
                  <a:schemeClr val="dk1"/>
                </a:solidFill>
              </a:rPr>
              <a:t>-Time limit would be 20 minutes with a Q&amp;A after.</a:t>
            </a:r>
            <a:endParaRPr sz="1100">
              <a:solidFill>
                <a:schemeClr val="dk1"/>
              </a:solidFill>
            </a:endParaRPr>
          </a:p>
          <a:p>
            <a:pPr indent="0" lvl="0" marL="0" rtl="0" algn="l">
              <a:lnSpc>
                <a:spcPct val="95000"/>
              </a:lnSpc>
              <a:spcBef>
                <a:spcPts val="1200"/>
              </a:spcBef>
              <a:spcAft>
                <a:spcPts val="0"/>
              </a:spcAft>
              <a:buSzPts val="688"/>
              <a:buNone/>
            </a:pPr>
            <a:r>
              <a:rPr lang="en" sz="1100">
                <a:solidFill>
                  <a:schemeClr val="dk1"/>
                </a:solidFill>
              </a:rPr>
              <a:t>-You can find the template for the presentation in the drive @ Presentations folder</a:t>
            </a:r>
            <a:endParaRPr sz="1100">
              <a:solidFill>
                <a:schemeClr val="dk1"/>
              </a:solidFill>
            </a:endParaRPr>
          </a:p>
          <a:p>
            <a:pPr indent="0" lvl="0" marL="0" rtl="0" algn="l">
              <a:lnSpc>
                <a:spcPct val="95000"/>
              </a:lnSpc>
              <a:spcBef>
                <a:spcPts val="1200"/>
              </a:spcBef>
              <a:spcAft>
                <a:spcPts val="0"/>
              </a:spcAft>
              <a:buSzPts val="688"/>
              <a:buNone/>
            </a:pPr>
            <a:r>
              <a:rPr lang="en" sz="1100">
                <a:solidFill>
                  <a:schemeClr val="dk1"/>
                </a:solidFill>
              </a:rPr>
              <a:t>-Reflect on how your decisions </a:t>
            </a:r>
            <a:r>
              <a:rPr lang="en" sz="1100">
                <a:solidFill>
                  <a:schemeClr val="dk1"/>
                </a:solidFill>
              </a:rPr>
              <a:t>influenced</a:t>
            </a:r>
            <a:r>
              <a:rPr lang="en" sz="1100">
                <a:solidFill>
                  <a:schemeClr val="dk1"/>
                </a:solidFill>
              </a:rPr>
              <a:t> your results and justify them</a:t>
            </a:r>
            <a:endParaRPr sz="1100">
              <a:solidFill>
                <a:schemeClr val="dk1"/>
              </a:solidFill>
            </a:endParaRPr>
          </a:p>
          <a:p>
            <a:pPr indent="0" lvl="0" marL="0" rtl="0" algn="l">
              <a:lnSpc>
                <a:spcPct val="95000"/>
              </a:lnSpc>
              <a:spcBef>
                <a:spcPts val="1200"/>
              </a:spcBef>
              <a:spcAft>
                <a:spcPts val="0"/>
              </a:spcAft>
              <a:buSzPts val="688"/>
              <a:buNone/>
            </a:pPr>
            <a:r>
              <a:rPr lang="en" sz="1100">
                <a:solidFill>
                  <a:schemeClr val="dk1"/>
                </a:solidFill>
              </a:rPr>
              <a:t>-GNC went over 50 ideas assignment, still not fully done, they have around 30 ideas. </a:t>
            </a:r>
            <a:endParaRPr sz="1100">
              <a:solidFill>
                <a:schemeClr val="dk1"/>
              </a:solidFill>
            </a:endParaRPr>
          </a:p>
          <a:p>
            <a:pPr indent="0" lvl="0" marL="0" rtl="0" algn="l">
              <a:lnSpc>
                <a:spcPct val="95000"/>
              </a:lnSpc>
              <a:spcBef>
                <a:spcPts val="1200"/>
              </a:spcBef>
              <a:spcAft>
                <a:spcPts val="0"/>
              </a:spcAft>
              <a:buSzPts val="688"/>
              <a:buNone/>
            </a:pPr>
            <a:r>
              <a:rPr lang="en" sz="1100">
                <a:solidFill>
                  <a:schemeClr val="dk1"/>
                </a:solidFill>
              </a:rPr>
              <a:t>-F&amp;P have a deadline to finish the 50 solutions on 8/11. Each member has around 8 solutions done. 2 ideas per requirement. Another deadline for august 15th, which is an ANSYS youtube series. </a:t>
            </a:r>
            <a:endParaRPr sz="1100">
              <a:solidFill>
                <a:schemeClr val="dk1"/>
              </a:solidFill>
            </a:endParaRPr>
          </a:p>
          <a:p>
            <a:pPr indent="0" lvl="0" marL="0" rtl="0" algn="l">
              <a:lnSpc>
                <a:spcPct val="95000"/>
              </a:lnSpc>
              <a:spcBef>
                <a:spcPts val="1200"/>
              </a:spcBef>
              <a:spcAft>
                <a:spcPts val="0"/>
              </a:spcAft>
              <a:buSzPts val="688"/>
              <a:buNone/>
            </a:pPr>
            <a:r>
              <a:rPr lang="en" sz="1100">
                <a:solidFill>
                  <a:schemeClr val="dk1"/>
                </a:solidFill>
              </a:rPr>
              <a:t>-TMS </a:t>
            </a:r>
            <a:r>
              <a:rPr lang="en" sz="1100">
                <a:solidFill>
                  <a:schemeClr val="dk1"/>
                </a:solidFill>
              </a:rPr>
              <a:t>compiled</a:t>
            </a:r>
            <a:r>
              <a:rPr lang="en" sz="1100">
                <a:solidFill>
                  <a:schemeClr val="dk1"/>
                </a:solidFill>
              </a:rPr>
              <a:t> all their solutions and spend one more week to refine them 80 in total.</a:t>
            </a:r>
            <a:endParaRPr sz="1100">
              <a:solidFill>
                <a:schemeClr val="dk1"/>
              </a:solidFill>
            </a:endParaRPr>
          </a:p>
          <a:p>
            <a:pPr indent="0" lvl="0" marL="0" rtl="0" algn="l">
              <a:lnSpc>
                <a:spcPct val="95000"/>
              </a:lnSpc>
              <a:spcBef>
                <a:spcPts val="1200"/>
              </a:spcBef>
              <a:spcAft>
                <a:spcPts val="0"/>
              </a:spcAft>
              <a:buSzPts val="688"/>
              <a:buNone/>
            </a:pPr>
            <a:r>
              <a:rPr lang="en" sz="1100">
                <a:solidFill>
                  <a:schemeClr val="dk1"/>
                </a:solidFill>
              </a:rPr>
              <a:t>-C&amp;C also worked on ideas </a:t>
            </a:r>
            <a:r>
              <a:rPr lang="en" sz="1100">
                <a:solidFill>
                  <a:schemeClr val="dk1"/>
                </a:solidFill>
              </a:rPr>
              <a:t>assignment</a:t>
            </a:r>
            <a:r>
              <a:rPr lang="en" sz="1100">
                <a:solidFill>
                  <a:schemeClr val="dk1"/>
                </a:solidFill>
              </a:rPr>
              <a:t>, sitting in about 22 ideas.</a:t>
            </a:r>
            <a:endParaRPr sz="1100">
              <a:solidFill>
                <a:schemeClr val="dk1"/>
              </a:solidFill>
            </a:endParaRPr>
          </a:p>
          <a:p>
            <a:pPr indent="0" lvl="0" marL="0" rtl="0" algn="l">
              <a:lnSpc>
                <a:spcPct val="95000"/>
              </a:lnSpc>
              <a:spcBef>
                <a:spcPts val="1200"/>
              </a:spcBef>
              <a:spcAft>
                <a:spcPts val="1200"/>
              </a:spcAft>
              <a:buSzPts val="688"/>
              <a:buNone/>
            </a:pPr>
            <a:r>
              <a:rPr lang="en" sz="1100">
                <a:solidFill>
                  <a:schemeClr val="dk1"/>
                </a:solidFill>
              </a:rPr>
              <a:t>-EPS 57 ideas that went through as a team, woking towards </a:t>
            </a:r>
            <a:endParaRPr sz="11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t>Leads meeting 8-13</a:t>
            </a:r>
            <a:r>
              <a:rPr lang="en"/>
              <a:t>                                   </a:t>
            </a:r>
            <a:r>
              <a:rPr lang="en" u="sng"/>
              <a:t>Zack Hobbs</a:t>
            </a:r>
            <a:endParaRPr u="sng"/>
          </a:p>
        </p:txBody>
      </p:sp>
      <p:sp>
        <p:nvSpPr>
          <p:cNvPr id="199" name="Google Shape;199;p32"/>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a:t>Future agenda:</a:t>
            </a:r>
            <a:endParaRPr/>
          </a:p>
          <a:p>
            <a:pPr indent="-317500" lvl="0" marL="457200" rtl="0" algn="l">
              <a:spcBef>
                <a:spcPts val="0"/>
              </a:spcBef>
              <a:spcAft>
                <a:spcPts val="0"/>
              </a:spcAft>
              <a:buSzPts val="1400"/>
              <a:buChar char="●"/>
            </a:pPr>
            <a:r>
              <a:rPr lang="en"/>
              <a:t>Sept 1</a:t>
            </a:r>
            <a:endParaRPr/>
          </a:p>
          <a:p>
            <a:pPr indent="-304800" lvl="1" marL="914400" rtl="0" algn="l">
              <a:spcBef>
                <a:spcPts val="0"/>
              </a:spcBef>
              <a:spcAft>
                <a:spcPts val="0"/>
              </a:spcAft>
              <a:buSzPts val="1200"/>
              <a:buChar char="○"/>
            </a:pPr>
            <a:r>
              <a:rPr lang="en"/>
              <a:t>Presentation to the TT admin</a:t>
            </a:r>
            <a:endParaRPr/>
          </a:p>
          <a:p>
            <a:pPr indent="-317500" lvl="0" marL="457200" rtl="0" algn="l">
              <a:spcBef>
                <a:spcPts val="0"/>
              </a:spcBef>
              <a:spcAft>
                <a:spcPts val="0"/>
              </a:spcAft>
              <a:buSzPts val="1400"/>
              <a:buChar char="●"/>
            </a:pPr>
            <a:r>
              <a:rPr lang="en"/>
              <a:t>Late august</a:t>
            </a:r>
            <a:endParaRPr/>
          </a:p>
          <a:p>
            <a:pPr indent="-304800" lvl="1" marL="914400" rtl="0" algn="l">
              <a:spcBef>
                <a:spcPts val="0"/>
              </a:spcBef>
              <a:spcAft>
                <a:spcPts val="0"/>
              </a:spcAft>
              <a:buSzPts val="1200"/>
              <a:buChar char="○"/>
            </a:pPr>
            <a:r>
              <a:rPr lang="en"/>
              <a:t>Subleads meeting for monthly planning</a:t>
            </a:r>
            <a:endParaRPr/>
          </a:p>
          <a:p>
            <a:pPr indent="-317500" lvl="0" marL="457200" rtl="0" algn="l">
              <a:spcBef>
                <a:spcPts val="0"/>
              </a:spcBef>
              <a:spcAft>
                <a:spcPts val="0"/>
              </a:spcAft>
              <a:buSzPts val="1400"/>
              <a:buChar char="●"/>
            </a:pPr>
            <a:r>
              <a:rPr lang="en"/>
              <a:t>Next </a:t>
            </a:r>
            <a:r>
              <a:rPr lang="en"/>
              <a:t>Deliverable</a:t>
            </a:r>
            <a:endParaRPr/>
          </a:p>
          <a:p>
            <a:pPr indent="-304800" lvl="1" marL="914400" rtl="0" algn="l">
              <a:spcBef>
                <a:spcPts val="0"/>
              </a:spcBef>
              <a:spcAft>
                <a:spcPts val="0"/>
              </a:spcAft>
              <a:buSzPts val="1200"/>
              <a:buChar char="○"/>
            </a:pPr>
            <a:r>
              <a:rPr lang="en"/>
              <a:t>Find the most efficient solutions</a:t>
            </a:r>
            <a:endParaRPr/>
          </a:p>
          <a:p>
            <a:pPr indent="-304800" lvl="1" marL="914400" rtl="0" algn="l">
              <a:spcBef>
                <a:spcPts val="0"/>
              </a:spcBef>
              <a:spcAft>
                <a:spcPts val="0"/>
              </a:spcAft>
              <a:buSzPts val="1200"/>
              <a:buChar char="○"/>
            </a:pPr>
            <a:r>
              <a:rPr lang="en"/>
              <a:t>Decision matrix related</a:t>
            </a:r>
            <a:endParaRPr/>
          </a:p>
          <a:p>
            <a:pPr indent="-304800" lvl="2" marL="1371600" rtl="0" algn="l">
              <a:spcBef>
                <a:spcPts val="0"/>
              </a:spcBef>
              <a:spcAft>
                <a:spcPts val="0"/>
              </a:spcAft>
              <a:buSzPts val="1200"/>
              <a:buChar char="■"/>
            </a:pPr>
            <a:r>
              <a:rPr lang="en"/>
              <a:t>5-10 Categories, 1 matrix per category</a:t>
            </a:r>
            <a:endParaRPr/>
          </a:p>
          <a:p>
            <a:pPr indent="-304800" lvl="1" marL="914400" rtl="0" algn="l">
              <a:spcBef>
                <a:spcPts val="0"/>
              </a:spcBef>
              <a:spcAft>
                <a:spcPts val="0"/>
              </a:spcAft>
              <a:buSzPts val="1200"/>
              <a:buChar char="○"/>
            </a:pPr>
            <a:r>
              <a:rPr lang="en"/>
              <a:t>Due Sept. 7</a:t>
            </a:r>
            <a:r>
              <a:rPr lang="en"/>
              <a:t> </a:t>
            </a:r>
            <a:endParaRPr/>
          </a:p>
        </p:txBody>
      </p:sp>
      <p:sp>
        <p:nvSpPr>
          <p:cNvPr id="200" name="Google Shape;200;p32"/>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a:t>Roland Block- our SEC in</a:t>
            </a:r>
            <a:endParaRPr/>
          </a:p>
          <a:p>
            <a:pPr indent="-317500" lvl="0" marL="457200" rtl="0" algn="l">
              <a:spcBef>
                <a:spcPts val="0"/>
              </a:spcBef>
              <a:spcAft>
                <a:spcPts val="0"/>
              </a:spcAft>
              <a:buSzPts val="1400"/>
              <a:buChar char="●"/>
            </a:pPr>
            <a:r>
              <a:rPr lang="en"/>
              <a:t>Need a </a:t>
            </a:r>
            <a:r>
              <a:rPr lang="en"/>
              <a:t>Volunteer Proposal team</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t>Subleads Meeting </a:t>
            </a:r>
            <a:r>
              <a:rPr lang="en"/>
              <a:t>                                Emily BWM</a:t>
            </a:r>
            <a:endParaRPr u="sng"/>
          </a:p>
        </p:txBody>
      </p:sp>
      <p:sp>
        <p:nvSpPr>
          <p:cNvPr id="206" name="Google Shape;206;p33"/>
          <p:cNvSpPr txBox="1"/>
          <p:nvPr>
            <p:ph idx="1" type="body"/>
          </p:nvPr>
        </p:nvSpPr>
        <p:spPr>
          <a:xfrm>
            <a:off x="311700" y="1152475"/>
            <a:ext cx="4501200" cy="3416400"/>
          </a:xfrm>
          <a:prstGeom prst="rect">
            <a:avLst/>
          </a:prstGeom>
        </p:spPr>
        <p:txBody>
          <a:bodyPr anchorCtr="0" anchor="t" bIns="91425" lIns="91425" spcFirstLastPara="1" rIns="91425" wrap="square" tIns="91425">
            <a:normAutofit/>
          </a:bodyPr>
          <a:lstStyle/>
          <a:p>
            <a:pPr indent="-285750" lvl="0" marL="457200" rtl="0" algn="l">
              <a:spcBef>
                <a:spcPts val="0"/>
              </a:spcBef>
              <a:spcAft>
                <a:spcPts val="0"/>
              </a:spcAft>
              <a:buSzPts val="900"/>
              <a:buChar char="●"/>
            </a:pPr>
            <a:r>
              <a:rPr lang="en" sz="900"/>
              <a:t>Future agenda:</a:t>
            </a:r>
            <a:endParaRPr sz="900"/>
          </a:p>
          <a:p>
            <a:pPr indent="-285750" lvl="0" marL="457200" rtl="0" algn="l">
              <a:spcBef>
                <a:spcPts val="0"/>
              </a:spcBef>
              <a:spcAft>
                <a:spcPts val="0"/>
              </a:spcAft>
              <a:buSzPts val="900"/>
              <a:buChar char="●"/>
            </a:pPr>
            <a:r>
              <a:rPr lang="en" sz="900"/>
              <a:t>Look over the general timeline for the semester </a:t>
            </a:r>
            <a:endParaRPr sz="900"/>
          </a:p>
          <a:p>
            <a:pPr indent="-285750" lvl="0" marL="457200" rtl="0" algn="l">
              <a:spcBef>
                <a:spcPts val="0"/>
              </a:spcBef>
              <a:spcAft>
                <a:spcPts val="0"/>
              </a:spcAft>
              <a:buSzPts val="900"/>
              <a:buChar char="●"/>
            </a:pPr>
            <a:r>
              <a:rPr lang="en" sz="900"/>
              <a:t>Discussion regarding the general timeline</a:t>
            </a:r>
            <a:endParaRPr sz="900"/>
          </a:p>
        </p:txBody>
      </p:sp>
      <p:sp>
        <p:nvSpPr>
          <p:cNvPr id="207" name="Google Shape;207;p33"/>
          <p:cNvSpPr txBox="1"/>
          <p:nvPr>
            <p:ph idx="2" type="body"/>
          </p:nvPr>
        </p:nvSpPr>
        <p:spPr>
          <a:xfrm>
            <a:off x="192725" y="1815075"/>
            <a:ext cx="3651000" cy="4563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900">
                <a:solidFill>
                  <a:schemeClr val="dk1"/>
                </a:solidFill>
              </a:rPr>
              <a:t>GNC -&gt; Thoughts on General timeline!</a:t>
            </a:r>
            <a:endParaRPr sz="900">
              <a:solidFill>
                <a:schemeClr val="dk1"/>
              </a:solidFill>
            </a:endParaRPr>
          </a:p>
          <a:p>
            <a:pPr indent="-304800" lvl="0" marL="457200" rtl="0" algn="l">
              <a:spcBef>
                <a:spcPts val="0"/>
              </a:spcBef>
              <a:spcAft>
                <a:spcPts val="0"/>
              </a:spcAft>
              <a:buSzPts val="1200"/>
              <a:buChar char="●"/>
            </a:pPr>
            <a:r>
              <a:rPr lang="en" sz="900">
                <a:solidFill>
                  <a:schemeClr val="dk1"/>
                </a:solidFill>
              </a:rPr>
              <a:t>Trade study for sensors to identify which sensors are needed and what data they provide</a:t>
            </a:r>
            <a:endParaRPr sz="900">
              <a:solidFill>
                <a:schemeClr val="dk1"/>
              </a:solidFill>
            </a:endParaRPr>
          </a:p>
          <a:p>
            <a:pPr indent="-304800" lvl="0" marL="457200" rtl="0" algn="l">
              <a:spcBef>
                <a:spcPts val="0"/>
              </a:spcBef>
              <a:spcAft>
                <a:spcPts val="0"/>
              </a:spcAft>
              <a:buSzPts val="1200"/>
              <a:buChar char="●"/>
            </a:pPr>
            <a:r>
              <a:rPr lang="en" sz="900">
                <a:solidFill>
                  <a:schemeClr val="dk1"/>
                </a:solidFill>
              </a:rPr>
              <a:t>What sensors are needed for the ROV to understand its environment?</a:t>
            </a:r>
            <a:endParaRPr sz="900">
              <a:solidFill>
                <a:schemeClr val="dk1"/>
              </a:solidFill>
            </a:endParaRPr>
          </a:p>
          <a:p>
            <a:pPr indent="-304800" lvl="0" marL="457200" rtl="0" algn="l">
              <a:spcBef>
                <a:spcPts val="0"/>
              </a:spcBef>
              <a:spcAft>
                <a:spcPts val="0"/>
              </a:spcAft>
              <a:buSzPts val="1200"/>
              <a:buChar char="●"/>
            </a:pPr>
            <a:r>
              <a:rPr lang="en" sz="900">
                <a:solidFill>
                  <a:schemeClr val="dk1"/>
                </a:solidFill>
              </a:rPr>
              <a:t>How will the ROV move and what data will the ROV be getting with these sensors?</a:t>
            </a:r>
            <a:endParaRPr sz="900">
              <a:solidFill>
                <a:schemeClr val="dk1"/>
              </a:solidFill>
            </a:endParaRPr>
          </a:p>
          <a:p>
            <a:pPr indent="-304800" lvl="0" marL="457200" rtl="0" algn="l">
              <a:spcBef>
                <a:spcPts val="0"/>
              </a:spcBef>
              <a:spcAft>
                <a:spcPts val="0"/>
              </a:spcAft>
              <a:buSzPts val="1200"/>
              <a:buChar char="●"/>
            </a:pPr>
            <a:r>
              <a:rPr lang="en" sz="900">
                <a:solidFill>
                  <a:schemeClr val="dk1"/>
                </a:solidFill>
              </a:rPr>
              <a:t>Research on sensor options will be made on the trade study.</a:t>
            </a:r>
            <a:endParaRPr sz="900">
              <a:solidFill>
                <a:schemeClr val="dk1"/>
              </a:solidFill>
            </a:endParaRPr>
          </a:p>
          <a:p>
            <a:pPr indent="-304800" lvl="0" marL="457200" rtl="0" algn="l">
              <a:spcBef>
                <a:spcPts val="0"/>
              </a:spcBef>
              <a:spcAft>
                <a:spcPts val="0"/>
              </a:spcAft>
              <a:buSzPts val="1200"/>
              <a:buChar char="●"/>
            </a:pPr>
            <a:r>
              <a:rPr lang="en" sz="900">
                <a:solidFill>
                  <a:schemeClr val="dk1"/>
                </a:solidFill>
              </a:rPr>
              <a:t>Block diagrams showing data flow for digital prototyping </a:t>
            </a:r>
            <a:endParaRPr sz="900">
              <a:solidFill>
                <a:schemeClr val="dk1"/>
              </a:solidFill>
            </a:endParaRPr>
          </a:p>
          <a:p>
            <a:pPr indent="-304800" lvl="0" marL="457200" rtl="0" algn="l">
              <a:spcBef>
                <a:spcPts val="0"/>
              </a:spcBef>
              <a:spcAft>
                <a:spcPts val="0"/>
              </a:spcAft>
              <a:buSzPts val="1200"/>
              <a:buChar char="●"/>
            </a:pPr>
            <a:r>
              <a:rPr lang="en" sz="900">
                <a:solidFill>
                  <a:schemeClr val="dk1"/>
                </a:solidFill>
              </a:rPr>
              <a:t>The strategy stage will be focused on teamwork with C&amp;C. Where GNC provides the information and C&amp;C does the driving.</a:t>
            </a:r>
            <a:endParaRPr sz="900">
              <a:solidFill>
                <a:schemeClr val="dk1"/>
              </a:solidFill>
            </a:endParaRPr>
          </a:p>
          <a:p>
            <a:pPr indent="-304800" lvl="0" marL="457200" rtl="0" algn="l">
              <a:spcBef>
                <a:spcPts val="0"/>
              </a:spcBef>
              <a:spcAft>
                <a:spcPts val="0"/>
              </a:spcAft>
              <a:buSzPts val="1200"/>
              <a:buChar char="●"/>
            </a:pPr>
            <a:r>
              <a:rPr lang="en" sz="900">
                <a:solidFill>
                  <a:schemeClr val="dk1"/>
                </a:solidFill>
              </a:rPr>
              <a:t>Begin with digital prototypes instead of physical builds.</a:t>
            </a:r>
            <a:endParaRPr sz="900">
              <a:solidFill>
                <a:schemeClr val="dk1"/>
              </a:solidFill>
            </a:endParaRPr>
          </a:p>
          <a:p>
            <a:pPr indent="-304800" lvl="0" marL="457200" rtl="0" algn="l">
              <a:spcBef>
                <a:spcPts val="0"/>
              </a:spcBef>
              <a:spcAft>
                <a:spcPts val="0"/>
              </a:spcAft>
              <a:buSzPts val="1200"/>
              <a:buChar char="●"/>
            </a:pPr>
            <a:r>
              <a:rPr lang="en" sz="900">
                <a:solidFill>
                  <a:schemeClr val="dk1"/>
                </a:solidFill>
              </a:rPr>
              <a:t>Write code in the actual language the ROV will use.</a:t>
            </a:r>
            <a:endParaRPr sz="900">
              <a:solidFill>
                <a:schemeClr val="dk1"/>
              </a:solidFill>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1200"/>
              </a:spcAft>
              <a:buNone/>
            </a:pPr>
            <a:r>
              <a:t/>
            </a:r>
            <a:endParaRPr sz="1200"/>
          </a:p>
        </p:txBody>
      </p:sp>
      <p:sp>
        <p:nvSpPr>
          <p:cNvPr id="208" name="Google Shape;208;p33"/>
          <p:cNvSpPr txBox="1"/>
          <p:nvPr>
            <p:ph idx="2" type="body"/>
          </p:nvPr>
        </p:nvSpPr>
        <p:spPr>
          <a:xfrm>
            <a:off x="3920200" y="943675"/>
            <a:ext cx="5296500" cy="46872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770"/>
              <a:buNone/>
            </a:pPr>
            <a:r>
              <a:rPr lang="en" sz="730">
                <a:solidFill>
                  <a:schemeClr val="dk1"/>
                </a:solidFill>
              </a:rPr>
              <a:t>GNC -&gt; Thoughts on General timeline!</a:t>
            </a:r>
            <a:endParaRPr sz="730">
              <a:solidFill>
                <a:schemeClr val="dk1"/>
              </a:solidFill>
            </a:endParaRPr>
          </a:p>
          <a:p>
            <a:pPr indent="-288290" lvl="0" marL="457200" rtl="0" algn="l">
              <a:lnSpc>
                <a:spcPct val="95000"/>
              </a:lnSpc>
              <a:spcBef>
                <a:spcPts val="0"/>
              </a:spcBef>
              <a:spcAft>
                <a:spcPts val="0"/>
              </a:spcAft>
              <a:buSzPts val="940"/>
              <a:buChar char="●"/>
            </a:pPr>
            <a:r>
              <a:rPr lang="en" sz="730">
                <a:solidFill>
                  <a:schemeClr val="dk1"/>
                </a:solidFill>
              </a:rPr>
              <a:t>Trade study for sensors to identify which sensors are needed and what data they provide</a:t>
            </a:r>
            <a:endParaRPr sz="730">
              <a:solidFill>
                <a:schemeClr val="dk1"/>
              </a:solidFill>
            </a:endParaRPr>
          </a:p>
          <a:p>
            <a:pPr indent="-288290" lvl="0" marL="457200" rtl="0" algn="l">
              <a:lnSpc>
                <a:spcPct val="95000"/>
              </a:lnSpc>
              <a:spcBef>
                <a:spcPts val="0"/>
              </a:spcBef>
              <a:spcAft>
                <a:spcPts val="0"/>
              </a:spcAft>
              <a:buSzPts val="940"/>
              <a:buChar char="●"/>
            </a:pPr>
            <a:r>
              <a:rPr lang="en" sz="730">
                <a:solidFill>
                  <a:schemeClr val="dk1"/>
                </a:solidFill>
              </a:rPr>
              <a:t>What sensors are needed for the ROV to understand its environment?</a:t>
            </a:r>
            <a:endParaRPr sz="730">
              <a:solidFill>
                <a:schemeClr val="dk1"/>
              </a:solidFill>
            </a:endParaRPr>
          </a:p>
          <a:p>
            <a:pPr indent="-288290" lvl="0" marL="457200" rtl="0" algn="l">
              <a:lnSpc>
                <a:spcPct val="95000"/>
              </a:lnSpc>
              <a:spcBef>
                <a:spcPts val="0"/>
              </a:spcBef>
              <a:spcAft>
                <a:spcPts val="0"/>
              </a:spcAft>
              <a:buSzPts val="940"/>
              <a:buChar char="●"/>
            </a:pPr>
            <a:r>
              <a:rPr lang="en" sz="730">
                <a:solidFill>
                  <a:schemeClr val="dk1"/>
                </a:solidFill>
              </a:rPr>
              <a:t>How will the ROV move and what data will the ROV be getting with these sensors?</a:t>
            </a:r>
            <a:endParaRPr sz="730">
              <a:solidFill>
                <a:schemeClr val="dk1"/>
              </a:solidFill>
            </a:endParaRPr>
          </a:p>
          <a:p>
            <a:pPr indent="-288290" lvl="0" marL="457200" rtl="0" algn="l">
              <a:lnSpc>
                <a:spcPct val="95000"/>
              </a:lnSpc>
              <a:spcBef>
                <a:spcPts val="0"/>
              </a:spcBef>
              <a:spcAft>
                <a:spcPts val="0"/>
              </a:spcAft>
              <a:buSzPts val="940"/>
              <a:buChar char="●"/>
            </a:pPr>
            <a:r>
              <a:rPr lang="en" sz="730">
                <a:solidFill>
                  <a:schemeClr val="dk1"/>
                </a:solidFill>
              </a:rPr>
              <a:t>Research on sensor options will be made on the trade study.</a:t>
            </a:r>
            <a:endParaRPr sz="730">
              <a:solidFill>
                <a:schemeClr val="dk1"/>
              </a:solidFill>
            </a:endParaRPr>
          </a:p>
          <a:p>
            <a:pPr indent="-288290" lvl="0" marL="457200" rtl="0" algn="l">
              <a:lnSpc>
                <a:spcPct val="95000"/>
              </a:lnSpc>
              <a:spcBef>
                <a:spcPts val="0"/>
              </a:spcBef>
              <a:spcAft>
                <a:spcPts val="0"/>
              </a:spcAft>
              <a:buSzPts val="940"/>
              <a:buChar char="●"/>
            </a:pPr>
            <a:r>
              <a:rPr lang="en" sz="730">
                <a:solidFill>
                  <a:schemeClr val="dk1"/>
                </a:solidFill>
              </a:rPr>
              <a:t>Block diagrams showing data flow for digital prototyping </a:t>
            </a:r>
            <a:endParaRPr sz="730">
              <a:solidFill>
                <a:schemeClr val="dk1"/>
              </a:solidFill>
            </a:endParaRPr>
          </a:p>
          <a:p>
            <a:pPr indent="-288290" lvl="0" marL="457200" rtl="0" algn="l">
              <a:lnSpc>
                <a:spcPct val="95000"/>
              </a:lnSpc>
              <a:spcBef>
                <a:spcPts val="0"/>
              </a:spcBef>
              <a:spcAft>
                <a:spcPts val="0"/>
              </a:spcAft>
              <a:buSzPts val="940"/>
              <a:buChar char="●"/>
            </a:pPr>
            <a:r>
              <a:rPr lang="en" sz="730">
                <a:solidFill>
                  <a:schemeClr val="dk1"/>
                </a:solidFill>
              </a:rPr>
              <a:t>The strategy stage will be focused on teamwork with C&amp;C. Where GNC provides the information and C&amp;C does the driving.</a:t>
            </a:r>
            <a:endParaRPr sz="730">
              <a:solidFill>
                <a:schemeClr val="dk1"/>
              </a:solidFill>
            </a:endParaRPr>
          </a:p>
          <a:p>
            <a:pPr indent="-288290" lvl="0" marL="457200" rtl="0" algn="l">
              <a:lnSpc>
                <a:spcPct val="95000"/>
              </a:lnSpc>
              <a:spcBef>
                <a:spcPts val="0"/>
              </a:spcBef>
              <a:spcAft>
                <a:spcPts val="0"/>
              </a:spcAft>
              <a:buSzPts val="940"/>
              <a:buChar char="●"/>
            </a:pPr>
            <a:r>
              <a:rPr lang="en" sz="730">
                <a:solidFill>
                  <a:schemeClr val="dk1"/>
                </a:solidFill>
              </a:rPr>
              <a:t>Begin with digital prototypes instead of physical builds.</a:t>
            </a:r>
            <a:endParaRPr sz="730">
              <a:solidFill>
                <a:schemeClr val="dk1"/>
              </a:solidFill>
            </a:endParaRPr>
          </a:p>
          <a:p>
            <a:pPr indent="-288290" lvl="0" marL="457200" rtl="0" algn="l">
              <a:lnSpc>
                <a:spcPct val="95000"/>
              </a:lnSpc>
              <a:spcBef>
                <a:spcPts val="0"/>
              </a:spcBef>
              <a:spcAft>
                <a:spcPts val="0"/>
              </a:spcAft>
              <a:buSzPts val="940"/>
              <a:buChar char="●"/>
            </a:pPr>
            <a:r>
              <a:rPr lang="en" sz="730">
                <a:solidFill>
                  <a:schemeClr val="dk1"/>
                </a:solidFill>
              </a:rPr>
              <a:t>Write code in the actual language the ROV will use.</a:t>
            </a:r>
            <a:endParaRPr sz="730">
              <a:solidFill>
                <a:schemeClr val="dk1"/>
              </a:solidFill>
            </a:endParaRPr>
          </a:p>
          <a:p>
            <a:pPr indent="0" lvl="0" marL="457200" rtl="0" algn="l">
              <a:lnSpc>
                <a:spcPct val="95000"/>
              </a:lnSpc>
              <a:spcBef>
                <a:spcPts val="0"/>
              </a:spcBef>
              <a:spcAft>
                <a:spcPts val="0"/>
              </a:spcAft>
              <a:buSzPts val="770"/>
              <a:buNone/>
            </a:pPr>
            <a:r>
              <a:t/>
            </a:r>
            <a:endParaRPr sz="730">
              <a:solidFill>
                <a:schemeClr val="dk1"/>
              </a:solidFill>
            </a:endParaRPr>
          </a:p>
          <a:p>
            <a:pPr indent="0" lvl="0" marL="0" rtl="0" algn="l">
              <a:lnSpc>
                <a:spcPct val="95000"/>
              </a:lnSpc>
              <a:spcBef>
                <a:spcPts val="0"/>
              </a:spcBef>
              <a:spcAft>
                <a:spcPts val="0"/>
              </a:spcAft>
              <a:buSzPts val="770"/>
              <a:buNone/>
            </a:pPr>
            <a:r>
              <a:rPr lang="en" sz="730">
                <a:solidFill>
                  <a:schemeClr val="dk1"/>
                </a:solidFill>
              </a:rPr>
              <a:t>TMS </a:t>
            </a:r>
            <a:endParaRPr sz="730">
              <a:solidFill>
                <a:schemeClr val="dk1"/>
              </a:solidFill>
            </a:endParaRPr>
          </a:p>
          <a:p>
            <a:pPr indent="-288290" lvl="0" marL="457200" rtl="0" algn="l">
              <a:lnSpc>
                <a:spcPct val="95000"/>
              </a:lnSpc>
              <a:spcBef>
                <a:spcPts val="0"/>
              </a:spcBef>
              <a:spcAft>
                <a:spcPts val="0"/>
              </a:spcAft>
              <a:buSzPts val="940"/>
              <a:buChar char="●"/>
            </a:pPr>
            <a:r>
              <a:rPr lang="en" sz="730">
                <a:solidFill>
                  <a:schemeClr val="dk1"/>
                </a:solidFill>
              </a:rPr>
              <a:t>Components for trade study are not fully defined yet </a:t>
            </a:r>
            <a:endParaRPr sz="730">
              <a:solidFill>
                <a:schemeClr val="dk1"/>
              </a:solidFill>
            </a:endParaRPr>
          </a:p>
          <a:p>
            <a:pPr indent="0" lvl="0" marL="0" rtl="0" algn="l">
              <a:lnSpc>
                <a:spcPct val="95000"/>
              </a:lnSpc>
              <a:spcBef>
                <a:spcPts val="0"/>
              </a:spcBef>
              <a:spcAft>
                <a:spcPts val="0"/>
              </a:spcAft>
              <a:buSzPts val="770"/>
              <a:buNone/>
            </a:pPr>
            <a:r>
              <a:rPr lang="en" sz="730">
                <a:solidFill>
                  <a:schemeClr val="dk1"/>
                </a:solidFill>
              </a:rPr>
              <a:t>EPS </a:t>
            </a:r>
            <a:endParaRPr sz="730">
              <a:solidFill>
                <a:schemeClr val="dk1"/>
              </a:solidFill>
            </a:endParaRPr>
          </a:p>
          <a:p>
            <a:pPr indent="-288290" lvl="0" marL="457200" rtl="0" algn="l">
              <a:lnSpc>
                <a:spcPct val="95000"/>
              </a:lnSpc>
              <a:spcBef>
                <a:spcPts val="0"/>
              </a:spcBef>
              <a:spcAft>
                <a:spcPts val="0"/>
              </a:spcAft>
              <a:buSzPts val="940"/>
              <a:buChar char="●"/>
            </a:pPr>
            <a:r>
              <a:rPr lang="en" sz="730">
                <a:solidFill>
                  <a:schemeClr val="dk1"/>
                </a:solidFill>
              </a:rPr>
              <a:t>Loads,sensors, etc depends on other subteams </a:t>
            </a:r>
            <a:endParaRPr sz="730">
              <a:solidFill>
                <a:schemeClr val="dk1"/>
              </a:solidFill>
            </a:endParaRPr>
          </a:p>
          <a:p>
            <a:pPr indent="-288290" lvl="0" marL="457200" rtl="0" algn="l">
              <a:lnSpc>
                <a:spcPct val="95000"/>
              </a:lnSpc>
              <a:spcBef>
                <a:spcPts val="0"/>
              </a:spcBef>
              <a:spcAft>
                <a:spcPts val="0"/>
              </a:spcAft>
              <a:buSzPts val="940"/>
              <a:buChar char="●"/>
            </a:pPr>
            <a:r>
              <a:rPr lang="en" sz="730">
                <a:solidFill>
                  <a:schemeClr val="dk1"/>
                </a:solidFill>
              </a:rPr>
              <a:t>Most work of EPS will depend on the work on others which might be a problem for EPS’ progress </a:t>
            </a:r>
            <a:endParaRPr sz="730">
              <a:solidFill>
                <a:schemeClr val="dk1"/>
              </a:solidFill>
            </a:endParaRPr>
          </a:p>
          <a:p>
            <a:pPr indent="-288290" lvl="0" marL="457200" rtl="0" algn="l">
              <a:lnSpc>
                <a:spcPct val="95000"/>
              </a:lnSpc>
              <a:spcBef>
                <a:spcPts val="0"/>
              </a:spcBef>
              <a:spcAft>
                <a:spcPts val="0"/>
              </a:spcAft>
              <a:buSzPts val="940"/>
              <a:buChar char="●"/>
            </a:pPr>
            <a:r>
              <a:rPr lang="en" sz="730">
                <a:solidFill>
                  <a:schemeClr val="dk1"/>
                </a:solidFill>
              </a:rPr>
              <a:t>Zach approach:. Document what components each subteam will need, and with that make early assumptions. </a:t>
            </a:r>
            <a:endParaRPr sz="730">
              <a:solidFill>
                <a:schemeClr val="dk1"/>
              </a:solidFill>
            </a:endParaRPr>
          </a:p>
          <a:p>
            <a:pPr indent="-288290" lvl="0" marL="457200" rtl="0" algn="l">
              <a:lnSpc>
                <a:spcPct val="95000"/>
              </a:lnSpc>
              <a:spcBef>
                <a:spcPts val="0"/>
              </a:spcBef>
              <a:spcAft>
                <a:spcPts val="0"/>
              </a:spcAft>
              <a:buSzPts val="940"/>
              <a:buChar char="●"/>
            </a:pPr>
            <a:r>
              <a:rPr lang="en" sz="730">
                <a:solidFill>
                  <a:schemeClr val="dk1"/>
                </a:solidFill>
              </a:rPr>
              <a:t>EPS might also need to stand up for themselves, which means that they will choose a circuit design and the subteams will have to adapt to it.</a:t>
            </a:r>
            <a:endParaRPr sz="730">
              <a:solidFill>
                <a:schemeClr val="dk1"/>
              </a:solidFill>
            </a:endParaRPr>
          </a:p>
          <a:p>
            <a:pPr indent="0" lvl="0" marL="0" rtl="0" algn="l">
              <a:lnSpc>
                <a:spcPct val="95000"/>
              </a:lnSpc>
              <a:spcBef>
                <a:spcPts val="0"/>
              </a:spcBef>
              <a:spcAft>
                <a:spcPts val="0"/>
              </a:spcAft>
              <a:buSzPts val="770"/>
              <a:buNone/>
            </a:pPr>
            <a:r>
              <a:rPr lang="en" sz="730">
                <a:solidFill>
                  <a:schemeClr val="dk1"/>
                </a:solidFill>
              </a:rPr>
              <a:t>Timeline &amp; Prototyping </a:t>
            </a:r>
            <a:endParaRPr sz="730">
              <a:solidFill>
                <a:schemeClr val="dk1"/>
              </a:solidFill>
            </a:endParaRPr>
          </a:p>
          <a:p>
            <a:pPr indent="0" lvl="0" marL="0" rtl="0" algn="l">
              <a:lnSpc>
                <a:spcPct val="95000"/>
              </a:lnSpc>
              <a:spcBef>
                <a:spcPts val="0"/>
              </a:spcBef>
              <a:spcAft>
                <a:spcPts val="0"/>
              </a:spcAft>
              <a:buSzPts val="770"/>
              <a:buNone/>
            </a:pPr>
            <a:r>
              <a:rPr lang="en" sz="730">
                <a:solidFill>
                  <a:schemeClr val="dk1"/>
                </a:solidFill>
              </a:rPr>
              <a:t>Midterms and people’s free time might need to ensure productivity!</a:t>
            </a:r>
            <a:endParaRPr sz="730">
              <a:solidFill>
                <a:schemeClr val="dk1"/>
              </a:solidFill>
            </a:endParaRPr>
          </a:p>
          <a:p>
            <a:pPr indent="-288290" lvl="0" marL="457200" rtl="0" algn="l">
              <a:lnSpc>
                <a:spcPct val="95000"/>
              </a:lnSpc>
              <a:spcBef>
                <a:spcPts val="0"/>
              </a:spcBef>
              <a:spcAft>
                <a:spcPts val="0"/>
              </a:spcAft>
              <a:buSzPts val="940"/>
              <a:buChar char="●"/>
            </a:pPr>
            <a:r>
              <a:rPr lang="en" sz="730">
                <a:solidFill>
                  <a:schemeClr val="dk1"/>
                </a:solidFill>
              </a:rPr>
              <a:t>First Stage: Trade Study with a duration time of around 2 weeks </a:t>
            </a:r>
            <a:endParaRPr sz="730">
              <a:solidFill>
                <a:schemeClr val="dk1"/>
              </a:solidFill>
            </a:endParaRPr>
          </a:p>
          <a:p>
            <a:pPr indent="-288290" lvl="0" marL="457200" rtl="0" algn="l">
              <a:lnSpc>
                <a:spcPct val="95000"/>
              </a:lnSpc>
              <a:spcBef>
                <a:spcPts val="0"/>
              </a:spcBef>
              <a:spcAft>
                <a:spcPts val="0"/>
              </a:spcAft>
              <a:buSzPts val="940"/>
              <a:buChar char="●"/>
            </a:pPr>
            <a:r>
              <a:rPr lang="en" sz="730">
                <a:solidFill>
                  <a:schemeClr val="dk1"/>
                </a:solidFill>
              </a:rPr>
              <a:t>Second Stage: Digital ROV prototype  that could play the 2025 game (3 to 4 weeks)</a:t>
            </a:r>
            <a:endParaRPr sz="730">
              <a:solidFill>
                <a:schemeClr val="dk1"/>
              </a:solidFill>
            </a:endParaRPr>
          </a:p>
          <a:p>
            <a:pPr indent="-288290" lvl="0" marL="457200" rtl="0" algn="l">
              <a:lnSpc>
                <a:spcPct val="95000"/>
              </a:lnSpc>
              <a:spcBef>
                <a:spcPts val="0"/>
              </a:spcBef>
              <a:spcAft>
                <a:spcPts val="0"/>
              </a:spcAft>
              <a:buSzPts val="940"/>
              <a:buChar char="●"/>
            </a:pPr>
            <a:r>
              <a:rPr lang="en" sz="730">
                <a:solidFill>
                  <a:schemeClr val="dk1"/>
                </a:solidFill>
              </a:rPr>
              <a:t>Third: After 2026 MATE ROV guidelines being released, Round 2 of requirements will be done </a:t>
            </a:r>
            <a:endParaRPr sz="730">
              <a:solidFill>
                <a:schemeClr val="dk1"/>
              </a:solidFill>
            </a:endParaRPr>
          </a:p>
          <a:p>
            <a:pPr indent="-288290" lvl="0" marL="457200" rtl="0" algn="l">
              <a:lnSpc>
                <a:spcPct val="95000"/>
              </a:lnSpc>
              <a:spcBef>
                <a:spcPts val="0"/>
              </a:spcBef>
              <a:spcAft>
                <a:spcPts val="0"/>
              </a:spcAft>
              <a:buSzPts val="940"/>
              <a:buChar char="●"/>
            </a:pPr>
            <a:r>
              <a:rPr lang="en" sz="730">
                <a:solidFill>
                  <a:schemeClr val="dk1"/>
                </a:solidFill>
              </a:rPr>
              <a:t>Fourth: Rapid prototyping of 2026 ROV that will be taking place on January. </a:t>
            </a:r>
            <a:endParaRPr sz="730">
              <a:solidFill>
                <a:schemeClr val="dk1"/>
              </a:solidFill>
            </a:endParaRPr>
          </a:p>
          <a:p>
            <a:pPr indent="-274955" lvl="0" marL="457200" rtl="0" algn="l">
              <a:lnSpc>
                <a:spcPct val="95000"/>
              </a:lnSpc>
              <a:spcBef>
                <a:spcPts val="0"/>
              </a:spcBef>
              <a:spcAft>
                <a:spcPts val="0"/>
              </a:spcAft>
              <a:buClr>
                <a:schemeClr val="dk1"/>
              </a:buClr>
              <a:buSzPts val="730"/>
              <a:buChar char="●"/>
            </a:pPr>
            <a:r>
              <a:rPr lang="en" sz="730">
                <a:solidFill>
                  <a:schemeClr val="dk1"/>
                </a:solidFill>
              </a:rPr>
              <a:t>Winter break will be our BREAK</a:t>
            </a:r>
            <a:endParaRPr sz="730">
              <a:solidFill>
                <a:schemeClr val="dk1"/>
              </a:solidFill>
            </a:endParaRPr>
          </a:p>
          <a:p>
            <a:pPr indent="0" lvl="0" marL="0" rtl="0" algn="l">
              <a:lnSpc>
                <a:spcPct val="95000"/>
              </a:lnSpc>
              <a:spcBef>
                <a:spcPts val="0"/>
              </a:spcBef>
              <a:spcAft>
                <a:spcPts val="0"/>
              </a:spcAft>
              <a:buSzPts val="770"/>
              <a:buNone/>
            </a:pPr>
            <a:r>
              <a:t/>
            </a:r>
            <a:endParaRPr sz="730">
              <a:solidFill>
                <a:schemeClr val="dk1"/>
              </a:solidFill>
            </a:endParaRPr>
          </a:p>
          <a:p>
            <a:pPr indent="0" lvl="0" marL="0" rtl="0" algn="l">
              <a:lnSpc>
                <a:spcPct val="95000"/>
              </a:lnSpc>
              <a:spcBef>
                <a:spcPts val="0"/>
              </a:spcBef>
              <a:spcAft>
                <a:spcPts val="0"/>
              </a:spcAft>
              <a:buSzPts val="770"/>
              <a:buNone/>
            </a:pPr>
            <a:r>
              <a:rPr lang="en" sz="730">
                <a:solidFill>
                  <a:schemeClr val="dk1"/>
                </a:solidFill>
              </a:rPr>
              <a:t>Prototyping Goals</a:t>
            </a:r>
            <a:endParaRPr sz="730">
              <a:solidFill>
                <a:schemeClr val="dk1"/>
              </a:solidFill>
            </a:endParaRPr>
          </a:p>
          <a:p>
            <a:pPr indent="-274955" lvl="0" marL="457200" rtl="0" algn="l">
              <a:lnSpc>
                <a:spcPct val="95000"/>
              </a:lnSpc>
              <a:spcBef>
                <a:spcPts val="0"/>
              </a:spcBef>
              <a:spcAft>
                <a:spcPts val="0"/>
              </a:spcAft>
              <a:buClr>
                <a:schemeClr val="dk1"/>
              </a:buClr>
              <a:buSzPts val="730"/>
              <a:buChar char="●"/>
            </a:pPr>
            <a:r>
              <a:rPr lang="en" sz="730">
                <a:solidFill>
                  <a:schemeClr val="dk1"/>
                </a:solidFill>
              </a:rPr>
              <a:t>2-3 physical small prototypes before the </a:t>
            </a:r>
            <a:r>
              <a:rPr lang="en" sz="730">
                <a:solidFill>
                  <a:schemeClr val="dk1"/>
                </a:solidFill>
              </a:rPr>
              <a:t>releasing</a:t>
            </a:r>
            <a:r>
              <a:rPr lang="en" sz="730">
                <a:solidFill>
                  <a:schemeClr val="dk1"/>
                </a:solidFill>
              </a:rPr>
              <a:t> of guidelines</a:t>
            </a:r>
            <a:endParaRPr sz="730">
              <a:solidFill>
                <a:schemeClr val="dk1"/>
              </a:solidFill>
            </a:endParaRPr>
          </a:p>
          <a:p>
            <a:pPr indent="-274955" lvl="0" marL="457200" rtl="0" algn="l">
              <a:lnSpc>
                <a:spcPct val="95000"/>
              </a:lnSpc>
              <a:spcBef>
                <a:spcPts val="0"/>
              </a:spcBef>
              <a:spcAft>
                <a:spcPts val="0"/>
              </a:spcAft>
              <a:buClr>
                <a:schemeClr val="dk1"/>
              </a:buClr>
              <a:buSzPts val="730"/>
              <a:buChar char="●"/>
            </a:pPr>
            <a:r>
              <a:rPr lang="en" sz="730">
                <a:solidFill>
                  <a:schemeClr val="dk1"/>
                </a:solidFill>
              </a:rPr>
              <a:t>Only thing we will learn: Did the solution we did </a:t>
            </a:r>
            <a:r>
              <a:rPr lang="en" sz="730">
                <a:solidFill>
                  <a:schemeClr val="dk1"/>
                </a:solidFill>
              </a:rPr>
              <a:t>research on worked?</a:t>
            </a:r>
            <a:endParaRPr sz="730">
              <a:solidFill>
                <a:schemeClr val="dk1"/>
              </a:solidFill>
            </a:endParaRPr>
          </a:p>
          <a:p>
            <a:pPr indent="-274955" lvl="0" marL="457200" rtl="0" algn="l">
              <a:lnSpc>
                <a:spcPct val="95000"/>
              </a:lnSpc>
              <a:spcBef>
                <a:spcPts val="0"/>
              </a:spcBef>
              <a:spcAft>
                <a:spcPts val="0"/>
              </a:spcAft>
              <a:buClr>
                <a:schemeClr val="dk1"/>
              </a:buClr>
              <a:buSzPts val="730"/>
              <a:buChar char="●"/>
            </a:pPr>
            <a:r>
              <a:rPr lang="en" sz="730">
                <a:solidFill>
                  <a:schemeClr val="dk1"/>
                </a:solidFill>
              </a:rPr>
              <a:t>GNC might not be providing a physical prototype, other subteams will need to debate whether they will provide one or not</a:t>
            </a:r>
            <a:endParaRPr sz="730">
              <a:solidFill>
                <a:schemeClr val="dk1"/>
              </a:solidFill>
            </a:endParaRPr>
          </a:p>
          <a:p>
            <a:pPr indent="0" lvl="0" marL="457200" rtl="0" algn="l">
              <a:lnSpc>
                <a:spcPct val="95000"/>
              </a:lnSpc>
              <a:spcBef>
                <a:spcPts val="0"/>
              </a:spcBef>
              <a:spcAft>
                <a:spcPts val="0"/>
              </a:spcAft>
              <a:buSzPts val="770"/>
              <a:buNone/>
            </a:pPr>
            <a:r>
              <a:t/>
            </a:r>
            <a:endParaRPr sz="730">
              <a:solidFill>
                <a:schemeClr val="dk1"/>
              </a:solidFill>
            </a:endParaRPr>
          </a:p>
          <a:p>
            <a:pPr indent="0" lvl="0" marL="0" rtl="0" algn="l">
              <a:lnSpc>
                <a:spcPct val="95000"/>
              </a:lnSpc>
              <a:spcBef>
                <a:spcPts val="0"/>
              </a:spcBef>
              <a:spcAft>
                <a:spcPts val="0"/>
              </a:spcAft>
              <a:buSzPts val="770"/>
              <a:buNone/>
            </a:pPr>
            <a:r>
              <a:t/>
            </a:r>
            <a:endParaRPr sz="730">
              <a:solidFill>
                <a:schemeClr val="dk1"/>
              </a:solidFill>
            </a:endParaRPr>
          </a:p>
          <a:p>
            <a:pPr indent="0" lvl="0" marL="0" rtl="0" algn="l">
              <a:lnSpc>
                <a:spcPct val="95000"/>
              </a:lnSpc>
              <a:spcBef>
                <a:spcPts val="0"/>
              </a:spcBef>
              <a:spcAft>
                <a:spcPts val="0"/>
              </a:spcAft>
              <a:buSzPts val="770"/>
              <a:buNone/>
            </a:pPr>
            <a:r>
              <a:t/>
            </a:r>
            <a:endParaRPr sz="730">
              <a:solidFill>
                <a:schemeClr val="dk1"/>
              </a:solidFill>
            </a:endParaRPr>
          </a:p>
          <a:p>
            <a:pPr indent="0" lvl="0" marL="0" rtl="0" algn="l">
              <a:lnSpc>
                <a:spcPct val="95000"/>
              </a:lnSpc>
              <a:spcBef>
                <a:spcPts val="0"/>
              </a:spcBef>
              <a:spcAft>
                <a:spcPts val="0"/>
              </a:spcAft>
              <a:buSzPts val="770"/>
              <a:buNone/>
            </a:pPr>
            <a:r>
              <a:t/>
            </a:r>
            <a:endParaRPr sz="730">
              <a:solidFill>
                <a:schemeClr val="dk1"/>
              </a:solidFill>
            </a:endParaRPr>
          </a:p>
          <a:p>
            <a:pPr indent="0" lvl="0" marL="0" rtl="0" algn="l">
              <a:lnSpc>
                <a:spcPct val="95000"/>
              </a:lnSpc>
              <a:spcBef>
                <a:spcPts val="0"/>
              </a:spcBef>
              <a:spcAft>
                <a:spcPts val="0"/>
              </a:spcAft>
              <a:buSzPts val="770"/>
              <a:buNone/>
            </a:pPr>
            <a:r>
              <a:t/>
            </a:r>
            <a:endParaRPr sz="730">
              <a:solidFill>
                <a:schemeClr val="dk1"/>
              </a:solidFill>
            </a:endParaRPr>
          </a:p>
          <a:p>
            <a:pPr indent="0" lvl="0" marL="0" rtl="0" algn="l">
              <a:lnSpc>
                <a:spcPct val="95000"/>
              </a:lnSpc>
              <a:spcBef>
                <a:spcPts val="0"/>
              </a:spcBef>
              <a:spcAft>
                <a:spcPts val="0"/>
              </a:spcAft>
              <a:buSzPts val="770"/>
              <a:buNone/>
            </a:pPr>
            <a:r>
              <a:t/>
            </a:r>
            <a:endParaRPr sz="730">
              <a:solidFill>
                <a:schemeClr val="dk1"/>
              </a:solidFill>
            </a:endParaRPr>
          </a:p>
          <a:p>
            <a:pPr indent="0" lvl="0" marL="0" rtl="0" algn="l">
              <a:lnSpc>
                <a:spcPct val="95000"/>
              </a:lnSpc>
              <a:spcBef>
                <a:spcPts val="0"/>
              </a:spcBef>
              <a:spcAft>
                <a:spcPts val="0"/>
              </a:spcAft>
              <a:buSzPts val="770"/>
              <a:buNone/>
            </a:pPr>
            <a:r>
              <a:t/>
            </a:r>
            <a:endParaRPr sz="730">
              <a:solidFill>
                <a:schemeClr val="dk1"/>
              </a:solidFill>
            </a:endParaRPr>
          </a:p>
          <a:p>
            <a:pPr indent="0" lvl="0" marL="0" rtl="0" algn="l">
              <a:lnSpc>
                <a:spcPct val="95000"/>
              </a:lnSpc>
              <a:spcBef>
                <a:spcPts val="0"/>
              </a:spcBef>
              <a:spcAft>
                <a:spcPts val="0"/>
              </a:spcAft>
              <a:buSzPts val="770"/>
              <a:buNone/>
            </a:pPr>
            <a:r>
              <a:t/>
            </a:r>
            <a:endParaRPr sz="730">
              <a:solidFill>
                <a:schemeClr val="dk1"/>
              </a:solidFill>
            </a:endParaRPr>
          </a:p>
          <a:p>
            <a:pPr indent="0" lvl="0" marL="0" rtl="0" algn="l">
              <a:lnSpc>
                <a:spcPct val="95000"/>
              </a:lnSpc>
              <a:spcBef>
                <a:spcPts val="0"/>
              </a:spcBef>
              <a:spcAft>
                <a:spcPts val="1200"/>
              </a:spcAft>
              <a:buSzPts val="770"/>
              <a:buNone/>
            </a:pPr>
            <a:r>
              <a:t/>
            </a:r>
            <a:endParaRPr sz="94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u="sng"/>
              <a:t>Team Lead Meeting 9/17</a:t>
            </a:r>
            <a:r>
              <a:rPr lang="en"/>
              <a:t>                            Arjun Sawhney</a:t>
            </a:r>
            <a:endParaRPr u="sng"/>
          </a:p>
        </p:txBody>
      </p:sp>
      <p:sp>
        <p:nvSpPr>
          <p:cNvPr id="214" name="Google Shape;214;p34"/>
          <p:cNvSpPr txBox="1"/>
          <p:nvPr>
            <p:ph idx="1" type="body"/>
          </p:nvPr>
        </p:nvSpPr>
        <p:spPr>
          <a:xfrm>
            <a:off x="311700" y="1048375"/>
            <a:ext cx="2766900" cy="1691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100">
                <a:solidFill>
                  <a:schemeClr val="dk1"/>
                </a:solidFill>
                <a:latin typeface="Helvetica Neue"/>
                <a:ea typeface="Helvetica Neue"/>
                <a:cs typeface="Helvetica Neue"/>
                <a:sym typeface="Helvetica Neue"/>
              </a:rPr>
              <a:t>Present Agenda:</a:t>
            </a:r>
            <a:endParaRPr b="1"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Discuss plans of full-team meetings and finding a location</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Finance meeting w/ Vasudha</a:t>
            </a:r>
            <a:endParaRPr sz="1100">
              <a:solidFill>
                <a:schemeClr val="dk1"/>
              </a:solidFill>
              <a:latin typeface="Helvetica Neue"/>
              <a:ea typeface="Helvetica Neue"/>
              <a:cs typeface="Helvetica Neue"/>
              <a:sym typeface="Helvetica Neue"/>
            </a:endParaRPr>
          </a:p>
          <a:p>
            <a:pPr indent="-298450" lvl="0" marL="457200" rtl="0" algn="l">
              <a:lnSpc>
                <a:spcPct val="115000"/>
              </a:lnSpc>
              <a:spcBef>
                <a:spcPts val="0"/>
              </a:spcBef>
              <a:spcAft>
                <a:spcPts val="0"/>
              </a:spcAft>
              <a:buClr>
                <a:schemeClr val="dk1"/>
              </a:buClr>
              <a:buSzPts val="1100"/>
              <a:buFont typeface="Helvetica Neue"/>
              <a:buChar char="❏"/>
            </a:pPr>
            <a:r>
              <a:rPr lang="en" sz="1100" u="sng">
                <a:solidFill>
                  <a:schemeClr val="hlink"/>
                </a:solidFill>
                <a:latin typeface="Helvetica Neue"/>
                <a:ea typeface="Helvetica Neue"/>
                <a:cs typeface="Helvetica Neue"/>
                <a:sym typeface="Helvetica Neue"/>
                <a:hlinkClick r:id="rId3"/>
              </a:rPr>
              <a:t>MATE ROV Scholarships &amp; Grants</a:t>
            </a:r>
            <a:endParaRPr sz="11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1100">
              <a:solidFill>
                <a:schemeClr val="dk1"/>
              </a:solidFill>
              <a:latin typeface="Helvetica Neue"/>
              <a:ea typeface="Helvetica Neue"/>
              <a:cs typeface="Helvetica Neue"/>
              <a:sym typeface="Helvetica Neue"/>
            </a:endParaRPr>
          </a:p>
        </p:txBody>
      </p:sp>
      <p:sp>
        <p:nvSpPr>
          <p:cNvPr id="215" name="Google Shape;215;p34"/>
          <p:cNvSpPr txBox="1"/>
          <p:nvPr>
            <p:ph idx="2" type="body"/>
          </p:nvPr>
        </p:nvSpPr>
        <p:spPr>
          <a:xfrm>
            <a:off x="3078600" y="1017725"/>
            <a:ext cx="6132900" cy="39861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100">
                <a:solidFill>
                  <a:schemeClr val="dk1"/>
                </a:solidFill>
              </a:rPr>
              <a:t>Finance</a:t>
            </a:r>
            <a:endParaRPr sz="1100">
              <a:solidFill>
                <a:schemeClr val="dk1"/>
              </a:solidFill>
            </a:endParaRPr>
          </a:p>
          <a:p>
            <a:pPr indent="-298450" lvl="0" marL="457200" rtl="0" algn="l">
              <a:lnSpc>
                <a:spcPct val="95000"/>
              </a:lnSpc>
              <a:spcBef>
                <a:spcPts val="1200"/>
              </a:spcBef>
              <a:spcAft>
                <a:spcPts val="0"/>
              </a:spcAft>
              <a:buClr>
                <a:schemeClr val="dk1"/>
              </a:buClr>
              <a:buSzPts val="1100"/>
              <a:buChar char="●"/>
            </a:pPr>
            <a:r>
              <a:rPr lang="en" sz="1100">
                <a:solidFill>
                  <a:schemeClr val="dk1"/>
                </a:solidFill>
              </a:rPr>
              <a:t>$5000</a:t>
            </a:r>
            <a:endParaRPr sz="1100">
              <a:solidFill>
                <a:schemeClr val="dk1"/>
              </a:solidFill>
            </a:endParaRPr>
          </a:p>
          <a:p>
            <a:pPr indent="-298450" lvl="0" marL="457200" rtl="0" algn="l">
              <a:lnSpc>
                <a:spcPct val="95000"/>
              </a:lnSpc>
              <a:spcBef>
                <a:spcPts val="0"/>
              </a:spcBef>
              <a:spcAft>
                <a:spcPts val="0"/>
              </a:spcAft>
              <a:buClr>
                <a:schemeClr val="dk1"/>
              </a:buClr>
              <a:buSzPts val="1100"/>
              <a:buChar char="●"/>
            </a:pPr>
            <a:r>
              <a:rPr lang="en" sz="1100">
                <a:solidFill>
                  <a:schemeClr val="dk1"/>
                </a:solidFill>
              </a:rPr>
              <a:t>Officers (me) need to work with faculty for a flight plan under TAMU</a:t>
            </a:r>
            <a:endParaRPr sz="1100">
              <a:solidFill>
                <a:schemeClr val="dk1"/>
              </a:solidFill>
            </a:endParaRPr>
          </a:p>
          <a:p>
            <a:pPr indent="-298450" lvl="0" marL="457200" rtl="0" algn="l">
              <a:lnSpc>
                <a:spcPct val="95000"/>
              </a:lnSpc>
              <a:spcBef>
                <a:spcPts val="0"/>
              </a:spcBef>
              <a:spcAft>
                <a:spcPts val="0"/>
              </a:spcAft>
              <a:buClr>
                <a:schemeClr val="dk1"/>
              </a:buClr>
              <a:buSzPts val="1100"/>
              <a:buChar char="●"/>
            </a:pPr>
            <a:r>
              <a:rPr lang="en" sz="1100">
                <a:solidFill>
                  <a:schemeClr val="dk1"/>
                </a:solidFill>
              </a:rPr>
              <a:t>Scholarships to apply to for travel stipends</a:t>
            </a:r>
            <a:endParaRPr sz="1100">
              <a:solidFill>
                <a:schemeClr val="dk1"/>
              </a:solidFill>
            </a:endParaRPr>
          </a:p>
          <a:p>
            <a:pPr indent="-298450" lvl="0" marL="457200" rtl="0" algn="l">
              <a:lnSpc>
                <a:spcPct val="95000"/>
              </a:lnSpc>
              <a:spcBef>
                <a:spcPts val="0"/>
              </a:spcBef>
              <a:spcAft>
                <a:spcPts val="0"/>
              </a:spcAft>
              <a:buClr>
                <a:schemeClr val="dk1"/>
              </a:buClr>
              <a:buSzPts val="1100"/>
              <a:buChar char="●"/>
            </a:pPr>
            <a:r>
              <a:rPr lang="en" sz="1100">
                <a:solidFill>
                  <a:schemeClr val="dk1"/>
                </a:solidFill>
              </a:rPr>
              <a:t>Routine for using SOFC funds by Vasudha:</a:t>
            </a:r>
            <a:endParaRPr sz="1100">
              <a:solidFill>
                <a:schemeClr val="dk1"/>
              </a:solidFill>
            </a:endParaRPr>
          </a:p>
          <a:p>
            <a:pPr indent="-298450" lvl="1" marL="914400" rtl="0" algn="l">
              <a:lnSpc>
                <a:spcPct val="95000"/>
              </a:lnSpc>
              <a:spcBef>
                <a:spcPts val="0"/>
              </a:spcBef>
              <a:spcAft>
                <a:spcPts val="0"/>
              </a:spcAft>
              <a:buClr>
                <a:schemeClr val="dk1"/>
              </a:buClr>
              <a:buSzPts val="1100"/>
              <a:buChar char="○"/>
            </a:pPr>
            <a:r>
              <a:rPr lang="en" sz="1100">
                <a:solidFill>
                  <a:schemeClr val="dk1"/>
                </a:solidFill>
              </a:rPr>
              <a:t>Might use Zack credit card and do reimbursement for credit card points</a:t>
            </a:r>
            <a:endParaRPr sz="1100">
              <a:solidFill>
                <a:schemeClr val="dk1"/>
              </a:solidFill>
            </a:endParaRPr>
          </a:p>
          <a:p>
            <a:pPr indent="-298450" lvl="1" marL="914400" rtl="0" algn="l">
              <a:lnSpc>
                <a:spcPct val="95000"/>
              </a:lnSpc>
              <a:spcBef>
                <a:spcPts val="0"/>
              </a:spcBef>
              <a:spcAft>
                <a:spcPts val="0"/>
              </a:spcAft>
              <a:buClr>
                <a:schemeClr val="dk1"/>
              </a:buClr>
              <a:buSzPts val="1100"/>
              <a:buChar char="○"/>
            </a:pPr>
            <a:r>
              <a:rPr lang="en" sz="1100">
                <a:solidFill>
                  <a:schemeClr val="dk1"/>
                </a:solidFill>
              </a:rPr>
              <a:t>Would need to be at the SOFC office and do an order with them, so this would work really only in ordering many parts at a time</a:t>
            </a:r>
            <a:endParaRPr sz="1100">
              <a:solidFill>
                <a:schemeClr val="dk1"/>
              </a:solidFill>
            </a:endParaRPr>
          </a:p>
          <a:p>
            <a:pPr indent="-298450" lvl="0" marL="457200" rtl="0" algn="l">
              <a:lnSpc>
                <a:spcPct val="95000"/>
              </a:lnSpc>
              <a:spcBef>
                <a:spcPts val="0"/>
              </a:spcBef>
              <a:spcAft>
                <a:spcPts val="0"/>
              </a:spcAft>
              <a:buClr>
                <a:schemeClr val="dk1"/>
              </a:buClr>
              <a:buSzPts val="1100"/>
              <a:buChar char="●"/>
            </a:pPr>
            <a:r>
              <a:rPr lang="en" sz="1100">
                <a:solidFill>
                  <a:schemeClr val="dk1"/>
                </a:solidFill>
              </a:rPr>
              <a:t>OCEN for storage (HEB, talk to advisor, I also need card access)</a:t>
            </a:r>
            <a:endParaRPr sz="1100">
              <a:solidFill>
                <a:schemeClr val="dk1"/>
              </a:solidFill>
            </a:endParaRPr>
          </a:p>
          <a:p>
            <a:pPr indent="-298450" lvl="0" marL="457200" rtl="0" algn="l">
              <a:lnSpc>
                <a:spcPct val="95000"/>
              </a:lnSpc>
              <a:spcBef>
                <a:spcPts val="0"/>
              </a:spcBef>
              <a:spcAft>
                <a:spcPts val="0"/>
              </a:spcAft>
              <a:buClr>
                <a:schemeClr val="dk1"/>
              </a:buClr>
              <a:buSzPts val="1100"/>
              <a:buChar char="●"/>
            </a:pPr>
            <a:r>
              <a:rPr lang="en" sz="1100">
                <a:solidFill>
                  <a:schemeClr val="dk1"/>
                </a:solidFill>
              </a:rPr>
              <a:t>Petroleum, OCEN, and possibly civil for advisors</a:t>
            </a:r>
            <a:endParaRPr sz="1100">
              <a:solidFill>
                <a:schemeClr val="dk1"/>
              </a:solidFill>
            </a:endParaRPr>
          </a:p>
          <a:p>
            <a:pPr indent="0" lvl="0" marL="0" rtl="0" algn="l">
              <a:lnSpc>
                <a:spcPct val="95000"/>
              </a:lnSpc>
              <a:spcBef>
                <a:spcPts val="1200"/>
              </a:spcBef>
              <a:spcAft>
                <a:spcPts val="0"/>
              </a:spcAft>
              <a:buNone/>
            </a:pPr>
            <a:r>
              <a:rPr lang="en" sz="1100">
                <a:solidFill>
                  <a:schemeClr val="dk1"/>
                </a:solidFill>
              </a:rPr>
              <a:t>TL Meeting feat. Alex</a:t>
            </a:r>
            <a:endParaRPr sz="1100">
              <a:solidFill>
                <a:schemeClr val="dk1"/>
              </a:solidFill>
            </a:endParaRPr>
          </a:p>
          <a:p>
            <a:pPr indent="-298450" lvl="0" marL="457200" rtl="0" algn="l">
              <a:lnSpc>
                <a:spcPct val="95000"/>
              </a:lnSpc>
              <a:spcBef>
                <a:spcPts val="1200"/>
              </a:spcBef>
              <a:spcAft>
                <a:spcPts val="0"/>
              </a:spcAft>
              <a:buClr>
                <a:schemeClr val="dk1"/>
              </a:buClr>
              <a:buSzPts val="1100"/>
              <a:buChar char="●"/>
            </a:pPr>
            <a:r>
              <a:rPr lang="en" sz="1100">
                <a:solidFill>
                  <a:schemeClr val="dk1"/>
                </a:solidFill>
              </a:rPr>
              <a:t>Meeting structure, will take place at a centralized location with storage present</a:t>
            </a:r>
            <a:endParaRPr sz="1100">
              <a:solidFill>
                <a:schemeClr val="dk1"/>
              </a:solidFill>
            </a:endParaRPr>
          </a:p>
          <a:p>
            <a:pPr indent="-298450" lvl="0" marL="457200" rtl="0" algn="l">
              <a:lnSpc>
                <a:spcPct val="95000"/>
              </a:lnSpc>
              <a:spcBef>
                <a:spcPts val="0"/>
              </a:spcBef>
              <a:spcAft>
                <a:spcPts val="0"/>
              </a:spcAft>
              <a:buClr>
                <a:schemeClr val="dk1"/>
              </a:buClr>
              <a:buSzPts val="1100"/>
              <a:buChar char="●"/>
            </a:pPr>
            <a:r>
              <a:rPr lang="en" sz="1100">
                <a:solidFill>
                  <a:schemeClr val="dk1"/>
                </a:solidFill>
              </a:rPr>
              <a:t>Beginning with the introduction, 2 hours will be set aside for subteams to work, and with all subteams present, any and all questions can be sorted out</a:t>
            </a:r>
            <a:endParaRPr sz="1100">
              <a:solidFill>
                <a:schemeClr val="dk1"/>
              </a:solidFill>
            </a:endParaRPr>
          </a:p>
          <a:p>
            <a:pPr indent="-298450" lvl="0" marL="457200" rtl="0" algn="l">
              <a:lnSpc>
                <a:spcPct val="95000"/>
              </a:lnSpc>
              <a:spcBef>
                <a:spcPts val="0"/>
              </a:spcBef>
              <a:spcAft>
                <a:spcPts val="0"/>
              </a:spcAft>
              <a:buClr>
                <a:schemeClr val="dk1"/>
              </a:buClr>
              <a:buSzPts val="1100"/>
              <a:buChar char="●"/>
            </a:pPr>
            <a:r>
              <a:rPr lang="en" sz="1100">
                <a:solidFill>
                  <a:schemeClr val="dk1"/>
                </a:solidFill>
              </a:rPr>
              <a:t>With team leads and RCPM present, logistics questions can also be worked out in the time, and everyone can be caught up at all times</a:t>
            </a:r>
            <a:endParaRPr sz="1100">
              <a:solidFill>
                <a:schemeClr val="dk1"/>
              </a:solidFill>
            </a:endParaRPr>
          </a:p>
          <a:p>
            <a:pPr indent="-298450" lvl="0" marL="457200" rtl="0" algn="l">
              <a:lnSpc>
                <a:spcPct val="95000"/>
              </a:lnSpc>
              <a:spcBef>
                <a:spcPts val="0"/>
              </a:spcBef>
              <a:spcAft>
                <a:spcPts val="0"/>
              </a:spcAft>
              <a:buClr>
                <a:schemeClr val="dk1"/>
              </a:buClr>
              <a:buSzPts val="1100"/>
              <a:buChar char="●"/>
            </a:pPr>
            <a:r>
              <a:rPr lang="en" sz="1100">
                <a:solidFill>
                  <a:schemeClr val="dk1"/>
                </a:solidFill>
              </a:rPr>
              <a:t>At conclusion of “meeting”, every subteam shares progress</a:t>
            </a:r>
            <a:endParaRPr sz="1100">
              <a:solidFill>
                <a:schemeClr val="dk1"/>
              </a:solidFill>
            </a:endParaRPr>
          </a:p>
          <a:p>
            <a:pPr indent="-298450" lvl="0" marL="457200" rtl="0" algn="l">
              <a:lnSpc>
                <a:spcPct val="95000"/>
              </a:lnSpc>
              <a:spcBef>
                <a:spcPts val="0"/>
              </a:spcBef>
              <a:spcAft>
                <a:spcPts val="0"/>
              </a:spcAft>
              <a:buClr>
                <a:schemeClr val="dk1"/>
              </a:buClr>
              <a:buSzPts val="1100"/>
              <a:buChar char="●"/>
            </a:pPr>
            <a:r>
              <a:rPr lang="en" sz="1100">
                <a:solidFill>
                  <a:schemeClr val="dk1"/>
                </a:solidFill>
              </a:rPr>
              <a:t>No need for subteam lead - team lead meetings, and team lead - RCPM meetings, as everyone is present</a:t>
            </a:r>
            <a:endParaRPr sz="1100">
              <a:solidFill>
                <a:schemeClr val="dk1"/>
              </a:solidFill>
            </a:endParaRPr>
          </a:p>
          <a:p>
            <a:pPr indent="-298450" lvl="0" marL="457200" rtl="0" algn="l">
              <a:lnSpc>
                <a:spcPct val="95000"/>
              </a:lnSpc>
              <a:spcBef>
                <a:spcPts val="0"/>
              </a:spcBef>
              <a:spcAft>
                <a:spcPts val="0"/>
              </a:spcAft>
              <a:buClr>
                <a:schemeClr val="dk1"/>
              </a:buClr>
              <a:buSzPts val="1100"/>
              <a:buChar char="●"/>
            </a:pPr>
            <a:r>
              <a:rPr lang="en" sz="1100">
                <a:solidFill>
                  <a:schemeClr val="dk1"/>
                </a:solidFill>
              </a:rPr>
              <a:t>Subteam meetings will also take place outside of the week, at a time best suited for them</a:t>
            </a:r>
            <a:endParaRPr sz="1100">
              <a:solidFill>
                <a:schemeClr val="dk1"/>
              </a:solidFill>
            </a:endParaRPr>
          </a:p>
          <a:p>
            <a:pPr indent="-298450" lvl="0" marL="457200" rtl="0" algn="l">
              <a:lnSpc>
                <a:spcPct val="95000"/>
              </a:lnSpc>
              <a:spcBef>
                <a:spcPts val="0"/>
              </a:spcBef>
              <a:spcAft>
                <a:spcPts val="0"/>
              </a:spcAft>
              <a:buClr>
                <a:schemeClr val="dk1"/>
              </a:buClr>
              <a:buSzPts val="1100"/>
              <a:buChar char="●"/>
            </a:pPr>
            <a:r>
              <a:rPr lang="en" sz="1100">
                <a:solidFill>
                  <a:schemeClr val="dk1"/>
                </a:solidFill>
              </a:rPr>
              <a:t>FEDC might happen for meetings, that’s what WIRED does, or HEB</a:t>
            </a:r>
            <a:endParaRPr sz="11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Team Meeting 9/14 					Emily BWM</a:t>
            </a:r>
            <a:endParaRPr/>
          </a:p>
        </p:txBody>
      </p:sp>
      <p:sp>
        <p:nvSpPr>
          <p:cNvPr id="221" name="Google Shape;221;p3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100">
                <a:solidFill>
                  <a:schemeClr val="dk1"/>
                </a:solidFill>
                <a:latin typeface="Helvetica Neue"/>
                <a:ea typeface="Helvetica Neue"/>
                <a:cs typeface="Helvetica Neue"/>
                <a:sym typeface="Helvetica Neue"/>
              </a:rPr>
              <a:t>Present Agenda:</a:t>
            </a:r>
            <a:endParaRPr b="1"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Refer candidates for GNC and F&amp;P (</a:t>
            </a:r>
            <a:r>
              <a:rPr lang="en" sz="1100" u="sng">
                <a:solidFill>
                  <a:schemeClr val="hlink"/>
                </a:solidFill>
                <a:latin typeface="Helvetica Neue"/>
                <a:ea typeface="Helvetica Neue"/>
                <a:cs typeface="Helvetica Neue"/>
                <a:sym typeface="Helvetica Neue"/>
                <a:hlinkClick r:id="rId3"/>
              </a:rPr>
              <a:t>Internally Referred Application</a:t>
            </a:r>
            <a:r>
              <a:rPr lang="en" sz="1100">
                <a:solidFill>
                  <a:schemeClr val="dk1"/>
                </a:solidFill>
                <a:latin typeface="Helvetica Neue"/>
                <a:ea typeface="Helvetica Neue"/>
                <a:cs typeface="Helvetica Neue"/>
                <a:sym typeface="Helvetica Neue"/>
              </a:rPr>
              <a:t>, highly classified!)</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Discuss hierarchy of tasks from </a:t>
            </a:r>
            <a:r>
              <a:rPr lang="en" sz="1100" u="sng">
                <a:solidFill>
                  <a:schemeClr val="hlink"/>
                </a:solidFill>
                <a:latin typeface="Helvetica Neue"/>
                <a:ea typeface="Helvetica Neue"/>
                <a:cs typeface="Helvetica Neue"/>
                <a:sym typeface="Helvetica Neue"/>
                <a:hlinkClick r:id="rId4"/>
              </a:rPr>
              <a:t>Guidelines 2025</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Reflect on what works best for the competition and the compatibility between different characteristics</a:t>
            </a:r>
            <a:endParaRPr sz="11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1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1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1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 sz="1100">
                <a:solidFill>
                  <a:schemeClr val="dk1"/>
                </a:solidFill>
                <a:latin typeface="Helvetica Neue"/>
                <a:ea typeface="Helvetica Neue"/>
                <a:cs typeface="Helvetica Neue"/>
                <a:sym typeface="Helvetica Neue"/>
              </a:rPr>
              <a:t>Resources: </a:t>
            </a:r>
            <a:endParaRPr b="1"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u="sng">
                <a:solidFill>
                  <a:schemeClr val="hlink"/>
                </a:solidFill>
                <a:latin typeface="Helvetica Neue"/>
                <a:ea typeface="Helvetica Neue"/>
                <a:cs typeface="Helvetica Neue"/>
                <a:sym typeface="Helvetica Neue"/>
                <a:hlinkClick r:id="rId5"/>
              </a:rPr>
              <a:t>Final Scores Pioneer - Final</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u="sng">
                <a:solidFill>
                  <a:schemeClr val="hlink"/>
                </a:solidFill>
                <a:latin typeface="Helvetica Neue"/>
                <a:ea typeface="Helvetica Neue"/>
                <a:cs typeface="Helvetica Neue"/>
                <a:sym typeface="Helvetica Neue"/>
                <a:hlinkClick r:id="rId6"/>
              </a:rPr>
              <a:t>2025 Archives</a:t>
            </a:r>
            <a:r>
              <a:rPr lang="en" sz="1100">
                <a:solidFill>
                  <a:schemeClr val="dk1"/>
                </a:solidFill>
                <a:latin typeface="Helvetica Neue"/>
                <a:ea typeface="Helvetica Neue"/>
                <a:cs typeface="Helvetica Neue"/>
                <a:sym typeface="Helvetica Neue"/>
              </a:rPr>
              <a:t> </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t/>
            </a:r>
            <a:endParaRPr sz="11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100">
              <a:solidFill>
                <a:schemeClr val="dk1"/>
              </a:solidFill>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t/>
            </a:r>
            <a:endParaRPr sz="1100">
              <a:solidFill>
                <a:schemeClr val="dk1"/>
              </a:solidFill>
              <a:latin typeface="Helvetica Neue"/>
              <a:ea typeface="Helvetica Neue"/>
              <a:cs typeface="Helvetica Neue"/>
              <a:sym typeface="Helvetica Neue"/>
            </a:endParaRPr>
          </a:p>
          <a:p>
            <a:pPr indent="0" lvl="0" marL="0" rtl="0" algn="l">
              <a:spcBef>
                <a:spcPts val="0"/>
              </a:spcBef>
              <a:spcAft>
                <a:spcPts val="1200"/>
              </a:spcAft>
              <a:buNone/>
            </a:pPr>
            <a:r>
              <a:t/>
            </a:r>
            <a:endParaRPr/>
          </a:p>
        </p:txBody>
      </p:sp>
      <p:sp>
        <p:nvSpPr>
          <p:cNvPr id="222" name="Google Shape;222;p35"/>
          <p:cNvSpPr txBox="1"/>
          <p:nvPr>
            <p:ph idx="2" type="body"/>
          </p:nvPr>
        </p:nvSpPr>
        <p:spPr>
          <a:xfrm>
            <a:off x="4832400" y="2243725"/>
            <a:ext cx="3999900" cy="8622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SzPts val="1100"/>
              <a:buChar char="●"/>
            </a:pPr>
            <a:r>
              <a:rPr lang="en" sz="1100"/>
              <a:t>Most challenging </a:t>
            </a:r>
            <a:r>
              <a:rPr lang="en" sz="1100"/>
              <a:t>factor would be completing all tasks. (unsure about what score would provide us the “completed”)</a:t>
            </a:r>
            <a:endParaRPr sz="1100"/>
          </a:p>
        </p:txBody>
      </p:sp>
      <p:pic>
        <p:nvPicPr>
          <p:cNvPr id="223" name="Google Shape;223;p35"/>
          <p:cNvPicPr preferRelativeResize="0"/>
          <p:nvPr/>
        </p:nvPicPr>
        <p:blipFill rotWithShape="1">
          <a:blip r:embed="rId7">
            <a:alphaModFix/>
          </a:blip>
          <a:srcRect b="0" l="0" r="0" t="0"/>
          <a:stretch/>
        </p:blipFill>
        <p:spPr>
          <a:xfrm>
            <a:off x="4614369" y="1152463"/>
            <a:ext cx="4103750" cy="1047550"/>
          </a:xfrm>
          <a:prstGeom prst="rect">
            <a:avLst/>
          </a:prstGeom>
          <a:noFill/>
          <a:ln>
            <a:noFill/>
          </a:ln>
        </p:spPr>
      </p:pic>
      <p:pic>
        <p:nvPicPr>
          <p:cNvPr id="224" name="Google Shape;224;p35"/>
          <p:cNvPicPr preferRelativeResize="0"/>
          <p:nvPr/>
        </p:nvPicPr>
        <p:blipFill>
          <a:blip r:embed="rId8">
            <a:alphaModFix/>
          </a:blip>
          <a:stretch>
            <a:fillRect/>
          </a:stretch>
        </p:blipFill>
        <p:spPr>
          <a:xfrm>
            <a:off x="5104420" y="3149626"/>
            <a:ext cx="2970275" cy="508874"/>
          </a:xfrm>
          <a:prstGeom prst="rect">
            <a:avLst/>
          </a:prstGeom>
          <a:noFill/>
          <a:ln>
            <a:noFill/>
          </a:ln>
        </p:spPr>
      </p:pic>
      <p:sp>
        <p:nvSpPr>
          <p:cNvPr id="225" name="Google Shape;225;p35"/>
          <p:cNvSpPr txBox="1"/>
          <p:nvPr>
            <p:ph idx="2" type="body"/>
          </p:nvPr>
        </p:nvSpPr>
        <p:spPr>
          <a:xfrm>
            <a:off x="4832400" y="3702200"/>
            <a:ext cx="3999900" cy="8622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SzPts val="1100"/>
              <a:buChar char="●"/>
            </a:pPr>
            <a:r>
              <a:rPr lang="en" sz="1100"/>
              <a:t>Weight restrictions are always nice to have in mind!</a:t>
            </a:r>
            <a:endParaRPr sz="11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Team Meeting 9/14 					Emily BWM</a:t>
            </a:r>
            <a:endParaRPr/>
          </a:p>
        </p:txBody>
      </p:sp>
      <p:pic>
        <p:nvPicPr>
          <p:cNvPr id="231" name="Google Shape;231;p36"/>
          <p:cNvPicPr preferRelativeResize="0"/>
          <p:nvPr/>
        </p:nvPicPr>
        <p:blipFill>
          <a:blip r:embed="rId3">
            <a:alphaModFix/>
          </a:blip>
          <a:stretch>
            <a:fillRect/>
          </a:stretch>
        </p:blipFill>
        <p:spPr>
          <a:xfrm>
            <a:off x="311700" y="1358425"/>
            <a:ext cx="5081374" cy="1707850"/>
          </a:xfrm>
          <a:prstGeom prst="rect">
            <a:avLst/>
          </a:prstGeom>
          <a:noFill/>
          <a:ln>
            <a:noFill/>
          </a:ln>
        </p:spPr>
      </p:pic>
      <p:sp>
        <p:nvSpPr>
          <p:cNvPr id="232" name="Google Shape;232;p36"/>
          <p:cNvSpPr txBox="1"/>
          <p:nvPr>
            <p:ph idx="2" type="body"/>
          </p:nvPr>
        </p:nvSpPr>
        <p:spPr>
          <a:xfrm>
            <a:off x="5591450" y="1152475"/>
            <a:ext cx="32409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a:t>Provide</a:t>
            </a:r>
            <a:r>
              <a:rPr lang="en"/>
              <a:t> us a total of 160 points</a:t>
            </a:r>
            <a:endParaRPr/>
          </a:p>
          <a:p>
            <a:pPr indent="-317500" lvl="0" marL="457200" rtl="0" algn="l">
              <a:spcBef>
                <a:spcPts val="0"/>
              </a:spcBef>
              <a:spcAft>
                <a:spcPts val="0"/>
              </a:spcAft>
              <a:buSzPts val="1400"/>
              <a:buChar char="-"/>
            </a:pPr>
            <a:r>
              <a:rPr lang="en"/>
              <a:t>Task #1 Doc -&gt; </a:t>
            </a:r>
            <a:r>
              <a:rPr b="1" lang="en" u="sng">
                <a:solidFill>
                  <a:schemeClr val="hlink"/>
                </a:solidFill>
                <a:hlinkClick r:id="rId4"/>
              </a:rPr>
              <a:t>Click here</a:t>
            </a:r>
            <a:r>
              <a:rPr b="1" lang="en"/>
              <a:t> to know the details about this task</a:t>
            </a:r>
            <a:endParaRPr b="1"/>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Team Meeting 9/14 					Emily BWM</a:t>
            </a:r>
            <a:endParaRPr/>
          </a:p>
        </p:txBody>
      </p:sp>
      <p:sp>
        <p:nvSpPr>
          <p:cNvPr id="238" name="Google Shape;238;p37"/>
          <p:cNvSpPr txBox="1"/>
          <p:nvPr>
            <p:ph idx="2" type="body"/>
          </p:nvPr>
        </p:nvSpPr>
        <p:spPr>
          <a:xfrm>
            <a:off x="5591450" y="1152475"/>
            <a:ext cx="32409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a:t>Provide us a total of 120 points</a:t>
            </a:r>
            <a:endParaRPr/>
          </a:p>
          <a:p>
            <a:pPr indent="-317500" lvl="0" marL="457200" rtl="0" algn="l">
              <a:spcBef>
                <a:spcPts val="0"/>
              </a:spcBef>
              <a:spcAft>
                <a:spcPts val="0"/>
              </a:spcAft>
              <a:buSzPts val="1400"/>
              <a:buChar char="-"/>
            </a:pPr>
            <a:r>
              <a:rPr lang="en"/>
              <a:t>Task #2 Doc -&gt; </a:t>
            </a:r>
            <a:r>
              <a:rPr b="1" lang="en" u="sng">
                <a:solidFill>
                  <a:schemeClr val="hlink"/>
                </a:solidFill>
                <a:hlinkClick r:id="rId3"/>
              </a:rPr>
              <a:t>Click here</a:t>
            </a:r>
            <a:r>
              <a:rPr b="1" lang="en"/>
              <a:t> to know the details about this task</a:t>
            </a:r>
            <a:endParaRPr b="1"/>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239" name="Google Shape;239;p37"/>
          <p:cNvPicPr preferRelativeResize="0"/>
          <p:nvPr/>
        </p:nvPicPr>
        <p:blipFill>
          <a:blip r:embed="rId4">
            <a:alphaModFix/>
          </a:blip>
          <a:stretch>
            <a:fillRect/>
          </a:stretch>
        </p:blipFill>
        <p:spPr>
          <a:xfrm>
            <a:off x="366525" y="1429975"/>
            <a:ext cx="5472701" cy="18086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Team Meeting 9/14 					Emily BWM</a:t>
            </a:r>
            <a:endParaRPr/>
          </a:p>
        </p:txBody>
      </p:sp>
      <p:sp>
        <p:nvSpPr>
          <p:cNvPr id="245" name="Google Shape;245;p38"/>
          <p:cNvSpPr txBox="1"/>
          <p:nvPr>
            <p:ph idx="2" type="body"/>
          </p:nvPr>
        </p:nvSpPr>
        <p:spPr>
          <a:xfrm>
            <a:off x="5591450" y="1152475"/>
            <a:ext cx="32409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a:t>Provide us a total of 70 points</a:t>
            </a:r>
            <a:endParaRPr/>
          </a:p>
          <a:p>
            <a:pPr indent="-317500" lvl="0" marL="457200" rtl="0" algn="l">
              <a:spcBef>
                <a:spcPts val="0"/>
              </a:spcBef>
              <a:spcAft>
                <a:spcPts val="0"/>
              </a:spcAft>
              <a:buSzPts val="1400"/>
              <a:buChar char="-"/>
            </a:pPr>
            <a:r>
              <a:rPr lang="en"/>
              <a:t>This task is proved to be on the MATE 2026 Guidelines </a:t>
            </a:r>
            <a:endParaRPr sz="1100"/>
          </a:p>
          <a:p>
            <a:pPr indent="-298450" lvl="0" marL="457200" rtl="0" algn="l">
              <a:spcBef>
                <a:spcPts val="0"/>
              </a:spcBef>
              <a:spcAft>
                <a:spcPts val="0"/>
              </a:spcAft>
              <a:buSzPts val="1100"/>
              <a:buChar char="-"/>
            </a:pPr>
            <a:r>
              <a:rPr lang="en" sz="1100" u="sng">
                <a:solidFill>
                  <a:schemeClr val="hlink"/>
                </a:solidFill>
                <a:hlinkClick r:id="rId3"/>
              </a:rPr>
              <a:t>Task 3</a:t>
            </a:r>
            <a:endParaRPr sz="1100"/>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pic>
        <p:nvPicPr>
          <p:cNvPr id="246" name="Google Shape;246;p38"/>
          <p:cNvPicPr preferRelativeResize="0"/>
          <p:nvPr/>
        </p:nvPicPr>
        <p:blipFill>
          <a:blip r:embed="rId4">
            <a:alphaModFix/>
          </a:blip>
          <a:stretch>
            <a:fillRect/>
          </a:stretch>
        </p:blipFill>
        <p:spPr>
          <a:xfrm>
            <a:off x="168947" y="1245250"/>
            <a:ext cx="5551325" cy="1230250"/>
          </a:xfrm>
          <a:prstGeom prst="rect">
            <a:avLst/>
          </a:prstGeom>
          <a:noFill/>
          <a:ln>
            <a:noFill/>
          </a:ln>
        </p:spPr>
      </p:pic>
      <p:sp>
        <p:nvSpPr>
          <p:cNvPr id="247" name="Google Shape;247;p38"/>
          <p:cNvSpPr txBox="1"/>
          <p:nvPr/>
        </p:nvSpPr>
        <p:spPr>
          <a:xfrm>
            <a:off x="6830250" y="3016725"/>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u="sng">
                <a:solidFill>
                  <a:schemeClr val="hlink"/>
                </a:solidFill>
                <a:hlinkClick r:id="rId5"/>
              </a:rPr>
              <a:t>Task #3 Doc</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Leads Meeting </a:t>
            </a:r>
            <a:endParaRPr/>
          </a:p>
        </p:txBody>
      </p:sp>
      <p:sp>
        <p:nvSpPr>
          <p:cNvPr id="253" name="Google Shape;253;p39"/>
          <p:cNvSpPr txBox="1"/>
          <p:nvPr>
            <p:ph idx="1" type="body"/>
          </p:nvPr>
        </p:nvSpPr>
        <p:spPr>
          <a:xfrm>
            <a:off x="311700" y="1152475"/>
            <a:ext cx="39999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-First Prototype -&gt; October 11th (NEEDS TO BE PUSHED)</a:t>
            </a:r>
            <a:endParaRPr/>
          </a:p>
          <a:p>
            <a:pPr indent="-304165" lvl="0" marL="914400" rtl="0" algn="l">
              <a:spcBef>
                <a:spcPts val="1200"/>
              </a:spcBef>
              <a:spcAft>
                <a:spcPts val="0"/>
              </a:spcAft>
              <a:buSzPct val="100000"/>
              <a:buChar char="●"/>
            </a:pPr>
            <a:r>
              <a:rPr lang="en"/>
              <a:t>Proof of concept</a:t>
            </a:r>
            <a:endParaRPr/>
          </a:p>
          <a:p>
            <a:pPr indent="0" lvl="0" marL="0" rtl="0" algn="l">
              <a:spcBef>
                <a:spcPts val="1200"/>
              </a:spcBef>
              <a:spcAft>
                <a:spcPts val="0"/>
              </a:spcAft>
              <a:buNone/>
            </a:pPr>
            <a:r>
              <a:rPr lang="en"/>
              <a:t>-Second Prototype -&gt; October 25th </a:t>
            </a:r>
            <a:endParaRPr/>
          </a:p>
          <a:p>
            <a:pPr indent="-304165" lvl="0" marL="914400" rtl="0" algn="l">
              <a:spcBef>
                <a:spcPts val="1200"/>
              </a:spcBef>
              <a:spcAft>
                <a:spcPts val="0"/>
              </a:spcAft>
              <a:buSzPct val="100000"/>
              <a:buChar char="●"/>
            </a:pPr>
            <a:r>
              <a:rPr lang="en"/>
              <a:t>Functional system </a:t>
            </a:r>
            <a:endParaRPr/>
          </a:p>
          <a:p>
            <a:pPr indent="0" lvl="0" marL="0" rtl="0" algn="l">
              <a:spcBef>
                <a:spcPts val="1200"/>
              </a:spcBef>
              <a:spcAft>
                <a:spcPts val="0"/>
              </a:spcAft>
              <a:buNone/>
            </a:pPr>
            <a:r>
              <a:rPr lang="en"/>
              <a:t>-Third </a:t>
            </a:r>
            <a:r>
              <a:rPr lang="en"/>
              <a:t>prototype</a:t>
            </a:r>
            <a:r>
              <a:rPr lang="en"/>
              <a:t> -&gt; November 10th </a:t>
            </a:r>
            <a:endParaRPr/>
          </a:p>
          <a:p>
            <a:pPr indent="-304165" lvl="0" marL="914400" rtl="0" algn="l">
              <a:spcBef>
                <a:spcPts val="1200"/>
              </a:spcBef>
              <a:spcAft>
                <a:spcPts val="0"/>
              </a:spcAft>
              <a:buSzPct val="100000"/>
              <a:buChar char="●"/>
            </a:pPr>
            <a:r>
              <a:rPr lang="en"/>
              <a:t>More integrated version to check for compatibility of components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-Testing Meeting -&gt; Better to do it sooner than later</a:t>
            </a:r>
            <a:endParaRPr/>
          </a:p>
          <a:p>
            <a:pPr indent="0" lvl="0" marL="0" rtl="0" algn="l">
              <a:spcBef>
                <a:spcPts val="1200"/>
              </a:spcBef>
              <a:spcAft>
                <a:spcPts val="1200"/>
              </a:spcAft>
              <a:buNone/>
            </a:pPr>
            <a:r>
              <a:t/>
            </a:r>
            <a:endParaRPr/>
          </a:p>
        </p:txBody>
      </p:sp>
      <p:sp>
        <p:nvSpPr>
          <p:cNvPr id="254" name="Google Shape;254;p39"/>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Team Meeting 9/21 					Emily BWM</a:t>
            </a:r>
            <a:endParaRPr/>
          </a:p>
        </p:txBody>
      </p:sp>
      <p:sp>
        <p:nvSpPr>
          <p:cNvPr id="260" name="Google Shape;260;p40"/>
          <p:cNvSpPr txBox="1"/>
          <p:nvPr>
            <p:ph idx="2" type="body"/>
          </p:nvPr>
        </p:nvSpPr>
        <p:spPr>
          <a:xfrm>
            <a:off x="849775" y="1212125"/>
            <a:ext cx="7223400" cy="34164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SzPts val="1100"/>
              <a:buChar char="-"/>
            </a:pPr>
            <a:r>
              <a:rPr lang="en"/>
              <a:t>Going over the template of a trade study.</a:t>
            </a:r>
            <a:endParaRPr/>
          </a:p>
          <a:p>
            <a:pPr indent="-304800" lvl="1" marL="914400" rtl="0" algn="l">
              <a:spcBef>
                <a:spcPts val="0"/>
              </a:spcBef>
              <a:spcAft>
                <a:spcPts val="0"/>
              </a:spcAft>
              <a:buSzPts val="1200"/>
              <a:buChar char="-"/>
            </a:pPr>
            <a:r>
              <a:rPr lang="en"/>
              <a:t>Feel familiar with the criteria of a trade study for every component</a:t>
            </a:r>
            <a:endParaRPr/>
          </a:p>
          <a:p>
            <a:pPr indent="-317500" lvl="0" marL="457200" rtl="0" algn="l">
              <a:spcBef>
                <a:spcPts val="0"/>
              </a:spcBef>
              <a:spcAft>
                <a:spcPts val="0"/>
              </a:spcAft>
              <a:buSzPts val="1400"/>
              <a:buChar char="-"/>
            </a:pPr>
            <a:r>
              <a:rPr lang="en"/>
              <a:t>Group was divided into their respective subteams to work on the trade study.</a:t>
            </a:r>
            <a:endParaRPr/>
          </a:p>
          <a:p>
            <a:pPr indent="-304800" lvl="1" marL="914400" rtl="0" algn="l">
              <a:spcBef>
                <a:spcPts val="0"/>
              </a:spcBef>
              <a:spcAft>
                <a:spcPts val="0"/>
              </a:spcAft>
              <a:buSzPts val="1200"/>
              <a:buChar char="-"/>
            </a:pPr>
            <a:r>
              <a:rPr lang="en"/>
              <a:t>List of components will be done by the end of the week along with trade studies for each component</a:t>
            </a:r>
            <a:endParaRPr/>
          </a:p>
          <a:p>
            <a:pPr indent="-317500" lvl="0" marL="457200" rtl="0" algn="l">
              <a:spcBef>
                <a:spcPts val="0"/>
              </a:spcBef>
              <a:spcAft>
                <a:spcPts val="0"/>
              </a:spcAft>
              <a:buSzPts val="1400"/>
              <a:buChar char="-"/>
            </a:pPr>
            <a:r>
              <a:rPr lang="en"/>
              <a:t>SOP was uploaded to the drive and team members must check it and feel free to add on to it</a:t>
            </a:r>
            <a:endParaRPr/>
          </a:p>
          <a:p>
            <a:pPr indent="0" lvl="0" marL="457200" rtl="0" algn="l">
              <a:spcBef>
                <a:spcPts val="1200"/>
              </a:spcBef>
              <a:spcAft>
                <a:spcPts val="0"/>
              </a:spcAft>
              <a:buNone/>
            </a:pPr>
            <a:r>
              <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Team Meeting 9/28                                   Zachary Hobbs</a:t>
            </a:r>
            <a:endParaRPr/>
          </a:p>
        </p:txBody>
      </p:sp>
      <p:sp>
        <p:nvSpPr>
          <p:cNvPr id="266" name="Google Shape;266;p41"/>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100">
                <a:solidFill>
                  <a:schemeClr val="dk1"/>
                </a:solidFill>
                <a:latin typeface="Helvetica Neue"/>
                <a:ea typeface="Helvetica Neue"/>
                <a:cs typeface="Helvetica Neue"/>
                <a:sym typeface="Helvetica Neue"/>
              </a:rPr>
              <a:t>Present Agenda:</a:t>
            </a:r>
            <a:endParaRPr b="1"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Catch up through new hires</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Continue to introduce trade studies</a:t>
            </a:r>
            <a:endParaRPr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Teams work on trade studies</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Finish trade study timeline by subteam</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Begin Prototype one timeline and expectations</a:t>
            </a:r>
            <a:endParaRPr sz="1100">
              <a:solidFill>
                <a:schemeClr val="dk1"/>
              </a:solidFill>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rPr b="1" lang="en" sz="1100">
                <a:solidFill>
                  <a:schemeClr val="dk1"/>
                </a:solidFill>
                <a:latin typeface="Helvetica Neue"/>
                <a:ea typeface="Helvetica Neue"/>
                <a:cs typeface="Helvetica Neue"/>
                <a:sym typeface="Helvetica Neue"/>
              </a:rPr>
              <a:t>Future Agenda:</a:t>
            </a:r>
            <a:endParaRPr b="1"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What tasks need to be done</a:t>
            </a:r>
            <a:endParaRPr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Include who does the task</a:t>
            </a:r>
            <a:endParaRPr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Deadline for the task</a:t>
            </a:r>
            <a:endParaRPr/>
          </a:p>
        </p:txBody>
      </p:sp>
      <p:sp>
        <p:nvSpPr>
          <p:cNvPr id="267" name="Google Shape;267;p41"/>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Trade studies due date </a:t>
            </a:r>
            <a:r>
              <a:rPr lang="en"/>
              <a:t>dependent on team</a:t>
            </a:r>
            <a:endParaRPr/>
          </a:p>
          <a:p>
            <a:pPr indent="-304800" lvl="1" marL="914400" rtl="0" algn="l">
              <a:spcBef>
                <a:spcPts val="0"/>
              </a:spcBef>
              <a:spcAft>
                <a:spcPts val="0"/>
              </a:spcAft>
              <a:buSzPts val="1200"/>
              <a:buChar char="○"/>
            </a:pPr>
            <a:r>
              <a:rPr lang="en"/>
              <a:t>Asked each team what is reasonable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Team Meeting 11/2 								Emily BWM</a:t>
            </a:r>
            <a:endParaRPr/>
          </a:p>
        </p:txBody>
      </p:sp>
      <p:sp>
        <p:nvSpPr>
          <p:cNvPr id="273" name="Google Shape;273;p42"/>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a:t>In this meeting, subteams focused on double checking how the requirements </a:t>
            </a:r>
            <a:endParaRPr/>
          </a:p>
          <a:p>
            <a:pPr indent="-317500" lvl="0" marL="457200" rtl="0" algn="l">
              <a:spcBef>
                <a:spcPts val="0"/>
              </a:spcBef>
              <a:spcAft>
                <a:spcPts val="0"/>
              </a:spcAft>
              <a:buSzPts val="1400"/>
              <a:buChar char="-"/>
            </a:pPr>
            <a:r>
              <a:rPr lang="en"/>
              <a:t>Creating a hierarchy of requirements </a:t>
            </a:r>
            <a:endParaRPr/>
          </a:p>
        </p:txBody>
      </p:sp>
      <p:sp>
        <p:nvSpPr>
          <p:cNvPr id="274" name="Google Shape;274;p42"/>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Meeting with Cayden</a:t>
            </a:r>
            <a:endParaRPr/>
          </a:p>
        </p:txBody>
      </p:sp>
      <p:sp>
        <p:nvSpPr>
          <p:cNvPr id="280" name="Google Shape;280;p43"/>
          <p:cNvSpPr txBox="1"/>
          <p:nvPr>
            <p:ph idx="1" type="body"/>
          </p:nvPr>
        </p:nvSpPr>
        <p:spPr>
          <a:xfrm>
            <a:off x="311700" y="1152475"/>
            <a:ext cx="7806900" cy="3416400"/>
          </a:xfrm>
          <a:prstGeom prst="rect">
            <a:avLst/>
          </a:prstGeom>
        </p:spPr>
        <p:txBody>
          <a:bodyPr anchorCtr="0" anchor="t" bIns="91425" lIns="91425" spcFirstLastPara="1" rIns="91425" wrap="square" tIns="91425">
            <a:normAutofit/>
          </a:bodyPr>
          <a:lstStyle/>
          <a:p>
            <a:pPr indent="-279400" lvl="0" marL="457200" rtl="0" algn="l">
              <a:spcBef>
                <a:spcPts val="0"/>
              </a:spcBef>
              <a:spcAft>
                <a:spcPts val="0"/>
              </a:spcAft>
              <a:buSzPts val="800"/>
              <a:buChar char="●"/>
            </a:pPr>
            <a:r>
              <a:rPr lang="en" sz="800"/>
              <a:t>The ProROV </a:t>
            </a:r>
            <a:r>
              <a:rPr lang="en" sz="800"/>
              <a:t>propulsion</a:t>
            </a:r>
            <a:r>
              <a:rPr lang="en" sz="800"/>
              <a:t> is not easy to implement</a:t>
            </a:r>
            <a:endParaRPr sz="800"/>
          </a:p>
          <a:p>
            <a:pPr indent="-279400" lvl="0" marL="457200" rtl="0" algn="l">
              <a:spcBef>
                <a:spcPts val="0"/>
              </a:spcBef>
              <a:spcAft>
                <a:spcPts val="0"/>
              </a:spcAft>
              <a:buSzPts val="800"/>
              <a:buChar char="●"/>
            </a:pPr>
            <a:r>
              <a:rPr lang="en" sz="800"/>
              <a:t>Amphibious used a clutch to engage wheels</a:t>
            </a:r>
            <a:endParaRPr sz="800"/>
          </a:p>
          <a:p>
            <a:pPr indent="-279400" lvl="0" marL="457200" rtl="0" algn="l">
              <a:spcBef>
                <a:spcPts val="0"/>
              </a:spcBef>
              <a:spcAft>
                <a:spcPts val="0"/>
              </a:spcAft>
              <a:buSzPts val="800"/>
              <a:buChar char="●"/>
            </a:pPr>
            <a:r>
              <a:rPr lang="en" sz="800"/>
              <a:t>Difficulties: Greatest issue was waterproofing, consider a flooded bot. </a:t>
            </a:r>
            <a:endParaRPr sz="800"/>
          </a:p>
          <a:p>
            <a:pPr indent="-279400" lvl="1" marL="914400" rtl="0" algn="l">
              <a:spcBef>
                <a:spcPts val="0"/>
              </a:spcBef>
              <a:spcAft>
                <a:spcPts val="0"/>
              </a:spcAft>
              <a:buSzPts val="800"/>
              <a:buChar char="○"/>
            </a:pPr>
            <a:r>
              <a:rPr lang="en" sz="800"/>
              <a:t>Online waterproofing is not reliable due to corrosion</a:t>
            </a:r>
            <a:endParaRPr sz="800"/>
          </a:p>
          <a:p>
            <a:pPr indent="-279400" lvl="0" marL="457200" rtl="0" algn="l">
              <a:spcBef>
                <a:spcPts val="0"/>
              </a:spcBef>
              <a:spcAft>
                <a:spcPts val="0"/>
              </a:spcAft>
              <a:buSzPts val="800"/>
              <a:buChar char="●"/>
            </a:pPr>
            <a:r>
              <a:t/>
            </a:r>
            <a:endParaRPr sz="8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Team Meeting 11/23                                         Emily BWM</a:t>
            </a:r>
            <a:endParaRPr/>
          </a:p>
        </p:txBody>
      </p:sp>
      <p:sp>
        <p:nvSpPr>
          <p:cNvPr id="286" name="Google Shape;286;p44"/>
          <p:cNvSpPr txBox="1"/>
          <p:nvPr>
            <p:ph idx="1" type="body"/>
          </p:nvPr>
        </p:nvSpPr>
        <p:spPr>
          <a:xfrm>
            <a:off x="311700" y="1152475"/>
            <a:ext cx="42603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b="1" lang="en" sz="1100">
                <a:solidFill>
                  <a:schemeClr val="dk1"/>
                </a:solidFill>
                <a:latin typeface="Helvetica Neue"/>
                <a:ea typeface="Helvetica Neue"/>
                <a:cs typeface="Helvetica Neue"/>
                <a:sym typeface="Helvetica Neue"/>
              </a:rPr>
              <a:t>Present Agenda:</a:t>
            </a:r>
            <a:endParaRPr b="1"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EVERYONE (1 person per subteam): Getting BoM done</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EVERYONE: Put all active files onto the GitHub</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TMS: Scott will work with F&amp;P, Josh will work with GNC, Alex will help Alex</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C&amp;C: Refining lights and C3 station selection</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F&amp;P: Refining ballast system </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EPS: Still need input from bhavana!</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EVERYONE: Working on slides (if nothing from their subteam needs improvement, </a:t>
            </a:r>
            <a:r>
              <a:rPr i="1" lang="en" sz="1100">
                <a:solidFill>
                  <a:schemeClr val="dk1"/>
                </a:solidFill>
                <a:latin typeface="Helvetica Neue"/>
                <a:ea typeface="Helvetica Neue"/>
                <a:cs typeface="Helvetica Neue"/>
                <a:sym typeface="Helvetica Neue"/>
              </a:rPr>
              <a:t>HIGHLY UNLIKELY</a:t>
            </a:r>
            <a:r>
              <a:rPr lang="en" sz="1100">
                <a:solidFill>
                  <a:schemeClr val="dk1"/>
                </a:solidFill>
                <a:latin typeface="Helvetica Neue"/>
                <a:ea typeface="Helvetica Neue"/>
                <a:cs typeface="Helvetica Neue"/>
                <a:sym typeface="Helvetica Neue"/>
              </a:rPr>
              <a:t>)</a:t>
            </a:r>
            <a:endParaRPr sz="1100">
              <a:solidFill>
                <a:schemeClr val="dk1"/>
              </a:solidFill>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rPr b="1" lang="en" sz="1100">
                <a:solidFill>
                  <a:schemeClr val="dk1"/>
                </a:solidFill>
                <a:latin typeface="Helvetica Neue"/>
                <a:ea typeface="Helvetica Neue"/>
                <a:cs typeface="Helvetica Neue"/>
                <a:sym typeface="Helvetica Neue"/>
              </a:rPr>
              <a:t>Future Agenda:</a:t>
            </a:r>
            <a:endParaRPr b="1"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Slides shall be done by next meeting (11/30th)</a:t>
            </a:r>
            <a:endParaRPr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SUBLEADS: Practice meeting will happen during the week of December 1st </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TMS: Refining material selection</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EVERYONE: Testing meeting (during winter break)</a:t>
            </a:r>
            <a:endParaRPr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Progress checks through NB</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CAD prototype shall be done by January 12th (start of Spring semester)</a:t>
            </a:r>
            <a:endParaRPr sz="11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100">
              <a:solidFill>
                <a:schemeClr val="dk1"/>
              </a:solidFill>
              <a:latin typeface="Helvetica Neue"/>
              <a:ea typeface="Helvetica Neue"/>
              <a:cs typeface="Helvetica Neue"/>
              <a:sym typeface="Helvetica Neue"/>
            </a:endParaRPr>
          </a:p>
        </p:txBody>
      </p:sp>
      <p:sp>
        <p:nvSpPr>
          <p:cNvPr id="287" name="Google Shape;287;p44"/>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EPS needs to get the power requirements for the float </a:t>
            </a:r>
            <a:endParaRPr/>
          </a:p>
          <a:p>
            <a:pPr indent="-317500" lvl="0" marL="457200" rtl="0" algn="l">
              <a:spcBef>
                <a:spcPts val="0"/>
              </a:spcBef>
              <a:spcAft>
                <a:spcPts val="0"/>
              </a:spcAft>
              <a:buSzPts val="1400"/>
              <a:buChar char="●"/>
            </a:pPr>
            <a:r>
              <a:rPr lang="en"/>
              <a:t>F&amp;P still needs to work on the ballast system</a:t>
            </a:r>
            <a:endParaRPr/>
          </a:p>
          <a:p>
            <a:pPr indent="-317500" lvl="0" marL="457200" rtl="0" algn="l">
              <a:spcBef>
                <a:spcPts val="0"/>
              </a:spcBef>
              <a:spcAft>
                <a:spcPts val="0"/>
              </a:spcAft>
              <a:buSzPts val="1400"/>
              <a:buChar char="●"/>
            </a:pPr>
            <a:r>
              <a:rPr lang="en"/>
              <a:t>BoM needs to be done by tonight!</a:t>
            </a:r>
            <a:endParaRPr/>
          </a:p>
          <a:p>
            <a:pPr indent="-317500" lvl="0" marL="457200" rtl="0" algn="l">
              <a:spcBef>
                <a:spcPts val="0"/>
              </a:spcBef>
              <a:spcAft>
                <a:spcPts val="0"/>
              </a:spcAft>
              <a:buSzPts val="1400"/>
              <a:buChar char="●"/>
            </a:pPr>
            <a:r>
              <a:rPr lang="en"/>
              <a:t>EoS is a priority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Team Meeting 11/30                                         Emily BWM</a:t>
            </a:r>
            <a:endParaRPr/>
          </a:p>
        </p:txBody>
      </p:sp>
      <p:sp>
        <p:nvSpPr>
          <p:cNvPr id="293" name="Google Shape;293;p45"/>
          <p:cNvSpPr txBox="1"/>
          <p:nvPr>
            <p:ph idx="1" type="body"/>
          </p:nvPr>
        </p:nvSpPr>
        <p:spPr>
          <a:xfrm>
            <a:off x="311700" y="1152475"/>
            <a:ext cx="42603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b="1" lang="en" sz="1100">
                <a:solidFill>
                  <a:schemeClr val="dk1"/>
                </a:solidFill>
                <a:latin typeface="Helvetica Neue"/>
                <a:ea typeface="Helvetica Neue"/>
                <a:cs typeface="Helvetica Neue"/>
                <a:sym typeface="Helvetica Neue"/>
              </a:rPr>
              <a:t>Present Agenda:</a:t>
            </a:r>
            <a:endParaRPr b="1"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Slides shall be done by this meeting (11/30th)</a:t>
            </a:r>
            <a:endParaRPr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SUBLEADS: Practice meeting will happen on 12/1. </a:t>
            </a:r>
            <a:endParaRPr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TMS:</a:t>
            </a:r>
            <a:endParaRPr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F&amp;P:</a:t>
            </a:r>
            <a:endParaRPr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C&amp;C:</a:t>
            </a:r>
            <a:endParaRPr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GNC:</a:t>
            </a:r>
            <a:endParaRPr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EPS:</a:t>
            </a:r>
            <a:endParaRPr sz="1100">
              <a:solidFill>
                <a:schemeClr val="dk1"/>
              </a:solidFill>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rPr b="1" lang="en" sz="1100">
                <a:solidFill>
                  <a:schemeClr val="dk1"/>
                </a:solidFill>
                <a:latin typeface="Helvetica Neue"/>
                <a:ea typeface="Helvetica Neue"/>
                <a:cs typeface="Helvetica Neue"/>
                <a:sym typeface="Helvetica Neue"/>
              </a:rPr>
              <a:t>Future Agenda:</a:t>
            </a:r>
            <a:endParaRPr b="1"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Slides shall be done by next meeting (11/30th)</a:t>
            </a:r>
            <a:endParaRPr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SUBLEADS: Practice meeting will happen during the week of December 1st </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TMS: Refining material selection</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EVERYONE: Testing meeting (during winter break)</a:t>
            </a:r>
            <a:endParaRPr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Progress checks through NB</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CAD prototype shall be done by January 12th (start of Spring semester)</a:t>
            </a:r>
            <a:endParaRPr sz="11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100">
              <a:solidFill>
                <a:schemeClr val="dk1"/>
              </a:solidFill>
              <a:latin typeface="Helvetica Neue"/>
              <a:ea typeface="Helvetica Neue"/>
              <a:cs typeface="Helvetica Neue"/>
              <a:sym typeface="Helvetica Neue"/>
            </a:endParaRPr>
          </a:p>
        </p:txBody>
      </p:sp>
      <p:sp>
        <p:nvSpPr>
          <p:cNvPr id="294" name="Google Shape;294;p4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EPS needs to get the power requirements for the float </a:t>
            </a:r>
            <a:endParaRPr/>
          </a:p>
          <a:p>
            <a:pPr indent="-317500" lvl="0" marL="457200" rtl="0" algn="l">
              <a:spcBef>
                <a:spcPts val="0"/>
              </a:spcBef>
              <a:spcAft>
                <a:spcPts val="0"/>
              </a:spcAft>
              <a:buSzPts val="1400"/>
              <a:buChar char="●"/>
            </a:pPr>
            <a:r>
              <a:rPr lang="en"/>
              <a:t>F&amp;P still needs to work on the ballast system</a:t>
            </a:r>
            <a:endParaRPr/>
          </a:p>
          <a:p>
            <a:pPr indent="-317500" lvl="0" marL="457200" rtl="0" algn="l">
              <a:spcBef>
                <a:spcPts val="0"/>
              </a:spcBef>
              <a:spcAft>
                <a:spcPts val="0"/>
              </a:spcAft>
              <a:buSzPts val="1400"/>
              <a:buChar char="●"/>
            </a:pPr>
            <a:r>
              <a:rPr lang="en"/>
              <a:t>BoM needs to be done by tonight!</a:t>
            </a:r>
            <a:endParaRPr/>
          </a:p>
          <a:p>
            <a:pPr indent="-317500" lvl="0" marL="457200" rtl="0" algn="l">
              <a:spcBef>
                <a:spcPts val="0"/>
              </a:spcBef>
              <a:spcAft>
                <a:spcPts val="0"/>
              </a:spcAft>
              <a:buSzPts val="1400"/>
              <a:buChar char="●"/>
            </a:pPr>
            <a:r>
              <a:rPr lang="en"/>
              <a:t>EoS is a priority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Team Meeting 12/21                                         Emily BWM</a:t>
            </a:r>
            <a:endParaRPr/>
          </a:p>
        </p:txBody>
      </p:sp>
      <p:sp>
        <p:nvSpPr>
          <p:cNvPr id="300" name="Google Shape;300;p46"/>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100">
                <a:solidFill>
                  <a:schemeClr val="dk1"/>
                </a:solidFill>
                <a:latin typeface="Helvetica Neue"/>
                <a:ea typeface="Helvetica Neue"/>
                <a:cs typeface="Helvetica Neue"/>
                <a:sym typeface="Helvetica Neue"/>
              </a:rPr>
              <a:t>Present Agenda:</a:t>
            </a:r>
            <a:endParaRPr b="1"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Get active files on Github </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All subteams: Ways of testing requirements!</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Brief Progress checks through engineering NBs</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Working </a:t>
            </a:r>
            <a:r>
              <a:rPr lang="en" sz="1100">
                <a:solidFill>
                  <a:schemeClr val="dk1"/>
                </a:solidFill>
                <a:latin typeface="Helvetica Neue"/>
                <a:ea typeface="Helvetica Neue"/>
                <a:cs typeface="Helvetica Neue"/>
                <a:sym typeface="Helvetica Neue"/>
              </a:rPr>
              <a:t>towards a finalized design of the rov</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Double check float status</a:t>
            </a:r>
            <a:endParaRPr sz="11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100">
              <a:solidFill>
                <a:schemeClr val="dk1"/>
              </a:solidFill>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rPr b="1" lang="en" sz="1100">
                <a:solidFill>
                  <a:schemeClr val="dk1"/>
                </a:solidFill>
                <a:latin typeface="Helvetica Neue"/>
                <a:ea typeface="Helvetica Neue"/>
                <a:cs typeface="Helvetica Neue"/>
                <a:sym typeface="Helvetica Neue"/>
              </a:rPr>
              <a:t>Future Agenda:</a:t>
            </a:r>
            <a:endParaRPr b="1"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Work on schematics!</a:t>
            </a:r>
            <a:endParaRPr sz="11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100">
              <a:solidFill>
                <a:schemeClr val="dk1"/>
              </a:solidFill>
              <a:latin typeface="Helvetica Neue"/>
              <a:ea typeface="Helvetica Neue"/>
              <a:cs typeface="Helvetica Neue"/>
              <a:sym typeface="Helvetica Neue"/>
            </a:endParaRPr>
          </a:p>
        </p:txBody>
      </p:sp>
      <p:sp>
        <p:nvSpPr>
          <p:cNvPr id="301" name="Google Shape;301;p4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a:t>Everybody worked on testing procedures</a:t>
            </a:r>
            <a:endParaRPr/>
          </a:p>
          <a:p>
            <a:pPr indent="-317500" lvl="0" marL="457200" rtl="0" algn="l">
              <a:spcBef>
                <a:spcPts val="0"/>
              </a:spcBef>
              <a:spcAft>
                <a:spcPts val="0"/>
              </a:spcAft>
              <a:buSzPts val="1400"/>
              <a:buChar char="●"/>
            </a:pPr>
            <a:r>
              <a:rPr lang="en"/>
              <a:t>It would be a </a:t>
            </a:r>
            <a:r>
              <a:rPr lang="en"/>
              <a:t>stretch</a:t>
            </a:r>
            <a:r>
              <a:rPr lang="en"/>
              <a:t> to have all electrical components integrated with communications </a:t>
            </a:r>
            <a:endParaRPr/>
          </a:p>
          <a:p>
            <a:pPr indent="-317500" lvl="0" marL="457200" rtl="0" algn="l">
              <a:spcBef>
                <a:spcPts val="0"/>
              </a:spcBef>
              <a:spcAft>
                <a:spcPts val="0"/>
              </a:spcAft>
              <a:buSzPts val="1400"/>
              <a:buChar char="●"/>
            </a:pPr>
            <a:r>
              <a:rPr lang="en"/>
              <a:t>Expecting to have architectures for C&amp;C, EPS, and GNC by the 12th</a:t>
            </a:r>
            <a:endParaRPr/>
          </a:p>
          <a:p>
            <a:pPr indent="-317500" lvl="0" marL="457200" rtl="0" algn="l">
              <a:spcBef>
                <a:spcPts val="0"/>
              </a:spcBef>
              <a:spcAft>
                <a:spcPts val="0"/>
              </a:spcAft>
              <a:buSzPts val="1400"/>
              <a:buChar char="●"/>
            </a:pPr>
            <a:r>
              <a:rPr lang="en"/>
              <a:t>After deadline, start on integrating the different architectures</a:t>
            </a:r>
            <a:endParaRPr/>
          </a:p>
          <a:p>
            <a:pPr indent="0" lvl="0" marL="457200" rtl="0" algn="l">
              <a:spcBef>
                <a:spcPts val="1200"/>
              </a:spcBef>
              <a:spcAft>
                <a:spcPts val="120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Team Meeting 12/28 						Emily BWM</a:t>
            </a:r>
            <a:endParaRPr/>
          </a:p>
        </p:txBody>
      </p:sp>
      <p:sp>
        <p:nvSpPr>
          <p:cNvPr id="307" name="Google Shape;307;p47"/>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100">
                <a:solidFill>
                  <a:schemeClr val="dk1"/>
                </a:solidFill>
                <a:latin typeface="Helvetica Neue"/>
                <a:ea typeface="Helvetica Neue"/>
                <a:cs typeface="Helvetica Neue"/>
                <a:sym typeface="Helvetica Neue"/>
              </a:rPr>
              <a:t>Present Agenda:</a:t>
            </a:r>
            <a:endParaRPr b="1"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Get active files on Github </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Working day with a focus on getting the blueprints/schematics done</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EPS: Get electrical components on bill of materials,</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TMS: Finalize CAD</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F&amp;P: Simulations</a:t>
            </a:r>
            <a:endParaRPr sz="11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100">
              <a:solidFill>
                <a:schemeClr val="dk1"/>
              </a:solidFill>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rPr b="1" lang="en" sz="1100">
                <a:solidFill>
                  <a:schemeClr val="dk1"/>
                </a:solidFill>
                <a:latin typeface="Helvetica Neue"/>
                <a:ea typeface="Helvetica Neue"/>
                <a:cs typeface="Helvetica Neue"/>
                <a:sym typeface="Helvetica Neue"/>
              </a:rPr>
              <a:t>Future Agenda:</a:t>
            </a:r>
            <a:endParaRPr b="1"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EPS, GNC and CNC must have architectures done by the 12th</a:t>
            </a:r>
            <a:endParaRPr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After deadline, start on integrating the architectures</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Everybody should be familiar with the 4 different environments that the ROV and float wil face</a:t>
            </a:r>
            <a:endParaRPr sz="11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100">
              <a:solidFill>
                <a:schemeClr val="dk1"/>
              </a:solidFill>
              <a:latin typeface="Helvetica Neue"/>
              <a:ea typeface="Helvetica Neue"/>
              <a:cs typeface="Helvetica Neue"/>
              <a:sym typeface="Helvetica Neue"/>
            </a:endParaRPr>
          </a:p>
        </p:txBody>
      </p:sp>
      <p:sp>
        <p:nvSpPr>
          <p:cNvPr id="308" name="Google Shape;308;p4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fontScale="92500" lnSpcReduction="20000"/>
          </a:bodyPr>
          <a:lstStyle/>
          <a:p>
            <a:pPr indent="-310833" lvl="0" marL="457200" rtl="0" algn="l">
              <a:spcBef>
                <a:spcPts val="0"/>
              </a:spcBef>
              <a:spcAft>
                <a:spcPts val="0"/>
              </a:spcAft>
              <a:buSzPct val="100000"/>
              <a:buChar char="●"/>
            </a:pPr>
            <a:r>
              <a:rPr lang="en"/>
              <a:t>F&amp;P: </a:t>
            </a:r>
            <a:endParaRPr/>
          </a:p>
          <a:p>
            <a:pPr indent="-299085" lvl="1" marL="914400" rtl="0" algn="l">
              <a:spcBef>
                <a:spcPts val="0"/>
              </a:spcBef>
              <a:spcAft>
                <a:spcPts val="0"/>
              </a:spcAft>
              <a:buSzPct val="100000"/>
              <a:buChar char="○"/>
            </a:pPr>
            <a:r>
              <a:rPr lang="en"/>
              <a:t>Simulations are not as complex, they can do everything they need to do on SolidWorks -&gt; </a:t>
            </a:r>
            <a:r>
              <a:rPr lang="en"/>
              <a:t>Joe and Fidone working on thruster location, Vincent and Lauren working on ballast system</a:t>
            </a:r>
            <a:endParaRPr/>
          </a:p>
          <a:p>
            <a:pPr indent="-299085" lvl="1" marL="914400" rtl="0" algn="l">
              <a:spcBef>
                <a:spcPts val="0"/>
              </a:spcBef>
              <a:spcAft>
                <a:spcPts val="0"/>
              </a:spcAft>
              <a:buSzPct val="100000"/>
              <a:buChar char="○"/>
            </a:pPr>
            <a:r>
              <a:rPr lang="en"/>
              <a:t>F&amp;P’s plan for simulation is on the “testing procedures” document</a:t>
            </a:r>
            <a:endParaRPr/>
          </a:p>
          <a:p>
            <a:pPr indent="-310833" lvl="0" marL="457200" rtl="0" algn="l">
              <a:spcBef>
                <a:spcPts val="0"/>
              </a:spcBef>
              <a:spcAft>
                <a:spcPts val="0"/>
              </a:spcAft>
              <a:buSzPct val="100000"/>
              <a:buChar char="●"/>
            </a:pPr>
            <a:r>
              <a:rPr lang="en"/>
              <a:t>TMS is going to focus on the integration of different subsystem components and </a:t>
            </a:r>
            <a:r>
              <a:rPr lang="en"/>
              <a:t>waterproofing</a:t>
            </a:r>
            <a:r>
              <a:rPr lang="en"/>
              <a:t> the incaps </a:t>
            </a:r>
            <a:endParaRPr/>
          </a:p>
          <a:p>
            <a:pPr indent="-310833" lvl="0" marL="457200" rtl="0" algn="l">
              <a:spcBef>
                <a:spcPts val="0"/>
              </a:spcBef>
              <a:spcAft>
                <a:spcPts val="0"/>
              </a:spcAft>
              <a:buSzPct val="100000"/>
              <a:buChar char="●"/>
            </a:pPr>
            <a:r>
              <a:rPr lang="en"/>
              <a:t>GNC, C&amp;C, and EPS is working on the schematics </a:t>
            </a:r>
            <a:endParaRPr/>
          </a:p>
          <a:p>
            <a:pPr indent="-310833" lvl="0" marL="457200" rtl="0" algn="l">
              <a:spcBef>
                <a:spcPts val="0"/>
              </a:spcBef>
              <a:spcAft>
                <a:spcPts val="0"/>
              </a:spcAft>
              <a:buSzPct val="100000"/>
              <a:buChar char="●"/>
            </a:pPr>
            <a:r>
              <a:rPr lang="en"/>
              <a:t>EPs </a:t>
            </a:r>
            <a:r>
              <a:rPr lang="en"/>
              <a:t>needs to</a:t>
            </a:r>
            <a:r>
              <a:rPr lang="en"/>
              <a:t> identify what electrical components need to be on the BOM</a:t>
            </a:r>
            <a:endParaRPr/>
          </a:p>
          <a:p>
            <a:pPr indent="-310833" lvl="0" marL="457200" rtl="0" algn="l">
              <a:spcBef>
                <a:spcPts val="0"/>
              </a:spcBef>
              <a:spcAft>
                <a:spcPts val="0"/>
              </a:spcAft>
              <a:buSzPct val="100000"/>
              <a:buChar char="●"/>
            </a:pPr>
            <a:r>
              <a:rPr lang="en"/>
              <a:t>Everybody should know the diff environments!</a:t>
            </a:r>
            <a:endParaRPr/>
          </a:p>
          <a:p>
            <a:pPr indent="0" lvl="0" marL="457200" rtl="0" algn="l">
              <a:spcBef>
                <a:spcPts val="1200"/>
              </a:spcBef>
              <a:spcAft>
                <a:spcPts val="120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Team Meeting 12/28 						Emily BWM</a:t>
            </a:r>
            <a:endParaRPr/>
          </a:p>
        </p:txBody>
      </p:sp>
      <p:sp>
        <p:nvSpPr>
          <p:cNvPr id="314" name="Google Shape;314;p48"/>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100">
                <a:solidFill>
                  <a:schemeClr val="dk1"/>
                </a:solidFill>
                <a:latin typeface="Helvetica Neue"/>
                <a:ea typeface="Helvetica Neue"/>
                <a:cs typeface="Helvetica Neue"/>
                <a:sym typeface="Helvetica Neue"/>
              </a:rPr>
              <a:t>Present Agenda:</a:t>
            </a:r>
            <a:endParaRPr b="1"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t/>
            </a:r>
            <a:endParaRPr sz="11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100">
              <a:solidFill>
                <a:schemeClr val="dk1"/>
              </a:solidFill>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rPr b="1" lang="en" sz="1100">
                <a:solidFill>
                  <a:schemeClr val="dk1"/>
                </a:solidFill>
                <a:latin typeface="Helvetica Neue"/>
                <a:ea typeface="Helvetica Neue"/>
                <a:cs typeface="Helvetica Neue"/>
                <a:sym typeface="Helvetica Neue"/>
              </a:rPr>
              <a:t>Future Agenda:</a:t>
            </a:r>
            <a:endParaRPr b="1" sz="11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100">
              <a:solidFill>
                <a:schemeClr val="dk1"/>
              </a:solidFill>
              <a:latin typeface="Helvetica Neue"/>
              <a:ea typeface="Helvetica Neue"/>
              <a:cs typeface="Helvetica Neue"/>
              <a:sym typeface="Helvetica Neue"/>
            </a:endParaRPr>
          </a:p>
        </p:txBody>
      </p:sp>
      <p:sp>
        <p:nvSpPr>
          <p:cNvPr id="315" name="Google Shape;315;p48"/>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a:t>F&amp;P: </a:t>
            </a:r>
            <a:endParaRPr/>
          </a:p>
          <a:p>
            <a:pPr indent="-304800" lvl="1" marL="914400" rtl="0" algn="l">
              <a:spcBef>
                <a:spcPts val="0"/>
              </a:spcBef>
              <a:spcAft>
                <a:spcPts val="0"/>
              </a:spcAft>
              <a:buSzPts val="1200"/>
              <a:buChar char="○"/>
            </a:pPr>
            <a:r>
              <a:rPr lang="en"/>
              <a:t>Fluid analysis </a:t>
            </a:r>
            <a:endParaRPr/>
          </a:p>
          <a:p>
            <a:pPr indent="0" lvl="0" marL="457200" rtl="0" algn="l">
              <a:spcBef>
                <a:spcPts val="1200"/>
              </a:spcBef>
              <a:spcAft>
                <a:spcPts val="120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Subleads meeting 2/9 								Emily BWM </a:t>
            </a:r>
            <a:endParaRPr/>
          </a:p>
        </p:txBody>
      </p:sp>
      <p:sp>
        <p:nvSpPr>
          <p:cNvPr id="321" name="Google Shape;321;p49"/>
          <p:cNvSpPr txBox="1"/>
          <p:nvPr>
            <p:ph idx="1" type="body"/>
          </p:nvPr>
        </p:nvSpPr>
        <p:spPr>
          <a:xfrm>
            <a:off x="311700" y="1152475"/>
            <a:ext cx="3999900" cy="3416400"/>
          </a:xfrm>
          <a:prstGeom prst="rect">
            <a:avLst/>
          </a:prstGeom>
        </p:spPr>
        <p:txBody>
          <a:bodyPr anchorCtr="0" anchor="t" bIns="91425" lIns="91425" spcFirstLastPara="1" rIns="91425" wrap="square" tIns="91425">
            <a:normAutofit fontScale="55000" lnSpcReduction="10000"/>
          </a:bodyPr>
          <a:lstStyle/>
          <a:p>
            <a:pPr indent="-277495" lvl="0" marL="457200" rtl="0" algn="l">
              <a:spcBef>
                <a:spcPts val="0"/>
              </a:spcBef>
              <a:spcAft>
                <a:spcPts val="0"/>
              </a:spcAft>
              <a:buSzPct val="100000"/>
              <a:buChar char="-"/>
            </a:pPr>
            <a:r>
              <a:rPr lang="en"/>
              <a:t>Need deadlines and an action plan from all subleads:</a:t>
            </a:r>
            <a:endParaRPr/>
          </a:p>
          <a:p>
            <a:pPr indent="-270510" lvl="1" marL="914400" rtl="0" algn="l">
              <a:spcBef>
                <a:spcPts val="0"/>
              </a:spcBef>
              <a:spcAft>
                <a:spcPts val="0"/>
              </a:spcAft>
              <a:buSzPct val="100000"/>
              <a:buChar char="-"/>
            </a:pPr>
            <a:r>
              <a:rPr lang="en"/>
              <a:t>What tasks need to get done and by who</a:t>
            </a:r>
            <a:endParaRPr/>
          </a:p>
          <a:p>
            <a:pPr indent="-277495" lvl="0" marL="457200" rtl="0" algn="l">
              <a:spcBef>
                <a:spcPts val="0"/>
              </a:spcBef>
              <a:spcAft>
                <a:spcPts val="0"/>
              </a:spcAft>
              <a:buSzPct val="100000"/>
              <a:buChar char="-"/>
            </a:pPr>
            <a:r>
              <a:rPr lang="en"/>
              <a:t>EPS:</a:t>
            </a:r>
            <a:endParaRPr/>
          </a:p>
          <a:p>
            <a:pPr indent="-270510" lvl="1" marL="914400" rtl="0" algn="l">
              <a:spcBef>
                <a:spcPts val="0"/>
              </a:spcBef>
              <a:spcAft>
                <a:spcPts val="0"/>
              </a:spcAft>
              <a:buSzPct val="100000"/>
              <a:buChar char="-"/>
            </a:pPr>
            <a:r>
              <a:rPr lang="en"/>
              <a:t>Needs lots of simulations done</a:t>
            </a:r>
            <a:endParaRPr/>
          </a:p>
          <a:p>
            <a:pPr indent="-270510" lvl="1" marL="914400" rtl="0" algn="l">
              <a:spcBef>
                <a:spcPts val="0"/>
              </a:spcBef>
              <a:spcAft>
                <a:spcPts val="0"/>
              </a:spcAft>
              <a:buSzPct val="100000"/>
              <a:buChar char="-"/>
            </a:pPr>
            <a:r>
              <a:rPr lang="en"/>
              <a:t>Expected documents and analysis</a:t>
            </a:r>
            <a:endParaRPr/>
          </a:p>
          <a:p>
            <a:pPr indent="-270510" lvl="2" marL="1371600" rtl="0" algn="l">
              <a:spcBef>
                <a:spcPts val="0"/>
              </a:spcBef>
              <a:spcAft>
                <a:spcPts val="0"/>
              </a:spcAft>
              <a:buSzPct val="100000"/>
              <a:buChar char="-"/>
            </a:pPr>
            <a:r>
              <a:rPr lang="en"/>
              <a:t>Physical Testing!!</a:t>
            </a:r>
            <a:endParaRPr/>
          </a:p>
          <a:p>
            <a:pPr indent="-270510" lvl="2" marL="1371600" rtl="0" algn="l">
              <a:spcBef>
                <a:spcPts val="0"/>
              </a:spcBef>
              <a:spcAft>
                <a:spcPts val="0"/>
              </a:spcAft>
              <a:buSzPct val="100000"/>
              <a:buChar char="-"/>
            </a:pPr>
            <a:r>
              <a:rPr lang="en"/>
              <a:t>Voltage Drop Analysis</a:t>
            </a:r>
            <a:endParaRPr/>
          </a:p>
          <a:p>
            <a:pPr indent="-270510" lvl="2" marL="1371600" rtl="0" algn="l">
              <a:spcBef>
                <a:spcPts val="0"/>
              </a:spcBef>
              <a:spcAft>
                <a:spcPts val="0"/>
              </a:spcAft>
              <a:buSzPct val="100000"/>
              <a:buChar char="-"/>
            </a:pPr>
            <a:r>
              <a:rPr lang="en"/>
              <a:t>Power Distribution Analysis</a:t>
            </a:r>
            <a:endParaRPr/>
          </a:p>
          <a:p>
            <a:pPr indent="-270510" lvl="2" marL="1371600" rtl="0" algn="l">
              <a:spcBef>
                <a:spcPts val="0"/>
              </a:spcBef>
              <a:spcAft>
                <a:spcPts val="0"/>
              </a:spcAft>
              <a:buSzPct val="100000"/>
              <a:buChar char="-"/>
            </a:pPr>
            <a:r>
              <a:rPr lang="en"/>
              <a:t>Power Budget Simulation</a:t>
            </a:r>
            <a:endParaRPr/>
          </a:p>
          <a:p>
            <a:pPr indent="-270510" lvl="2" marL="1371600" rtl="0" algn="l">
              <a:spcBef>
                <a:spcPts val="0"/>
              </a:spcBef>
              <a:spcAft>
                <a:spcPts val="0"/>
              </a:spcAft>
              <a:buSzPct val="100000"/>
              <a:buChar char="-"/>
            </a:pPr>
            <a:r>
              <a:rPr lang="en"/>
              <a:t>Jared mentioned one simulation that you need to get done</a:t>
            </a:r>
            <a:endParaRPr/>
          </a:p>
          <a:p>
            <a:pPr indent="-270510" lvl="2" marL="1371600" rtl="0" algn="l">
              <a:spcBef>
                <a:spcPts val="0"/>
              </a:spcBef>
              <a:spcAft>
                <a:spcPts val="0"/>
              </a:spcAft>
              <a:buSzPct val="100000"/>
              <a:buChar char="-"/>
            </a:pPr>
            <a:r>
              <a:rPr lang="en"/>
              <a:t>Thermal analysis?</a:t>
            </a:r>
            <a:endParaRPr/>
          </a:p>
          <a:p>
            <a:pPr indent="-277495" lvl="0" marL="457200" rtl="0" algn="l">
              <a:spcBef>
                <a:spcPts val="0"/>
              </a:spcBef>
              <a:spcAft>
                <a:spcPts val="0"/>
              </a:spcAft>
              <a:buSzPct val="100000"/>
              <a:buChar char="-"/>
            </a:pPr>
            <a:r>
              <a:rPr lang="en"/>
              <a:t>GNC &amp; C&amp;C:</a:t>
            </a:r>
            <a:endParaRPr/>
          </a:p>
          <a:p>
            <a:pPr indent="-270510" lvl="1" marL="914400" rtl="0" algn="l">
              <a:spcBef>
                <a:spcPts val="0"/>
              </a:spcBef>
              <a:spcAft>
                <a:spcPts val="0"/>
              </a:spcAft>
              <a:buSzPct val="100000"/>
              <a:buChar char="-"/>
            </a:pPr>
            <a:r>
              <a:rPr lang="en"/>
              <a:t>Need to start coding</a:t>
            </a:r>
            <a:endParaRPr/>
          </a:p>
          <a:p>
            <a:pPr indent="-270510" lvl="1" marL="914400" rtl="0" algn="l">
              <a:spcBef>
                <a:spcPts val="0"/>
              </a:spcBef>
              <a:spcAft>
                <a:spcPts val="0"/>
              </a:spcAft>
              <a:buSzPct val="100000"/>
              <a:buChar char="-"/>
            </a:pPr>
            <a:r>
              <a:rPr lang="en"/>
              <a:t>Communication system architecture</a:t>
            </a:r>
            <a:endParaRPr/>
          </a:p>
          <a:p>
            <a:pPr indent="-277495" lvl="0" marL="457200" rtl="0" algn="l">
              <a:spcBef>
                <a:spcPts val="0"/>
              </a:spcBef>
              <a:spcAft>
                <a:spcPts val="0"/>
              </a:spcAft>
              <a:buSzPct val="100000"/>
              <a:buChar char="-"/>
            </a:pPr>
            <a:r>
              <a:rPr lang="en"/>
              <a:t>F&amp;P:</a:t>
            </a:r>
            <a:endParaRPr/>
          </a:p>
          <a:p>
            <a:pPr indent="-270510" lvl="1" marL="914400" rtl="0" algn="l">
              <a:spcBef>
                <a:spcPts val="0"/>
              </a:spcBef>
              <a:spcAft>
                <a:spcPts val="0"/>
              </a:spcAft>
              <a:buSzPct val="100000"/>
              <a:buChar char="-"/>
            </a:pPr>
            <a:r>
              <a:rPr lang="en"/>
              <a:t>Work with TMS for simulations and neutral </a:t>
            </a:r>
            <a:r>
              <a:rPr lang="en"/>
              <a:t>buoyancy</a:t>
            </a:r>
            <a:r>
              <a:rPr lang="en"/>
              <a:t> </a:t>
            </a:r>
            <a:endParaRPr/>
          </a:p>
          <a:p>
            <a:pPr indent="-270510" lvl="1" marL="914400" rtl="0" algn="l">
              <a:spcBef>
                <a:spcPts val="0"/>
              </a:spcBef>
              <a:spcAft>
                <a:spcPts val="0"/>
              </a:spcAft>
              <a:buSzPct val="100000"/>
              <a:buChar char="-"/>
            </a:pPr>
            <a:r>
              <a:rPr lang="en"/>
              <a:t>Thruster configuration is confirmed</a:t>
            </a:r>
            <a:endParaRPr/>
          </a:p>
          <a:p>
            <a:pPr indent="-270510" lvl="1" marL="914400" rtl="0" algn="l">
              <a:spcBef>
                <a:spcPts val="0"/>
              </a:spcBef>
              <a:spcAft>
                <a:spcPts val="0"/>
              </a:spcAft>
              <a:buSzPct val="100000"/>
              <a:buChar char="-"/>
            </a:pPr>
            <a:r>
              <a:rPr lang="en"/>
              <a:t>Keep </a:t>
            </a:r>
            <a:r>
              <a:rPr lang="en"/>
              <a:t>bullying</a:t>
            </a:r>
            <a:r>
              <a:rPr lang="en"/>
              <a:t> Cayden</a:t>
            </a:r>
            <a:endParaRPr/>
          </a:p>
          <a:p>
            <a:pPr indent="-277495" lvl="0" marL="457200" rtl="0" algn="l">
              <a:spcBef>
                <a:spcPts val="0"/>
              </a:spcBef>
              <a:spcAft>
                <a:spcPts val="0"/>
              </a:spcAft>
              <a:buSzPct val="100000"/>
              <a:buChar char="-"/>
            </a:pPr>
            <a:r>
              <a:rPr lang="en"/>
              <a:t>TMS:</a:t>
            </a:r>
            <a:endParaRPr/>
          </a:p>
          <a:p>
            <a:pPr indent="-270510" lvl="1" marL="914400" rtl="0" algn="l">
              <a:spcBef>
                <a:spcPts val="0"/>
              </a:spcBef>
              <a:spcAft>
                <a:spcPts val="0"/>
              </a:spcAft>
              <a:buSzPct val="100000"/>
              <a:buChar char="-"/>
            </a:pPr>
            <a:r>
              <a:rPr lang="en"/>
              <a:t>Needs to communicate with all subteams to make sure that all components have a location within the ROV.</a:t>
            </a:r>
            <a:endParaRPr/>
          </a:p>
          <a:p>
            <a:pPr indent="-270510" lvl="1" marL="914400" rtl="0" algn="l">
              <a:spcBef>
                <a:spcPts val="0"/>
              </a:spcBef>
              <a:spcAft>
                <a:spcPts val="0"/>
              </a:spcAft>
              <a:buSzPct val="100000"/>
              <a:buChar char="-"/>
            </a:pPr>
            <a:r>
              <a:rPr lang="en"/>
              <a:t>Need to start 3D printing </a:t>
            </a:r>
            <a:endParaRPr/>
          </a:p>
          <a:p>
            <a:pPr indent="-270510" lvl="1" marL="914400" rtl="0" algn="l">
              <a:spcBef>
                <a:spcPts val="0"/>
              </a:spcBef>
              <a:spcAft>
                <a:spcPts val="0"/>
              </a:spcAft>
              <a:buSzPct val="100000"/>
              <a:buChar char="-"/>
            </a:pPr>
            <a:r>
              <a:rPr lang="en"/>
              <a:t>Get filament calculations for their cad asap to know how much filament to buy</a:t>
            </a:r>
            <a:endParaRPr/>
          </a:p>
          <a:p>
            <a:pPr indent="-270510" lvl="1" marL="914400" rtl="0" algn="l">
              <a:spcBef>
                <a:spcPts val="0"/>
              </a:spcBef>
              <a:spcAft>
                <a:spcPts val="0"/>
              </a:spcAft>
              <a:buSzPct val="100000"/>
              <a:buChar char="-"/>
            </a:pPr>
            <a:r>
              <a:rPr lang="en" u="sng">
                <a:solidFill>
                  <a:schemeClr val="hlink"/>
                </a:solidFill>
                <a:hlinkClick r:id="rId3"/>
              </a:rPr>
              <a:t>https://tools.3deee.ch/f_calculator</a:t>
            </a:r>
            <a:r>
              <a:rPr lang="en"/>
              <a:t> </a:t>
            </a:r>
            <a:endParaRPr/>
          </a:p>
          <a:p>
            <a:pPr indent="-277495" lvl="0" marL="457200" rtl="0" algn="l">
              <a:spcBef>
                <a:spcPts val="0"/>
              </a:spcBef>
              <a:spcAft>
                <a:spcPts val="0"/>
              </a:spcAft>
              <a:buSzPct val="100000"/>
              <a:buChar char="-"/>
            </a:pPr>
            <a:r>
              <a:rPr lang="en"/>
              <a:t>ANYONE NEEDS TO BUY ANYTHING?? Anything that prevents you from working?</a:t>
            </a:r>
            <a:endParaRPr/>
          </a:p>
          <a:p>
            <a:pPr indent="-270510" lvl="1" marL="914400" rtl="0" algn="l">
              <a:spcBef>
                <a:spcPts val="0"/>
              </a:spcBef>
              <a:spcAft>
                <a:spcPts val="0"/>
              </a:spcAft>
              <a:buSzPct val="100000"/>
              <a:buChar char="-"/>
            </a:pPr>
            <a:r>
              <a:rPr lang="en"/>
              <a:t>Put everything in the BoM</a:t>
            </a:r>
            <a:endParaRPr/>
          </a:p>
          <a:p>
            <a:pPr indent="-277495" lvl="0" marL="457200" rtl="0" algn="l">
              <a:spcBef>
                <a:spcPts val="0"/>
              </a:spcBef>
              <a:spcAft>
                <a:spcPts val="0"/>
              </a:spcAft>
              <a:buSzPct val="100000"/>
              <a:buChar char="-"/>
            </a:pPr>
            <a:r>
              <a:rPr lang="en"/>
              <a:t>Assembly procedure document </a:t>
            </a:r>
            <a:endParaRPr/>
          </a:p>
        </p:txBody>
      </p:sp>
      <p:sp>
        <p:nvSpPr>
          <p:cNvPr id="322" name="Google Shape;322;p49"/>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fontScale="77500" lnSpcReduction="20000"/>
          </a:bodyPr>
          <a:lstStyle/>
          <a:p>
            <a:pPr indent="-282734" lvl="0" marL="457200" rtl="0" algn="l">
              <a:spcBef>
                <a:spcPts val="0"/>
              </a:spcBef>
              <a:spcAft>
                <a:spcPts val="0"/>
              </a:spcAft>
              <a:buSzPct val="100000"/>
              <a:buChar char="-"/>
            </a:pPr>
            <a:r>
              <a:rPr lang="en" sz="1100"/>
              <a:t>GNC </a:t>
            </a:r>
            <a:endParaRPr sz="1100"/>
          </a:p>
          <a:p>
            <a:pPr indent="-282734" lvl="1" marL="914400" rtl="0" algn="l">
              <a:spcBef>
                <a:spcPts val="0"/>
              </a:spcBef>
              <a:spcAft>
                <a:spcPts val="0"/>
              </a:spcAft>
              <a:buSzPct val="100000"/>
              <a:buChar char="-"/>
            </a:pPr>
            <a:r>
              <a:rPr lang="en" sz="1100"/>
              <a:t>Camera testing </a:t>
            </a:r>
            <a:endParaRPr sz="1100"/>
          </a:p>
          <a:p>
            <a:pPr indent="-282734" lvl="1" marL="914400" rtl="0" algn="l">
              <a:spcBef>
                <a:spcPts val="0"/>
              </a:spcBef>
              <a:spcAft>
                <a:spcPts val="0"/>
              </a:spcAft>
              <a:buSzPct val="100000"/>
              <a:buChar char="-"/>
            </a:pPr>
            <a:r>
              <a:rPr lang="en" sz="1100"/>
              <a:t>Individual sensor testing </a:t>
            </a:r>
            <a:endParaRPr sz="1100"/>
          </a:p>
          <a:p>
            <a:pPr indent="-282734" lvl="1" marL="914400" rtl="0" algn="l">
              <a:spcBef>
                <a:spcPts val="0"/>
              </a:spcBef>
              <a:spcAft>
                <a:spcPts val="0"/>
              </a:spcAft>
              <a:buSzPct val="100000"/>
              <a:buChar char="-"/>
            </a:pPr>
            <a:r>
              <a:rPr lang="en" sz="1100"/>
              <a:t>Thruster testing </a:t>
            </a:r>
            <a:endParaRPr sz="1100"/>
          </a:p>
          <a:p>
            <a:pPr indent="-282734" lvl="2" marL="1371600" rtl="0" algn="l">
              <a:spcBef>
                <a:spcPts val="0"/>
              </a:spcBef>
              <a:spcAft>
                <a:spcPts val="0"/>
              </a:spcAft>
              <a:buSzPct val="100000"/>
              <a:buChar char="-"/>
            </a:pPr>
            <a:r>
              <a:rPr lang="en" sz="1100"/>
              <a:t>Do it together as a subteam </a:t>
            </a:r>
            <a:endParaRPr sz="1100"/>
          </a:p>
          <a:p>
            <a:pPr indent="-282734" lvl="1" marL="914400" rtl="0" algn="l">
              <a:spcBef>
                <a:spcPts val="0"/>
              </a:spcBef>
              <a:spcAft>
                <a:spcPts val="0"/>
              </a:spcAft>
              <a:buSzPct val="100000"/>
              <a:buChar char="-"/>
            </a:pPr>
            <a:r>
              <a:rPr lang="en" sz="1100"/>
              <a:t>Need the </a:t>
            </a:r>
            <a:r>
              <a:rPr lang="en" sz="1100"/>
              <a:t>raspberry</a:t>
            </a:r>
            <a:r>
              <a:rPr lang="en" sz="1100"/>
              <a:t> pi to start working </a:t>
            </a:r>
            <a:endParaRPr sz="1100"/>
          </a:p>
          <a:p>
            <a:pPr indent="-282734" lvl="1" marL="914400" rtl="0" algn="l">
              <a:spcBef>
                <a:spcPts val="0"/>
              </a:spcBef>
              <a:spcAft>
                <a:spcPts val="0"/>
              </a:spcAft>
              <a:buSzPct val="100000"/>
              <a:buChar char="-"/>
            </a:pPr>
            <a:r>
              <a:t/>
            </a:r>
            <a:endParaRPr sz="1100"/>
          </a:p>
          <a:p>
            <a:pPr indent="-282734" lvl="0" marL="457200" rtl="0" algn="l">
              <a:spcBef>
                <a:spcPts val="0"/>
              </a:spcBef>
              <a:spcAft>
                <a:spcPts val="0"/>
              </a:spcAft>
              <a:buSzPct val="100000"/>
              <a:buChar char="-"/>
            </a:pPr>
            <a:r>
              <a:rPr lang="en" sz="1100"/>
              <a:t>F&amp;P</a:t>
            </a:r>
            <a:endParaRPr sz="1100"/>
          </a:p>
          <a:p>
            <a:pPr indent="-282734" lvl="1" marL="914400" rtl="0" algn="l">
              <a:spcBef>
                <a:spcPts val="0"/>
              </a:spcBef>
              <a:spcAft>
                <a:spcPts val="0"/>
              </a:spcAft>
              <a:buSzPct val="100000"/>
              <a:buChar char="-"/>
            </a:pPr>
            <a:r>
              <a:rPr lang="en" sz="1100"/>
              <a:t>Certified at ANSYS</a:t>
            </a:r>
            <a:endParaRPr sz="1100"/>
          </a:p>
          <a:p>
            <a:pPr indent="-282734" lvl="2" marL="1371600" rtl="0" algn="l">
              <a:spcBef>
                <a:spcPts val="0"/>
              </a:spcBef>
              <a:spcAft>
                <a:spcPts val="0"/>
              </a:spcAft>
              <a:buSzPct val="100000"/>
              <a:buChar char="-"/>
            </a:pPr>
            <a:r>
              <a:rPr lang="en" sz="1100"/>
              <a:t>Can start doing ANSYS</a:t>
            </a:r>
            <a:endParaRPr sz="1100"/>
          </a:p>
          <a:p>
            <a:pPr indent="-282734" lvl="1" marL="914400" rtl="0" algn="l">
              <a:spcBef>
                <a:spcPts val="0"/>
              </a:spcBef>
              <a:spcAft>
                <a:spcPts val="0"/>
              </a:spcAft>
              <a:buSzPct val="100000"/>
              <a:buChar char="-"/>
            </a:pPr>
            <a:r>
              <a:rPr lang="en" sz="1100"/>
              <a:t>If we have 6 degrees of freedom, no need to do testing.</a:t>
            </a:r>
            <a:endParaRPr sz="1100"/>
          </a:p>
          <a:p>
            <a:pPr indent="-282734" lvl="1" marL="914400" rtl="0" algn="l">
              <a:spcBef>
                <a:spcPts val="0"/>
              </a:spcBef>
              <a:spcAft>
                <a:spcPts val="0"/>
              </a:spcAft>
              <a:buSzPct val="100000"/>
              <a:buChar char="-"/>
            </a:pPr>
            <a:r>
              <a:rPr lang="en" sz="1100"/>
              <a:t>Making sure that design of thruster is at the best spot </a:t>
            </a:r>
            <a:endParaRPr sz="1100"/>
          </a:p>
          <a:p>
            <a:pPr indent="-282734" lvl="1" marL="914400" rtl="0" algn="l">
              <a:spcBef>
                <a:spcPts val="0"/>
              </a:spcBef>
              <a:spcAft>
                <a:spcPts val="0"/>
              </a:spcAft>
              <a:buSzPct val="100000"/>
              <a:buChar char="-"/>
            </a:pPr>
            <a:r>
              <a:rPr lang="en" sz="1100"/>
              <a:t>Ballas -&gt; testing based </a:t>
            </a:r>
            <a:endParaRPr sz="1100"/>
          </a:p>
          <a:p>
            <a:pPr indent="-282734" lvl="1" marL="914400" rtl="0" algn="l">
              <a:spcBef>
                <a:spcPts val="0"/>
              </a:spcBef>
              <a:spcAft>
                <a:spcPts val="0"/>
              </a:spcAft>
              <a:buSzPct val="100000"/>
              <a:buChar char="-"/>
            </a:pPr>
            <a:r>
              <a:rPr lang="en" sz="1100"/>
              <a:t>Done in 2 weeks </a:t>
            </a:r>
            <a:endParaRPr sz="1100"/>
          </a:p>
          <a:p>
            <a:pPr indent="-282734" lvl="1" marL="914400" rtl="0" algn="l">
              <a:spcBef>
                <a:spcPts val="0"/>
              </a:spcBef>
              <a:spcAft>
                <a:spcPts val="0"/>
              </a:spcAft>
              <a:buSzPct val="100000"/>
              <a:buChar char="-"/>
            </a:pPr>
            <a:r>
              <a:rPr b="1" lang="en" sz="1100"/>
              <a:t>Done by Wenesday 25th </a:t>
            </a:r>
            <a:endParaRPr b="1" sz="1100"/>
          </a:p>
          <a:p>
            <a:pPr indent="-282734" lvl="0" marL="457200" rtl="0" algn="l">
              <a:spcBef>
                <a:spcPts val="0"/>
              </a:spcBef>
              <a:spcAft>
                <a:spcPts val="0"/>
              </a:spcAft>
              <a:buSzPct val="100000"/>
              <a:buChar char="-"/>
            </a:pPr>
            <a:r>
              <a:rPr lang="en" sz="1100"/>
              <a:t>C&amp;C</a:t>
            </a:r>
            <a:endParaRPr sz="1100"/>
          </a:p>
          <a:p>
            <a:pPr indent="-282734" lvl="1" marL="914400" rtl="0" algn="l">
              <a:spcBef>
                <a:spcPts val="0"/>
              </a:spcBef>
              <a:spcAft>
                <a:spcPts val="0"/>
              </a:spcAft>
              <a:buSzPct val="100000"/>
              <a:buChar char="-"/>
            </a:pPr>
            <a:r>
              <a:rPr lang="en" sz="1100"/>
              <a:t>Plan of 4 weeks </a:t>
            </a:r>
            <a:endParaRPr sz="1100"/>
          </a:p>
          <a:p>
            <a:pPr indent="-282734" lvl="0" marL="457200" rtl="0" algn="l">
              <a:spcBef>
                <a:spcPts val="0"/>
              </a:spcBef>
              <a:spcAft>
                <a:spcPts val="0"/>
              </a:spcAft>
              <a:buSzPct val="100000"/>
              <a:buChar char="-"/>
            </a:pPr>
            <a:r>
              <a:rPr lang="en" sz="1100"/>
              <a:t>Most of electrical stuff</a:t>
            </a:r>
            <a:endParaRPr sz="1100"/>
          </a:p>
          <a:p>
            <a:pPr indent="-282734" lvl="1" marL="914400" rtl="0" algn="l">
              <a:spcBef>
                <a:spcPts val="0"/>
              </a:spcBef>
              <a:spcAft>
                <a:spcPts val="0"/>
              </a:spcAft>
              <a:buSzPct val="100000"/>
              <a:buChar char="-"/>
            </a:pPr>
            <a:r>
              <a:rPr lang="en" sz="1100"/>
              <a:t>Most of it is simulation</a:t>
            </a:r>
            <a:endParaRPr sz="1100"/>
          </a:p>
          <a:p>
            <a:pPr indent="-282734" lvl="1" marL="914400" rtl="0" algn="l">
              <a:spcBef>
                <a:spcPts val="0"/>
              </a:spcBef>
              <a:spcAft>
                <a:spcPts val="0"/>
              </a:spcAft>
              <a:buSzPct val="100000"/>
              <a:buChar char="-"/>
            </a:pPr>
            <a:r>
              <a:rPr lang="en" sz="1100"/>
              <a:t>Verifying</a:t>
            </a:r>
            <a:r>
              <a:rPr lang="en" sz="1100"/>
              <a:t> whatever the companies gives us </a:t>
            </a:r>
            <a:endParaRPr sz="1100"/>
          </a:p>
          <a:p>
            <a:pPr indent="-282734" lvl="0" marL="457200" rtl="0" algn="l">
              <a:spcBef>
                <a:spcPts val="0"/>
              </a:spcBef>
              <a:spcAft>
                <a:spcPts val="0"/>
              </a:spcAft>
              <a:buSzPct val="100000"/>
              <a:buChar char="-"/>
            </a:pPr>
            <a:r>
              <a:rPr lang="en" sz="1100"/>
              <a:t>TMS </a:t>
            </a:r>
            <a:endParaRPr sz="1100"/>
          </a:p>
          <a:p>
            <a:pPr indent="-282734" lvl="1" marL="914400" rtl="0" algn="l">
              <a:spcBef>
                <a:spcPts val="0"/>
              </a:spcBef>
              <a:spcAft>
                <a:spcPts val="0"/>
              </a:spcAft>
              <a:buSzPct val="100000"/>
              <a:buChar char="-"/>
            </a:pPr>
            <a:r>
              <a:rPr b="1" lang="en" sz="1100"/>
              <a:t>Done by Sunday Feb. 15th</a:t>
            </a:r>
            <a:endParaRPr b="1" sz="1100"/>
          </a:p>
          <a:p>
            <a:pPr indent="0" lvl="0" marL="914400" rtl="0" algn="l">
              <a:spcBef>
                <a:spcPts val="1200"/>
              </a:spcBef>
              <a:spcAft>
                <a:spcPts val="1200"/>
              </a:spcAft>
              <a:buNone/>
            </a:pPr>
            <a:r>
              <a:t/>
            </a:r>
            <a:endParaRPr sz="11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Team meeting 1/04                                      Zack H </a:t>
            </a:r>
            <a:endParaRPr/>
          </a:p>
        </p:txBody>
      </p:sp>
      <p:sp>
        <p:nvSpPr>
          <p:cNvPr id="328" name="Google Shape;328;p50"/>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Reach out to fedc about alex</a:t>
            </a:r>
            <a:endParaRPr/>
          </a:p>
        </p:txBody>
      </p:sp>
      <p:sp>
        <p:nvSpPr>
          <p:cNvPr id="329" name="Google Shape;329;p50"/>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100"/>
              <a:t>TMS: Josh and Alexandria will decide on </a:t>
            </a:r>
            <a:r>
              <a:rPr lang="en" sz="1100"/>
              <a:t>chassis</a:t>
            </a:r>
            <a:r>
              <a:rPr lang="en" sz="1100"/>
              <a:t> design, Josh is working on finalizing his design this meeting. </a:t>
            </a:r>
            <a:endParaRPr sz="1100"/>
          </a:p>
          <a:p>
            <a:pPr indent="0" lvl="0" marL="0" rtl="0" algn="l">
              <a:spcBef>
                <a:spcPts val="1200"/>
              </a:spcBef>
              <a:spcAft>
                <a:spcPts val="0"/>
              </a:spcAft>
              <a:buNone/>
            </a:pPr>
            <a:r>
              <a:rPr lang="en" sz="1100"/>
              <a:t>Leads: Work on timelining the upcoming semester</a:t>
            </a:r>
            <a:endParaRPr sz="1100"/>
          </a:p>
          <a:p>
            <a:pPr indent="0" lvl="0" marL="0" rtl="0" algn="l">
              <a:spcBef>
                <a:spcPts val="1200"/>
              </a:spcBef>
              <a:spcAft>
                <a:spcPts val="1200"/>
              </a:spcAft>
              <a:buNone/>
            </a:pPr>
            <a:r>
              <a:t/>
            </a:r>
            <a:endParaRPr sz="11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Jan 19 FEDC meetings from now on </a:t>
            </a:r>
            <a:endParaRPr/>
          </a:p>
        </p:txBody>
      </p:sp>
      <p:sp>
        <p:nvSpPr>
          <p:cNvPr id="335" name="Google Shape;335;p51"/>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-Teams will work on the ordering components after they complete their </a:t>
            </a:r>
            <a:r>
              <a:rPr lang="en"/>
              <a:t>Component Construction Gantt Chart and show it to the team leads</a:t>
            </a:r>
            <a:endParaRPr/>
          </a:p>
          <a:p>
            <a:pPr indent="0" lvl="0" marL="0" rtl="0" algn="l">
              <a:spcBef>
                <a:spcPts val="1200"/>
              </a:spcBef>
              <a:spcAft>
                <a:spcPts val="1200"/>
              </a:spcAft>
              <a:buNone/>
            </a:pPr>
            <a:r>
              <a:rPr lang="en"/>
              <a:t>-If done with previous task, then subteams will start </a:t>
            </a:r>
            <a:r>
              <a:rPr lang="en"/>
              <a:t>constructing</a:t>
            </a:r>
            <a:r>
              <a:rPr lang="en"/>
              <a:t> </a:t>
            </a:r>
            <a:endParaRPr/>
          </a:p>
        </p:txBody>
      </p:sp>
      <p:sp>
        <p:nvSpPr>
          <p:cNvPr id="336" name="Google Shape;336;p51"/>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Jan 26</a:t>
            </a:r>
            <a:endParaRPr/>
          </a:p>
        </p:txBody>
      </p:sp>
      <p:sp>
        <p:nvSpPr>
          <p:cNvPr id="342" name="Google Shape;342;p52"/>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-Working day</a:t>
            </a:r>
            <a:endParaRPr/>
          </a:p>
        </p:txBody>
      </p:sp>
      <p:sp>
        <p:nvSpPr>
          <p:cNvPr id="343" name="Google Shape;343;p52"/>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Feb 2</a:t>
            </a:r>
            <a:endParaRPr/>
          </a:p>
        </p:txBody>
      </p:sp>
      <p:sp>
        <p:nvSpPr>
          <p:cNvPr id="349" name="Google Shape;349;p53"/>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-Fluid quiz day take quiz in ZACH 215</a:t>
            </a:r>
            <a:endParaRPr/>
          </a:p>
          <a:p>
            <a:pPr indent="0" lvl="0" marL="0" rtl="0" algn="l">
              <a:spcBef>
                <a:spcPts val="1200"/>
              </a:spcBef>
              <a:spcAft>
                <a:spcPts val="1200"/>
              </a:spcAft>
              <a:buNone/>
            </a:pPr>
            <a:r>
              <a:rPr lang="en"/>
              <a:t>-Move to FEDC to show prototype progress</a:t>
            </a:r>
            <a:endParaRPr/>
          </a:p>
        </p:txBody>
      </p:sp>
      <p:sp>
        <p:nvSpPr>
          <p:cNvPr id="350" name="Google Shape;350;p53"/>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Feb 9</a:t>
            </a:r>
            <a:endParaRPr/>
          </a:p>
        </p:txBody>
      </p:sp>
      <p:sp>
        <p:nvSpPr>
          <p:cNvPr id="356" name="Google Shape;356;p54"/>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t/>
            </a:r>
            <a:endParaRPr/>
          </a:p>
        </p:txBody>
      </p:sp>
      <p:sp>
        <p:nvSpPr>
          <p:cNvPr id="357" name="Google Shape;357;p54"/>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Feb 16</a:t>
            </a:r>
            <a:endParaRPr/>
          </a:p>
        </p:txBody>
      </p:sp>
      <p:sp>
        <p:nvSpPr>
          <p:cNvPr id="363" name="Google Shape;363;p5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Component Construction</a:t>
            </a:r>
            <a:endParaRPr/>
          </a:p>
        </p:txBody>
      </p:sp>
      <p:sp>
        <p:nvSpPr>
          <p:cNvPr id="364" name="Google Shape;364;p5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Feb 23</a:t>
            </a:r>
            <a:endParaRPr/>
          </a:p>
        </p:txBody>
      </p:sp>
      <p:sp>
        <p:nvSpPr>
          <p:cNvPr id="370" name="Google Shape;370;p5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Air testing</a:t>
            </a:r>
            <a:endParaRPr/>
          </a:p>
        </p:txBody>
      </p:sp>
      <p:sp>
        <p:nvSpPr>
          <p:cNvPr id="371" name="Google Shape;371;p5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Mar 2</a:t>
            </a:r>
            <a:endParaRPr/>
          </a:p>
        </p:txBody>
      </p:sp>
      <p:sp>
        <p:nvSpPr>
          <p:cNvPr id="377" name="Google Shape;377;p5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Underwater component tests</a:t>
            </a:r>
            <a:endParaRPr/>
          </a:p>
        </p:txBody>
      </p:sp>
      <p:sp>
        <p:nvSpPr>
          <p:cNvPr id="378" name="Google Shape;378;p5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Mar 9</a:t>
            </a:r>
            <a:endParaRPr/>
          </a:p>
        </p:txBody>
      </p:sp>
      <p:sp>
        <p:nvSpPr>
          <p:cNvPr id="384" name="Google Shape;384;p58"/>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ROV integration</a:t>
            </a:r>
            <a:endParaRPr/>
          </a:p>
        </p:txBody>
      </p:sp>
      <p:sp>
        <p:nvSpPr>
          <p:cNvPr id="385" name="Google Shape;385;p58"/>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Mar 16</a:t>
            </a:r>
            <a:endParaRPr/>
          </a:p>
        </p:txBody>
      </p:sp>
      <p:sp>
        <p:nvSpPr>
          <p:cNvPr id="391" name="Google Shape;391;p59"/>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Finalization of ROV Integration </a:t>
            </a:r>
            <a:endParaRPr/>
          </a:p>
        </p:txBody>
      </p:sp>
      <p:sp>
        <p:nvSpPr>
          <p:cNvPr id="392" name="Google Shape;392;p59"/>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Mar 23</a:t>
            </a:r>
            <a:endParaRPr/>
          </a:p>
        </p:txBody>
      </p:sp>
      <p:sp>
        <p:nvSpPr>
          <p:cNvPr id="398" name="Google Shape;398;p60"/>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Basic </a:t>
            </a:r>
            <a:r>
              <a:rPr lang="en"/>
              <a:t>underwater</a:t>
            </a:r>
            <a:r>
              <a:rPr lang="en"/>
              <a:t> testing</a:t>
            </a:r>
            <a:endParaRPr/>
          </a:p>
        </p:txBody>
      </p:sp>
      <p:sp>
        <p:nvSpPr>
          <p:cNvPr id="399" name="Google Shape;399;p60"/>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Mar 30</a:t>
            </a:r>
            <a:endParaRPr/>
          </a:p>
        </p:txBody>
      </p:sp>
      <p:sp>
        <p:nvSpPr>
          <p:cNvPr id="405" name="Google Shape;405;p61"/>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a:t>Practice Coral Collection</a:t>
            </a:r>
            <a:endParaRPr/>
          </a:p>
          <a:p>
            <a:pPr indent="-317500" lvl="0" marL="457200" rtl="0" algn="l">
              <a:spcBef>
                <a:spcPts val="0"/>
              </a:spcBef>
              <a:spcAft>
                <a:spcPts val="0"/>
              </a:spcAft>
              <a:buSzPts val="1400"/>
              <a:buChar char="-"/>
            </a:pPr>
            <a:r>
              <a:rPr lang="en"/>
              <a:t>MATE ROV Float </a:t>
            </a:r>
            <a:endParaRPr/>
          </a:p>
        </p:txBody>
      </p:sp>
      <p:sp>
        <p:nvSpPr>
          <p:cNvPr id="406" name="Google Shape;406;p61"/>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Apr 6</a:t>
            </a:r>
            <a:endParaRPr/>
          </a:p>
        </p:txBody>
      </p:sp>
      <p:sp>
        <p:nvSpPr>
          <p:cNvPr id="412" name="Google Shape;412;p62"/>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a:t>EDNA replacement</a:t>
            </a:r>
            <a:endParaRPr/>
          </a:p>
          <a:p>
            <a:pPr indent="-317500" lvl="0" marL="457200" rtl="0" algn="l">
              <a:spcBef>
                <a:spcPts val="0"/>
              </a:spcBef>
              <a:spcAft>
                <a:spcPts val="0"/>
              </a:spcAft>
              <a:buSzPts val="1400"/>
              <a:buChar char="-"/>
            </a:pPr>
            <a:r>
              <a:rPr lang="en"/>
              <a:t>Coral reef model</a:t>
            </a:r>
            <a:endParaRPr/>
          </a:p>
          <a:p>
            <a:pPr indent="-317500" lvl="0" marL="457200" rtl="0" algn="l">
              <a:spcBef>
                <a:spcPts val="0"/>
              </a:spcBef>
              <a:spcAft>
                <a:spcPts val="0"/>
              </a:spcAft>
              <a:buSzPts val="1400"/>
              <a:buChar char="-"/>
            </a:pPr>
            <a:r>
              <a:rPr lang="en"/>
              <a:t>Ability to collect footage </a:t>
            </a:r>
            <a:endParaRPr/>
          </a:p>
        </p:txBody>
      </p:sp>
      <p:sp>
        <p:nvSpPr>
          <p:cNvPr id="413" name="Google Shape;413;p62"/>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Apr 15</a:t>
            </a:r>
            <a:endParaRPr/>
          </a:p>
        </p:txBody>
      </p:sp>
      <p:sp>
        <p:nvSpPr>
          <p:cNvPr id="419" name="Google Shape;419;p63"/>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Clr>
                <a:schemeClr val="dk1"/>
              </a:buClr>
              <a:buSzPts val="1100"/>
              <a:buFont typeface="Arial"/>
              <a:buNone/>
            </a:pPr>
            <a:r>
              <a:rPr lang="en"/>
              <a:t>-Installing a power connector </a:t>
            </a:r>
            <a:endParaRPr/>
          </a:p>
        </p:txBody>
      </p:sp>
      <p:sp>
        <p:nvSpPr>
          <p:cNvPr id="420" name="Google Shape;420;p63"/>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Apr 22 </a:t>
            </a:r>
            <a:endParaRPr/>
          </a:p>
        </p:txBody>
      </p:sp>
      <p:sp>
        <p:nvSpPr>
          <p:cNvPr id="426" name="Google Shape;426;p64"/>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Full video filmed</a:t>
            </a:r>
            <a:endParaRPr/>
          </a:p>
        </p:txBody>
      </p:sp>
      <p:sp>
        <p:nvSpPr>
          <p:cNvPr id="427" name="Google Shape;427;p64"/>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Apr 29</a:t>
            </a:r>
            <a:endParaRPr/>
          </a:p>
        </p:txBody>
      </p:sp>
      <p:sp>
        <p:nvSpPr>
          <p:cNvPr id="433" name="Google Shape;433;p6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Miscellaneous</a:t>
            </a:r>
            <a:r>
              <a:rPr lang="en"/>
              <a:t> </a:t>
            </a:r>
            <a:r>
              <a:rPr lang="en"/>
              <a:t>tasks</a:t>
            </a:r>
            <a:endParaRPr/>
          </a:p>
        </p:txBody>
      </p:sp>
      <p:sp>
        <p:nvSpPr>
          <p:cNvPr id="434" name="Google Shape;434;p6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DEADLINE: MAY 5th </a:t>
            </a:r>
            <a:endParaRPr/>
          </a:p>
        </p:txBody>
      </p:sp>
      <p:sp>
        <p:nvSpPr>
          <p:cNvPr id="440" name="Google Shape;440;p6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441" name="Google Shape;441;p6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